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9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A589"/>
    <a:srgbClr val="158776"/>
    <a:srgbClr val="E67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4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openxmlformats.org/officeDocument/2006/relationships/tags" Target="../tags/tag5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92608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926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功能演示  ·  V1.0.0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175" y="777240"/>
            <a:ext cx="3188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基于大模型技术</a:t>
            </a:r>
            <a:r>
              <a:rPr lang="zh-CN" alt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的</a:t>
            </a:r>
            <a:endParaRPr lang="zh-CN" altLang="en-US" sz="2400" dirty="0">
              <a:solidFill>
                <a:srgbClr val="6A9E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175" y="1160780"/>
            <a:ext cx="7772400" cy="1336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教学结果检查评价与报表系统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84048" y="2433701"/>
            <a:ext cx="32004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267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E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成果验收数字化　·　评价过程可复核　·　教学质量可汇总</a:t>
            </a:r>
            <a:endParaRPr lang="en-US" sz="14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84175" y="3788410"/>
            <a:ext cx="4481830" cy="311150"/>
            <a:chOff x="605" y="4977"/>
            <a:chExt cx="7058" cy="490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605" y="4977"/>
              <a:ext cx="1872" cy="490"/>
              <a:chOff x="605" y="4248"/>
              <a:chExt cx="1872" cy="49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05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605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竞赛评委</a:t>
                </a:r>
                <a:endParaRPr lang="en-US" sz="10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0">
              <a:off x="3252" y="4977"/>
              <a:ext cx="1872" cy="490"/>
              <a:chOff x="2736" y="4248"/>
              <a:chExt cx="1872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2736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2736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院校管理者</a:t>
                </a:r>
                <a:endParaRPr lang="en-US" sz="10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791" y="4977"/>
              <a:ext cx="1872" cy="490"/>
              <a:chOff x="4867" y="4248"/>
              <a:chExt cx="1872" cy="49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4867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4867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软件实训教师</a:t>
                </a:r>
                <a:endParaRPr lang="en-US" sz="1000" dirty="0"/>
              </a:p>
            </p:txBody>
          </p:sp>
        </p:grpSp>
      </p:grpSp>
      <p:sp>
        <p:nvSpPr>
          <p:cNvPr id="20" name="Shape 18"/>
          <p:cNvSpPr/>
          <p:nvPr/>
        </p:nvSpPr>
        <p:spPr>
          <a:xfrm>
            <a:off x="384048" y="4220972"/>
            <a:ext cx="8375904" cy="9144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175" y="4317365"/>
            <a:ext cx="28702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软件工程实训评价系统开发团队</a:t>
            </a:r>
            <a:endParaRPr lang="en-US" sz="1400" b="1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74620" y="4309872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2026-07-16</a:t>
            </a:r>
            <a:endParaRPr lang="en-US" sz="1600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-136525" y="-757555"/>
            <a:ext cx="12099290" cy="8920480"/>
            <a:chOff x="1873" y="-8"/>
            <a:chExt cx="19054" cy="14048"/>
          </a:xfrm>
        </p:grpSpPr>
        <p:sp>
          <p:nvSpPr>
            <p:cNvPr id="98" name="矩形 97"/>
            <p:cNvSpPr/>
            <p:nvPr/>
          </p:nvSpPr>
          <p:spPr>
            <a:xfrm>
              <a:off x="1873" y="5474"/>
              <a:ext cx="14901" cy="8566"/>
            </a:xfrm>
            <a:prstGeom prst="rect">
              <a:avLst/>
            </a:prstGeom>
            <a:blipFill dpi="0" rotWithShape="1">
              <a:blip r:embed="rId1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2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/>
            <p:cNvSpPr/>
            <p:nvPr/>
          </p:nvSpPr>
          <p:spPr>
            <a:xfrm>
              <a:off x="2211" y="1244"/>
              <a:ext cx="14779" cy="8312"/>
            </a:xfrm>
            <a:prstGeom prst="rect">
              <a:avLst/>
            </a:prstGeom>
            <a:gradFill flip="none" rotWithShape="1">
              <a:gsLst>
                <a:gs pos="100000">
                  <a:srgbClr val="00275C"/>
                </a:gs>
                <a:gs pos="45000">
                  <a:schemeClr val="tx2">
                    <a:lumMod val="50000"/>
                    <a:alpha val="8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" y="-8"/>
              <a:ext cx="11484" cy="11484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2672715" y="-1925955"/>
            <a:ext cx="4994910" cy="3200400"/>
            <a:chOff x="4828" y="-2265"/>
            <a:chExt cx="5040" cy="5040"/>
          </a:xfrm>
        </p:grpSpPr>
        <p:sp>
          <p:nvSpPr>
            <p:cNvPr id="35" name="Shape 4"/>
            <p:cNvSpPr/>
            <p:nvPr/>
          </p:nvSpPr>
          <p:spPr>
            <a:xfrm>
              <a:off x="4828" y="-2265"/>
              <a:ext cx="5040" cy="5040"/>
            </a:xfrm>
            <a:prstGeom prst="ellipse">
              <a:avLst/>
            </a:prstGeom>
            <a:solidFill>
              <a:srgbClr val="0E2438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36" name="Shape 2"/>
            <p:cNvSpPr/>
            <p:nvPr/>
          </p:nvSpPr>
          <p:spPr>
            <a:xfrm>
              <a:off x="5329" y="-1656"/>
              <a:ext cx="4038" cy="4038"/>
            </a:xfrm>
            <a:prstGeom prst="ellipse">
              <a:avLst/>
            </a:prstGeom>
            <a:solidFill>
              <a:srgbClr val="0F2A42"/>
            </a:solidFill>
            <a:ln w="12700">
              <a:solidFill>
                <a:srgbClr val="0F2A42"/>
              </a:solidFill>
              <a:prstDash val="solid"/>
            </a:ln>
          </p:spPr>
        </p:sp>
        <p:sp>
          <p:nvSpPr>
            <p:cNvPr id="37" name="Shape 3"/>
            <p:cNvSpPr/>
            <p:nvPr/>
          </p:nvSpPr>
          <p:spPr>
            <a:xfrm>
              <a:off x="6145" y="-700"/>
              <a:ext cx="2716" cy="2716"/>
            </a:xfrm>
            <a:prstGeom prst="ellipse">
              <a:avLst/>
            </a:prstGeom>
            <a:solidFill>
              <a:srgbClr val="112E48"/>
            </a:solidFill>
            <a:ln w="12700">
              <a:solidFill>
                <a:srgbClr val="112E48"/>
              </a:solidFill>
              <a:prstDash val="solid"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-320040" y="-236220"/>
            <a:ext cx="9555480" cy="58902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grpSp>
        <p:nvGrpSpPr>
          <p:cNvPr id="30" name="组合 29"/>
          <p:cNvGrpSpPr/>
          <p:nvPr/>
        </p:nvGrpSpPr>
        <p:grpSpPr>
          <a:xfrm>
            <a:off x="320040" y="89535"/>
            <a:ext cx="2136140" cy="365760"/>
            <a:chOff x="547" y="259"/>
            <a:chExt cx="2448" cy="419"/>
          </a:xfrm>
        </p:grpSpPr>
        <p:sp>
          <p:nvSpPr>
            <p:cNvPr id="3" name="Shape 1"/>
            <p:cNvSpPr/>
            <p:nvPr/>
          </p:nvSpPr>
          <p:spPr>
            <a:xfrm>
              <a:off x="547" y="259"/>
              <a:ext cx="2448" cy="403"/>
            </a:xfrm>
            <a:prstGeom prst="roundRect">
              <a:avLst>
                <a:gd name="adj" fmla="val 28571"/>
              </a:avLst>
            </a:prstGeom>
            <a:solidFill>
              <a:srgbClr val="1A3A5C"/>
            </a:solidFill>
            <a:ln w="12700">
              <a:solidFill>
                <a:srgbClr val="1A3A5C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547" y="275"/>
              <a:ext cx="244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第一章  背景与定位</a:t>
              </a:r>
              <a:endPara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5" name="Text 3"/>
          <p:cNvSpPr/>
          <p:nvPr/>
        </p:nvSpPr>
        <p:spPr>
          <a:xfrm>
            <a:off x="32004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建设背景与痛点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软件实训人工验收的四大挑战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8800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材料分散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源码、文档、截图、报告各处提交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教师需逐一收集核对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6184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重复核对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多班级同类项目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教师重复阅读耗时巨大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依据难追溯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评分依据存于脑中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同一作业标准难统一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统计滞后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成绩汇总依赖手工整理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班级质量画像缺失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22</a:t>
            </a:r>
            <a:endParaRPr lang="en-US" sz="800" dirty="0"/>
          </a:p>
        </p:txBody>
      </p:sp>
      <p:sp>
        <p:nvSpPr>
          <p:cNvPr id="31" name="Shape 4"/>
          <p:cNvSpPr/>
          <p:nvPr/>
        </p:nvSpPr>
        <p:spPr>
          <a:xfrm>
            <a:off x="3200400" y="-2388870"/>
            <a:ext cx="2743200" cy="762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cxnSp>
        <p:nvCxnSpPr>
          <p:cNvPr id="32" name="直接连接符 31"/>
          <p:cNvCxnSpPr/>
          <p:nvPr/>
        </p:nvCxnSpPr>
        <p:spPr>
          <a:xfrm>
            <a:off x="320040" y="502920"/>
            <a:ext cx="8458200" cy="0"/>
          </a:xfrm>
          <a:prstGeom prst="line">
            <a:avLst/>
          </a:prstGeom>
          <a:ln>
            <a:solidFill>
              <a:srgbClr val="17A58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第一章  背景与定位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系统定位与边界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明确做什么、不做什么 — 避免答辩时被问偏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AFAF1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716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系统做什么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D6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接收并管理学生提交的成果文件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D6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静态解析文档结构与代码目录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D6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大模型辅助生成评价建议（可复核）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438144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D6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支持教师配置评价规则与指标模板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950208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D6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生成班级报表与教学质量画像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3716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716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系统不做什么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901952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在线编译或运行学生代码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414016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执行代码功能测试用例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自动生成并发布最终成绩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438144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替代教师做最终评价判断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950208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与学生进行实时互动答疑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45920" y="4663440"/>
            <a:ext cx="5852160" cy="274320"/>
          </a:xfrm>
          <a:prstGeom prst="roundRect">
            <a:avLst>
              <a:gd name="adj" fmla="val 26667"/>
            </a:avLst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466344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自动评分仅作参考依据，最终成绩由教师复核后发布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第一章  背景与定位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总体业务闭环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六步全流程 — 从组织准备到报表输出，全程可追溯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组织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准备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1907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管理员维护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用户/课程/班级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1051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1051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1051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18211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051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4D7B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8366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教师配置要求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模板与指标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7355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7355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7355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4515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355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4670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学生上传文件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版本可追溯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3659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3659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3659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0819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974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系统静态解析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AI辅助建议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963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9963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9963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57123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7278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教师调分评语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发布正式成绩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6267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6267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6267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汇总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66267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3582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28800" y="40690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全程数据留存，支持回溯查验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517525" y="-835660"/>
            <a:ext cx="12007850" cy="8023225"/>
            <a:chOff x="-815" y="-1316"/>
            <a:chExt cx="18910" cy="12635"/>
          </a:xfrm>
        </p:grpSpPr>
        <p:sp>
          <p:nvSpPr>
            <p:cNvPr id="11" name="Shape 0"/>
            <p:cNvSpPr/>
            <p:nvPr/>
          </p:nvSpPr>
          <p:spPr>
            <a:xfrm>
              <a:off x="0" y="0"/>
              <a:ext cx="14400" cy="8100"/>
            </a:xfrm>
            <a:prstGeom prst="rect">
              <a:avLst/>
            </a:prstGeom>
            <a:solidFill>
              <a:srgbClr val="0D2137"/>
            </a:solidFill>
            <a:ln w="12700">
              <a:solidFill>
                <a:srgbClr val="0D2137"/>
              </a:solidFill>
              <a:prstDash val="solid"/>
            </a:ln>
          </p:spPr>
        </p:sp>
        <p:grpSp>
          <p:nvGrpSpPr>
            <p:cNvPr id="12" name="组合 11"/>
            <p:cNvGrpSpPr/>
            <p:nvPr/>
          </p:nvGrpSpPr>
          <p:grpSpPr>
            <a:xfrm>
              <a:off x="-815" y="-1316"/>
              <a:ext cx="18910" cy="12635"/>
              <a:chOff x="-431" y="-4331"/>
              <a:chExt cx="18910" cy="1263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-431" y="-262"/>
                <a:ext cx="14901" cy="8566"/>
              </a:xfrm>
              <a:prstGeom prst="rect">
                <a:avLst/>
              </a:prstGeom>
              <a:blipFill dpi="0" rotWithShape="1">
                <a:blip r:embed="rId1">
                  <a:alphaModFix amt="50000"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2">
                          <a14:imgEffect>
                            <a14:colorTemperature colorTemp="15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1" y="-2932"/>
                <a:ext cx="14779" cy="8312"/>
              </a:xfrm>
              <a:prstGeom prst="rect">
                <a:avLst/>
              </a:prstGeom>
              <a:gradFill flip="none" rotWithShape="1">
                <a:gsLst>
                  <a:gs pos="100000">
                    <a:srgbClr val="00275C"/>
                  </a:gs>
                  <a:gs pos="45000">
                    <a:schemeClr val="tx2">
                      <a:lumMod val="50000"/>
                      <a:alpha val="8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7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5" y="-4331"/>
                <a:ext cx="11484" cy="11484"/>
              </a:xfrm>
              <a:prstGeom prst="rect">
                <a:avLst/>
              </a:prstGeom>
            </p:spPr>
          </p:pic>
        </p:grpSp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E3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系统架构与角色体系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技术如何支撑业务</a:t>
            </a:r>
            <a:endParaRPr lang="en-US" sz="16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1895475" y="-1986915"/>
            <a:ext cx="4994910" cy="3200400"/>
            <a:chOff x="4828" y="-2265"/>
            <a:chExt cx="5040" cy="5040"/>
          </a:xfrm>
        </p:grpSpPr>
        <p:sp>
          <p:nvSpPr>
            <p:cNvPr id="16" name="Shape 4"/>
            <p:cNvSpPr/>
            <p:nvPr/>
          </p:nvSpPr>
          <p:spPr>
            <a:xfrm>
              <a:off x="4828" y="-2265"/>
              <a:ext cx="5040" cy="5040"/>
            </a:xfrm>
            <a:prstGeom prst="ellipse">
              <a:avLst/>
            </a:prstGeom>
            <a:solidFill>
              <a:srgbClr val="0E2438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25" name="Shape 2"/>
            <p:cNvSpPr/>
            <p:nvPr/>
          </p:nvSpPr>
          <p:spPr>
            <a:xfrm>
              <a:off x="5329" y="-1656"/>
              <a:ext cx="4038" cy="4038"/>
            </a:xfrm>
            <a:prstGeom prst="ellipse">
              <a:avLst/>
            </a:prstGeom>
            <a:solidFill>
              <a:srgbClr val="0F2A42"/>
            </a:solidFill>
            <a:ln w="12700">
              <a:solidFill>
                <a:srgbClr val="0F2A42"/>
              </a:solidFill>
              <a:prstDash val="solid"/>
            </a:ln>
          </p:spPr>
        </p:sp>
        <p:sp>
          <p:nvSpPr>
            <p:cNvPr id="24" name="Shape 3"/>
            <p:cNvSpPr/>
            <p:nvPr/>
          </p:nvSpPr>
          <p:spPr>
            <a:xfrm>
              <a:off x="6145" y="-700"/>
              <a:ext cx="2716" cy="2716"/>
            </a:xfrm>
            <a:prstGeom prst="ellipse">
              <a:avLst/>
            </a:prstGeom>
            <a:solidFill>
              <a:srgbClr val="112E48"/>
            </a:solidFill>
            <a:ln w="12700">
              <a:solidFill>
                <a:srgbClr val="112E48"/>
              </a:solidFill>
              <a:prstDash val="solid"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第二章  架构与角色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系统技术架构概览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前后端分离 · 分层清晰 · 支持国产化部署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38988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8988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 / PC 客户端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47672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965960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96596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Element Plus　　前端路由隔离（角色）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423160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23744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542032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542032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 反向代理 · HTTPS · 静态资源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999232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9981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981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7320" y="3118104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118104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3.2.5 / Java 17　　RESTful API · JWT · RBAC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575304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75888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7588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694176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69417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MariaDB　　Redis（状态缓存）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151376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5196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427024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27024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 / 本地文件存储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9456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（外部服务·可配置）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542032"/>
            <a:ext cx="2286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43230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第二章  架构与角色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三类角色与工作台入口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登录后按角色自动跳转专属工作台 — 权限数据双重隔离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912" cy="3474720"/>
          </a:xfrm>
          <a:prstGeom prst="roundRect">
            <a:avLst>
              <a:gd name="adj" fmla="val 3356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212848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用户账号管理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2871216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课程与班级维护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" y="3529584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角色权限分配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4187952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系统全局设置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27832" y="1371600"/>
            <a:ext cx="2724912" cy="3474720"/>
          </a:xfrm>
          <a:prstGeom prst="roundRect">
            <a:avLst>
              <a:gd name="adj" fmla="val 3356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27832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发布实训项目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871216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配置评价模板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529584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复核终评发布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29000" y="4187952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查看报表画像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35624" y="1371600"/>
            <a:ext cx="2724912" cy="3474720"/>
          </a:xfrm>
          <a:prstGeom prst="roundRect">
            <a:avLst>
              <a:gd name="adj" fmla="val 3356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35624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212848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查看课程任务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36792" y="2871216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提交成果文件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36792" y="3529584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追踪处理状态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36792" y="4187952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查看评价结果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71600" y="4773168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前端路由隔离 · 后端 JWT + RBAC 鉴权 · 业务数据范围双重校验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685165" y="-427355"/>
            <a:ext cx="15219680" cy="9021445"/>
            <a:chOff x="-1079" y="-673"/>
            <a:chExt cx="23968" cy="14207"/>
          </a:xfrm>
        </p:grpSpPr>
        <p:sp>
          <p:nvSpPr>
            <p:cNvPr id="11" name="Shape 0"/>
            <p:cNvSpPr/>
            <p:nvPr/>
          </p:nvSpPr>
          <p:spPr>
            <a:xfrm>
              <a:off x="0" y="0"/>
              <a:ext cx="14400" cy="8100"/>
            </a:xfrm>
            <a:prstGeom prst="rect">
              <a:avLst/>
            </a:prstGeom>
            <a:solidFill>
              <a:srgbClr val="0D2137"/>
            </a:solidFill>
            <a:ln w="12700">
              <a:solidFill>
                <a:srgbClr val="0D2137"/>
              </a:solidFill>
              <a:prstDash val="solid"/>
            </a:ln>
          </p:spPr>
        </p:sp>
        <p:grpSp>
          <p:nvGrpSpPr>
            <p:cNvPr id="12" name="组合 11"/>
            <p:cNvGrpSpPr/>
            <p:nvPr/>
          </p:nvGrpSpPr>
          <p:grpSpPr>
            <a:xfrm>
              <a:off x="-1079" y="-673"/>
              <a:ext cx="23968" cy="14207"/>
              <a:chOff x="-695" y="-3688"/>
              <a:chExt cx="23968" cy="14207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-695" y="1953"/>
                <a:ext cx="14901" cy="8566"/>
              </a:xfrm>
              <a:prstGeom prst="rect">
                <a:avLst/>
              </a:prstGeom>
              <a:blipFill dpi="0" rotWithShape="1">
                <a:blip r:embed="rId1">
                  <a:alphaModFix amt="50000"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2">
                          <a14:imgEffect>
                            <a14:colorTemperature colorTemp="15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467" y="-1497"/>
                <a:ext cx="14779" cy="8312"/>
              </a:xfrm>
              <a:prstGeom prst="rect">
                <a:avLst/>
              </a:prstGeom>
              <a:gradFill flip="none" rotWithShape="1">
                <a:gsLst>
                  <a:gs pos="100000">
                    <a:srgbClr val="00275C"/>
                  </a:gs>
                  <a:gs pos="45000">
                    <a:schemeClr val="tx2">
                      <a:lumMod val="50000"/>
                      <a:alpha val="8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7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789" y="-3688"/>
                <a:ext cx="11484" cy="11484"/>
              </a:xfrm>
              <a:prstGeom prst="rect">
                <a:avLst/>
              </a:prstGeom>
            </p:spPr>
          </p:pic>
        </p:grpSp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E3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核心功能演示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跟随业务流程，逐环节展示</a:t>
            </a:r>
            <a:endParaRPr lang="en-US" sz="1600" dirty="0"/>
          </a:p>
        </p:txBody>
      </p:sp>
      <p:grpSp>
        <p:nvGrpSpPr>
          <p:cNvPr id="8" name="组合 7"/>
          <p:cNvGrpSpPr/>
          <p:nvPr/>
        </p:nvGrpSpPr>
        <p:grpSpPr>
          <a:xfrm>
            <a:off x="1895475" y="-1986915"/>
            <a:ext cx="4994910" cy="3200400"/>
            <a:chOff x="4828" y="-2265"/>
            <a:chExt cx="5040" cy="5040"/>
          </a:xfrm>
        </p:grpSpPr>
        <p:sp>
          <p:nvSpPr>
            <p:cNvPr id="9" name="Shape 4"/>
            <p:cNvSpPr/>
            <p:nvPr/>
          </p:nvSpPr>
          <p:spPr>
            <a:xfrm>
              <a:off x="4828" y="-2265"/>
              <a:ext cx="5040" cy="5040"/>
            </a:xfrm>
            <a:prstGeom prst="ellipse">
              <a:avLst/>
            </a:prstGeom>
            <a:solidFill>
              <a:srgbClr val="0E2438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17" name="Shape 2"/>
            <p:cNvSpPr/>
            <p:nvPr/>
          </p:nvSpPr>
          <p:spPr>
            <a:xfrm>
              <a:off x="5329" y="-1656"/>
              <a:ext cx="4038" cy="4038"/>
            </a:xfrm>
            <a:prstGeom prst="ellipse">
              <a:avLst/>
            </a:prstGeom>
            <a:solidFill>
              <a:srgbClr val="0F2A42"/>
            </a:solidFill>
            <a:ln w="12700">
              <a:solidFill>
                <a:srgbClr val="0F2A42"/>
              </a:solidFill>
              <a:prstDash val="solid"/>
            </a:ln>
          </p:spPr>
        </p:sp>
        <p:sp>
          <p:nvSpPr>
            <p:cNvPr id="18" name="Shape 3"/>
            <p:cNvSpPr/>
            <p:nvPr/>
          </p:nvSpPr>
          <p:spPr>
            <a:xfrm>
              <a:off x="6145" y="-700"/>
              <a:ext cx="2716" cy="2716"/>
            </a:xfrm>
            <a:prstGeom prst="ellipse">
              <a:avLst/>
            </a:prstGeom>
            <a:solidFill>
              <a:srgbClr val="112E48"/>
            </a:solidFill>
            <a:ln w="12700">
              <a:solidFill>
                <a:srgbClr val="112E48"/>
              </a:solidFill>
              <a:prstDash val="solid"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517525" y="-835660"/>
            <a:ext cx="12007850" cy="8023225"/>
            <a:chOff x="-815" y="-1316"/>
            <a:chExt cx="18910" cy="12635"/>
          </a:xfrm>
        </p:grpSpPr>
        <p:sp>
          <p:nvSpPr>
            <p:cNvPr id="11" name="Shape 0"/>
            <p:cNvSpPr/>
            <p:nvPr/>
          </p:nvSpPr>
          <p:spPr>
            <a:xfrm>
              <a:off x="0" y="0"/>
              <a:ext cx="14400" cy="8100"/>
            </a:xfrm>
            <a:prstGeom prst="rect">
              <a:avLst/>
            </a:prstGeom>
            <a:solidFill>
              <a:srgbClr val="0D2137"/>
            </a:solidFill>
            <a:ln w="12700">
              <a:solidFill>
                <a:srgbClr val="0D2137"/>
              </a:solidFill>
              <a:prstDash val="solid"/>
            </a:ln>
          </p:spPr>
        </p:sp>
        <p:grpSp>
          <p:nvGrpSpPr>
            <p:cNvPr id="12" name="组合 11"/>
            <p:cNvGrpSpPr/>
            <p:nvPr/>
          </p:nvGrpSpPr>
          <p:grpSpPr>
            <a:xfrm>
              <a:off x="-815" y="-1316"/>
              <a:ext cx="18910" cy="12635"/>
              <a:chOff x="-431" y="-4331"/>
              <a:chExt cx="18910" cy="1263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-431" y="-262"/>
                <a:ext cx="14901" cy="8566"/>
              </a:xfrm>
              <a:prstGeom prst="rect">
                <a:avLst/>
              </a:prstGeom>
              <a:blipFill dpi="0" rotWithShape="1">
                <a:blip r:embed="rId1">
                  <a:alphaModFix amt="50000"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2">
                          <a14:imgEffect>
                            <a14:colorTemperature colorTemp="15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1" y="-2932"/>
                <a:ext cx="14779" cy="8312"/>
              </a:xfrm>
              <a:prstGeom prst="rect">
                <a:avLst/>
              </a:prstGeom>
              <a:gradFill flip="none" rotWithShape="1">
                <a:gsLst>
                  <a:gs pos="100000">
                    <a:srgbClr val="00275C"/>
                  </a:gs>
                  <a:gs pos="45000">
                    <a:schemeClr val="tx2">
                      <a:lumMod val="50000"/>
                      <a:alpha val="8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7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5" y="-4331"/>
                <a:ext cx="11484" cy="11484"/>
              </a:xfrm>
              <a:prstGeom prst="rect">
                <a:avLst/>
              </a:prstGeom>
            </p:spPr>
          </p:pic>
        </p:grpSp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E3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核心功能演示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跟随业务流程，逐环节展示</a:t>
            </a:r>
            <a:endParaRPr lang="en-US" sz="1600" dirty="0"/>
          </a:p>
        </p:txBody>
      </p:sp>
      <p:grpSp>
        <p:nvGrpSpPr>
          <p:cNvPr id="8" name="组合 7"/>
          <p:cNvGrpSpPr/>
          <p:nvPr/>
        </p:nvGrpSpPr>
        <p:grpSpPr>
          <a:xfrm>
            <a:off x="1895475" y="-1986915"/>
            <a:ext cx="4994910" cy="3200400"/>
            <a:chOff x="4828" y="-2265"/>
            <a:chExt cx="5040" cy="5040"/>
          </a:xfrm>
        </p:grpSpPr>
        <p:sp>
          <p:nvSpPr>
            <p:cNvPr id="9" name="Shape 4"/>
            <p:cNvSpPr/>
            <p:nvPr/>
          </p:nvSpPr>
          <p:spPr>
            <a:xfrm>
              <a:off x="4828" y="-2265"/>
              <a:ext cx="5040" cy="5040"/>
            </a:xfrm>
            <a:prstGeom prst="ellipse">
              <a:avLst/>
            </a:prstGeom>
            <a:solidFill>
              <a:srgbClr val="0E2438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17" name="Shape 2"/>
            <p:cNvSpPr/>
            <p:nvPr/>
          </p:nvSpPr>
          <p:spPr>
            <a:xfrm>
              <a:off x="5329" y="-1656"/>
              <a:ext cx="4038" cy="4038"/>
            </a:xfrm>
            <a:prstGeom prst="ellipse">
              <a:avLst/>
            </a:prstGeom>
            <a:solidFill>
              <a:srgbClr val="0F2A42"/>
            </a:solidFill>
            <a:ln w="12700">
              <a:solidFill>
                <a:srgbClr val="0F2A42"/>
              </a:solidFill>
              <a:prstDash val="solid"/>
            </a:ln>
          </p:spPr>
        </p:sp>
        <p:sp>
          <p:nvSpPr>
            <p:cNvPr id="18" name="Shape 3"/>
            <p:cNvSpPr/>
            <p:nvPr/>
          </p:nvSpPr>
          <p:spPr>
            <a:xfrm>
              <a:off x="6145" y="-700"/>
              <a:ext cx="2716" cy="2716"/>
            </a:xfrm>
            <a:prstGeom prst="ellipse">
              <a:avLst/>
            </a:prstGeom>
            <a:solidFill>
              <a:srgbClr val="112E48"/>
            </a:solidFill>
            <a:ln w="12700">
              <a:solidFill>
                <a:srgbClr val="112E48"/>
              </a:solidFill>
              <a:prstDash val="solid"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管理员功能：教学组织准备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一次性配置好组织架构，后续评价全程有据可查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新增账号、角色分配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密码重置、状态管理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13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3134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5694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创建课程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绑定教师与班级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36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39242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创建班级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维护学生名单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93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593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39593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1538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全局参数配置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大模型服务设置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姓名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张老师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李同学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王同学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停用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班级-学生维护界面 ]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54880" y="3401568"/>
            <a:ext cx="3840480" cy="1234440"/>
          </a:xfrm>
          <a:prstGeom prst="rect">
            <a:avLst/>
          </a:prstGeom>
          <a:solidFill>
            <a:srgbClr val="EEF6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456432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  软工2301  ▶  学生名单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  李四  王五  赵六  ……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教师功能：实训项目与评价规则配置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灵活的评价模板与评分指标 — 系统核心差异化能力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创建项目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配置要求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绑定班级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设置模板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配置指标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发布项目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1810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核心亮点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48840"/>
            <a:ext cx="41605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48840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14884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评价模板配置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2578608"/>
            <a:ext cx="2743200" cy="36576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5786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2633472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63347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01752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17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88920" y="3072384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307238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456432"/>
            <a:ext cx="2743200" cy="36576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5643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3511296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351129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895344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9534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88920" y="3950208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395020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45720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可复用 · 支持跨项目引用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21488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14884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14884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创建实训项目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54880" y="26060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项目名称：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06440" y="260604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260604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后端综合实训 2025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310896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所属课程：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06440" y="310896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310896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54880" y="36118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截止时间：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06440" y="361188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97880" y="361188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2025-12-20 23:59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54880" y="41148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关联班级：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06440" y="411480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41148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软工2301、软工2302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92240" y="45720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57200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 布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学生功能：任务查看与成果提交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一站式查看任务、提交成果、追踪状态 — 版本历史全程可查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18488"/>
            <a:ext cx="566928" cy="5669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52704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查看课程任务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37944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显示项目名称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截止时间与提交状态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242316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87752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88920"/>
            <a:ext cx="566928" cy="56692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889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69748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提交成果文件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08376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上传源码包/文档/截图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填写提交说明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" y="3593592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58184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59352"/>
            <a:ext cx="566928" cy="5669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93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867912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追踪处理状态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178808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待处理→解析中→已评价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版本批次可回溯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41732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417320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41732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提交批次记录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90195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9751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批次 #3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22199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12-19 22:31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2039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03911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已评价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2048256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048256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评价依据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63347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6350">
            <a:solidFill>
              <a:srgbClr val="8FA8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0662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批次 #2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295351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12-18 15:42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0" y="27706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E8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7706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历史版本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3649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6350">
            <a:solidFill>
              <a:srgbClr val="8FA8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4381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批次 #1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368503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12-15 09:10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58000" y="350215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E8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5021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历史版本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464515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以最新批次为评价依据，历史版本可查不可改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成果处理流水线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教师一键触发 · 系统后台异步执行 · 失败可重试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教师操作界面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251460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12848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212848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267712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26771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已提交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560320"/>
            <a:ext cx="2514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603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56032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615184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61518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已提交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907792"/>
            <a:ext cx="251460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9077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2907792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2962656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296265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待提交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456432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5400000" algn="bl" rotWithShape="0">
              <a:srgbClr val="D354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45643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一键开始处理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63240" y="3108960"/>
            <a:ext cx="3200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9992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20440" y="141732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39312" y="1600200"/>
            <a:ext cx="658368" cy="6583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16002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07408" y="150876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解析任务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07408" y="181965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文档结构提取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ZIP目录分析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2423160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1737360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173736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20440" y="2624328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39312" y="2807208"/>
            <a:ext cx="658368" cy="6583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9312" y="280720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407408" y="2715768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核验任务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407408" y="302666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大模型语义分析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建议生成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40480" y="3630168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2944368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2944368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520440" y="3831336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39312" y="4014216"/>
            <a:ext cx="658368" cy="6583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9312" y="401421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407408" y="392277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评分任务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407408" y="42336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规则计算初评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指标分值生成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写入评分草稿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63840" y="4151376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4151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520440" y="466344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失败时记录原因，支持单任务重试，不影响其他批次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静态解析能力：结构化提取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读取结构与文本 — 不编译、不运行代码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提取文字内容、标题层级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段落结构与摘要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87752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代码包解析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解压ZIP · 提取目录树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读取代码文本（不运行）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64024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可选OCR文字识别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图片列表与缩略信息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0296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对照提交物要求核查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文件类型与数量是否齐全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004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004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解析结果示例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目录结构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📁 project-root/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📁 src/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Main.java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Service.java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README.md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design.docx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61188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文档摘要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822192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标题层级：3级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段落数：12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字数：2,847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关键词：登录模块、数据库设计、接口文档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11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82219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源码包 (.zip)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023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设计文档 (.docx)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22452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运行截图 (≥3张)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42569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缺失 测试报告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大模型辅助核验：语义理解与评价建议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建议仅供参考 — 教师复核为准，建议有据可查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项目要求（教师配置）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解析结果（文档+目录）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大模型分析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865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21284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关键要求覆盖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256032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逻辑问题提示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865376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结构化评价建议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212848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可追溯依据引用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初始评分建议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2971800"/>
            <a:ext cx="8503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9718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718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核验结果示例  —  大模型评价建议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338328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83280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3383280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功能需求覆盖度：文档中明确描述了登录、查询、导出三项核心功能，基本满足项目要求。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3776472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776472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377647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代码结构：目录中未发现独立的 service 层文件，业务逻辑可能集中在 controller，建议关注分层架构。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16966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69664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4169664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测试报告缺失：提交物要求中包含测试报告，当前批次未检测到对应文件。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以上为 AI 辅助建议，教师可接受、修改或忽略，不影响最终成绩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教师复核与终评发布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自动评分不是成绩 — 教师复核后发布，全程留有评分历史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45336"/>
            <a:ext cx="438912" cy="43891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453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查看评价依据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 + AI核验建议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逐条可查、有据可依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调整指标得分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逐项修改分值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实时显示总分变化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438912" cy="43891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填写教师评语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 + 改进建议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保存草稿不立即生效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2336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发布终评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确认后发布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学生方可查看正式结果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1417320"/>
            <a:ext cx="44348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141732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1417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评分管理  —  张三 · 批次#3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184708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18470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满分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07408" y="2103120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10312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42432" y="210312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210312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22592" y="21488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07408" y="2487168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48716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42432" y="248716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7648" y="2487168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22592" y="2532888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53288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07408" y="2871216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87121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42432" y="287121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27648" y="2871216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22592" y="2916936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291693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07408" y="3255264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325526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42432" y="325526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27648" y="3255264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22592" y="3300984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300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36576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36576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合计总分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36208" y="36576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 / 100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0" y="416052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1E8449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0" y="41605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发布终评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学生查看评价结果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教师发布后方可查看 — 有总分、有依据、有改进方向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4904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仅发布后可见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教师未发布前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结果对学生不可见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8658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865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38658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总分与指标分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总分 + 各维度得分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清晰呈现评分结构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09544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826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82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28269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547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整体评价与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改进方向建议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105656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788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788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📎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3000" y="41788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评价依据可查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443984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解析摘要与AI建议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作为背景参考展示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4760" y="141732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4173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41732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我的评价结果  —  Java后端综合实训2025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0520" y="1874520"/>
            <a:ext cx="1143000" cy="11430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92024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160520" y="257860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1874520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05472" y="1874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16/20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40680" y="2185416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1854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05472" y="218541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30/35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0680" y="2496312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4963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05472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22/25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0680" y="2807208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807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05472" y="2807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15/20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3182112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DE7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321868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05072" y="345643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整体完成度较好，功能模块划分清晰。建议加强分层架构实践，service层逻辑与controller适当分离。测试覆盖补充后整体质量可进一步提升。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517525" y="-835660"/>
            <a:ext cx="12007850" cy="8023225"/>
            <a:chOff x="-815" y="-1316"/>
            <a:chExt cx="18910" cy="12635"/>
          </a:xfrm>
        </p:grpSpPr>
        <p:sp>
          <p:nvSpPr>
            <p:cNvPr id="11" name="Shape 0"/>
            <p:cNvSpPr/>
            <p:nvPr/>
          </p:nvSpPr>
          <p:spPr>
            <a:xfrm>
              <a:off x="0" y="0"/>
              <a:ext cx="14400" cy="8100"/>
            </a:xfrm>
            <a:prstGeom prst="rect">
              <a:avLst/>
            </a:prstGeom>
            <a:solidFill>
              <a:srgbClr val="0D2137"/>
            </a:solidFill>
            <a:ln w="12700">
              <a:solidFill>
                <a:srgbClr val="0D2137"/>
              </a:solidFill>
              <a:prstDash val="solid"/>
            </a:ln>
          </p:spPr>
        </p:sp>
        <p:grpSp>
          <p:nvGrpSpPr>
            <p:cNvPr id="12" name="组合 11"/>
            <p:cNvGrpSpPr/>
            <p:nvPr/>
          </p:nvGrpSpPr>
          <p:grpSpPr>
            <a:xfrm>
              <a:off x="-815" y="-1316"/>
              <a:ext cx="18910" cy="12635"/>
              <a:chOff x="-431" y="-4331"/>
              <a:chExt cx="18910" cy="1263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-431" y="-262"/>
                <a:ext cx="14901" cy="8566"/>
              </a:xfrm>
              <a:prstGeom prst="rect">
                <a:avLst/>
              </a:prstGeom>
              <a:blipFill dpi="0" rotWithShape="1">
                <a:blip r:embed="rId1">
                  <a:alphaModFix amt="50000"/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2">
                          <a14:imgEffect>
                            <a14:colorTemperature colorTemp="15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51" y="-2932"/>
                <a:ext cx="14779" cy="8312"/>
              </a:xfrm>
              <a:prstGeom prst="rect">
                <a:avLst/>
              </a:prstGeom>
              <a:gradFill flip="none" rotWithShape="1">
                <a:gsLst>
                  <a:gs pos="100000">
                    <a:srgbClr val="00275C"/>
                  </a:gs>
                  <a:gs pos="45000">
                    <a:schemeClr val="tx2">
                      <a:lumMod val="50000"/>
                      <a:alpha val="8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7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5" y="-4331"/>
                <a:ext cx="11484" cy="11484"/>
              </a:xfrm>
              <a:prstGeom prst="rect">
                <a:avLst/>
              </a:prstGeom>
            </p:spPr>
          </p:pic>
        </p:grpSp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E3A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报表、监控与部署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数据沉淀，持续可见</a:t>
            </a:r>
            <a:endParaRPr lang="en-US" sz="1600" dirty="0"/>
          </a:p>
        </p:txBody>
      </p:sp>
      <p:grpSp>
        <p:nvGrpSpPr>
          <p:cNvPr id="8" name="组合 7"/>
          <p:cNvGrpSpPr/>
          <p:nvPr/>
        </p:nvGrpSpPr>
        <p:grpSpPr>
          <a:xfrm>
            <a:off x="1895475" y="-1986915"/>
            <a:ext cx="4994910" cy="3200400"/>
            <a:chOff x="4828" y="-2265"/>
            <a:chExt cx="5040" cy="5040"/>
          </a:xfrm>
        </p:grpSpPr>
        <p:sp>
          <p:nvSpPr>
            <p:cNvPr id="9" name="Shape 4"/>
            <p:cNvSpPr/>
            <p:nvPr/>
          </p:nvSpPr>
          <p:spPr>
            <a:xfrm>
              <a:off x="4828" y="-2265"/>
              <a:ext cx="5040" cy="5040"/>
            </a:xfrm>
            <a:prstGeom prst="ellipse">
              <a:avLst/>
            </a:prstGeom>
            <a:solidFill>
              <a:srgbClr val="0E2438"/>
            </a:solidFill>
            <a:ln w="12700">
              <a:solidFill>
                <a:srgbClr val="17A589"/>
              </a:solidFill>
              <a:prstDash val="solid"/>
            </a:ln>
          </p:spPr>
        </p:sp>
        <p:sp>
          <p:nvSpPr>
            <p:cNvPr id="17" name="Shape 2"/>
            <p:cNvSpPr/>
            <p:nvPr/>
          </p:nvSpPr>
          <p:spPr>
            <a:xfrm>
              <a:off x="5329" y="-1656"/>
              <a:ext cx="4038" cy="4038"/>
            </a:xfrm>
            <a:prstGeom prst="ellipse">
              <a:avLst/>
            </a:prstGeom>
            <a:solidFill>
              <a:srgbClr val="0F2A42"/>
            </a:solidFill>
            <a:ln w="12700">
              <a:solidFill>
                <a:srgbClr val="0F2A42"/>
              </a:solidFill>
              <a:prstDash val="solid"/>
            </a:ln>
          </p:spPr>
        </p:sp>
        <p:sp>
          <p:nvSpPr>
            <p:cNvPr id="18" name="Shape 3"/>
            <p:cNvSpPr/>
            <p:nvPr/>
          </p:nvSpPr>
          <p:spPr>
            <a:xfrm>
              <a:off x="6145" y="-700"/>
              <a:ext cx="2716" cy="2716"/>
            </a:xfrm>
            <a:prstGeom prst="ellipse">
              <a:avLst/>
            </a:prstGeom>
            <a:solidFill>
              <a:srgbClr val="112E48"/>
            </a:solidFill>
            <a:ln w="12700">
              <a:solidFill>
                <a:srgbClr val="112E48"/>
              </a:solidFill>
              <a:prstDash val="solid"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第四章  报表监控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报表中心与教学质量画像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评价数据自动汇聚 — 无需手工整理，支持导出归档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个人评价报告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单学生成绩单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含各指标得分明细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96512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96512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分数分布 · 均值 · 极值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各指标平均分对比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04304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4304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雷达图展示班级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整体完成质量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06040"/>
            <a:ext cx="5029200" cy="320040"/>
          </a:xfrm>
          <a:prstGeom prst="roundRect">
            <a:avLst>
              <a:gd name="adj" fmla="val 2285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06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  —  软工2301  |  已评价 28 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1480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班级均分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581912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81912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81912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最高分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52344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52344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752344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最低分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22776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22776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35.7%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922776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优秀率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187952"/>
            <a:ext cx="502920" cy="2194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&lt;60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88720" y="3968496"/>
            <a:ext cx="50292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60-69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74520" y="3529584"/>
            <a:ext cx="502920" cy="87782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745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70-79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0" y="3639312"/>
            <a:ext cx="502920" cy="76809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80-89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46120" y="3968496"/>
            <a:ext cx="50292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90-94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931920" y="4078224"/>
            <a:ext cx="502920" cy="32918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95+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32120" y="260604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32120" y="260604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26060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  雷达图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0" y="2980944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45430" y="349904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73046" y="433735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91594" y="433735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19210" y="349904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268833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89280" y="33454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43818" y="440866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25878" y="440866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80416" y="33454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4681728"/>
            <a:ext cx="8503920" cy="201168"/>
          </a:xfrm>
          <a:prstGeom prst="roundRect">
            <a:avLst>
              <a:gd name="adj" fmla="val 27273"/>
            </a:avLst>
          </a:prstGeom>
          <a:solidFill>
            <a:srgbClr val="EEF8F4"/>
          </a:solidFill>
          <a:ln w="10160">
            <a:solidFill>
              <a:srgbClr val="17A58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报表支持异步导出（Excel / PDF）· 失败可重试 · 历史报表可归档恢复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第四章  报表监控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通知、日志与系统监控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关键事件有通知 · 操作有日志 · 运行状态有监控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站内通知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201168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未读消息数角标提示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60604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任务完成实时推送（SSE）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终评发布通知学生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未读：3　今日推送：12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操作日志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29000" y="201168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记录关键业务操作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260604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操作人 + 时间 + 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20040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支持按时间/用户查询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今日操作：47条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最近：张老师发布终评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系统监控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6792" y="201168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任务队列状态总览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260604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大模型调用次数与耗时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错误率与队列积压告警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队列待处理：2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模型调用：18次/时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第四章  报表监控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安全机制、部署方案与验证状态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交付能力矩阵 — 安全可靠 · 部署灵活 · 核心测试通过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无状态认证，Token 有效期可配置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186537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6537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访问控制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15798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角色权限 + 业务范围数据隔离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19456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945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文件安全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248716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上传文件访问鉴权，禁止直接 URL 访问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52374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237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1635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生产安全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65960" y="281635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生产配置合规校验，启动自检机制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85292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45536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45536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容器化部署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14553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镜像 + Compose 编排，一键部署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3182112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18211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已就绪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474720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7472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国产化适配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65960" y="347472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龙芯架构 + 麒麟 V11 基础功能验证通过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0" y="351129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51129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已验证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803904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0390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后端测试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65960" y="380390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核心功能路径自动化测试全覆盖（105项）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40880" y="384048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8404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通过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33088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3308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前端测试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65960" y="413308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构建流水线 + 基础 E2E 用例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416966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1696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持续完善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62272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462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工程规范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965960" y="446227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代码质量检查持续收敛中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449884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449884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进行中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表示已具备基础能力，工程质量持续提升中，不影响核心功能正常使用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系统核心价值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让软件实训成果验收从"经验驱动"走向"数据驱动"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1A3A6C"/>
          </a:solidFill>
          <a:ln w="25400">
            <a:solidFill>
              <a:srgbClr val="2E86C1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444752"/>
            <a:ext cx="685800" cy="6858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提交有版本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688336"/>
            <a:ext cx="118872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每次提交形成可追溯批次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历史清晰，杜绝争议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教师评价有据可查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0D4A3A"/>
          </a:solidFill>
          <a:ln w="25400">
            <a:solidFill>
              <a:srgbClr val="17A58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1444752"/>
            <a:ext cx="685800" cy="6858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47288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评价有依据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87368" y="2688336"/>
            <a:ext cx="118872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解析结果·核验建议·教师评语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全程留存，评分过程透明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自动+人工双重保障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4A2810"/>
          </a:solidFill>
          <a:ln w="25400">
            <a:solidFill>
              <a:srgbClr val="E67E22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7184" y="1444752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0216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结果可汇总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0296" y="2688336"/>
            <a:ext cx="11887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班级报表自动生成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质量画像支持教学复盘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数据沉淀持续可见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　|　软件工程实训评价系统开发团队　|　2026-07-16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演示账号与备用跳转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现场备用页 — 评委提问时快速跳转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演示账号信息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984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8424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6974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9748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79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账号：teacher01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16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41071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10712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924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账号：student01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01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4846320" cy="365760"/>
          </a:xfrm>
          <a:prstGeom prst="roundRect">
            <a:avLst>
              <a:gd name="adj" fmla="val 20000"/>
            </a:avLst>
          </a:prstGeom>
          <a:solidFill>
            <a:srgbClr val="F5F9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系统地址：http://[demo-server-ip]:8080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41732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1732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常见问题速查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187452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892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会运行代码吗？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21031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不会，仅静态解析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195681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95681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96128" y="242316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4414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AI能自动评分？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26517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AI仅建议，教师发布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250545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054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96128" y="297180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99008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测试覆盖情况？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2004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后端105项全通过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05409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0540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96128" y="352044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538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国产化适配？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50992" y="374904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龙芯+麒麟已验证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360273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60273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96128" y="406908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087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多次提交以哪版？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50992" y="42976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以最新批次为准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415137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15137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/ 22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3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4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5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4641</Words>
  <Application>WPS 演示</Application>
  <PresentationFormat>On-screen Show (16:9)</PresentationFormat>
  <Paragraphs>1089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Calibri</vt:lpstr>
      <vt:lpstr>Calibri</vt:lpstr>
      <vt:lpstr>微软雅黑</vt:lpstr>
      <vt:lpstr>Arial Unicode MS</vt:lpstr>
      <vt:lpstr>等线</vt:lpstr>
      <vt:lpstr>Courier New</vt:lpstr>
      <vt:lpstr>Courier New</vt:lpstr>
      <vt:lpstr>Courier New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WPS_1719677426</cp:lastModifiedBy>
  <cp:revision>15</cp:revision>
  <dcterms:created xsi:type="dcterms:W3CDTF">2026-07-17T03:22:00Z</dcterms:created>
  <dcterms:modified xsi:type="dcterms:W3CDTF">2026-08-15T11:08:46Z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75D14309B303442C98739D6B94DD9ACF_12</vt:lpwstr>
  </property>
</Properties>
</file>