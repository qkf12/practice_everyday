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54" r:id="rId4"/>
  </p:sldMasterIdLst>
  <p:notesMasterIdLst>
    <p:notesMasterId r:id="rId6"/>
  </p:notesMasterIdLst>
  <p:handoutMasterIdLst>
    <p:handoutMasterId r:id="rId28"/>
  </p:handoutMasterIdLst>
  <p:sldIdLst>
    <p:sldId id="305" r:id="rId5"/>
    <p:sldId id="333" r:id="rId7"/>
    <p:sldId id="332" r:id="rId8"/>
    <p:sldId id="330" r:id="rId9"/>
    <p:sldId id="309" r:id="rId10"/>
    <p:sldId id="310" r:id="rId11"/>
    <p:sldId id="311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7" r:id="rId27"/>
  </p:sldIdLst>
  <p:sldSz cx="9144000" cy="5143500"/>
  <p:notesSz cx="5143500" cy="9144000"/>
  <p:custDataLst>
    <p:tags r:id="rId3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4" userDrawn="1">
          <p15:clr>
            <a:srgbClr val="A4A3A4"/>
          </p15:clr>
        </p15:guide>
        <p15:guide id="2" pos="28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A589"/>
    <a:srgbClr val="2E86C1"/>
    <a:srgbClr val="E67E22"/>
    <a:srgbClr val="1A3A5C"/>
    <a:srgbClr val="062559"/>
    <a:srgbClr val="1E4D7B"/>
    <a:srgbClr val="19385A"/>
    <a:srgbClr val="27AE60"/>
    <a:srgbClr val="19385B"/>
    <a:srgbClr val="5C8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574"/>
        <p:guide pos="28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2" Type="http://schemas.openxmlformats.org/officeDocument/2006/relationships/tags" Target="tags/tag38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185095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185095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3000">
                <a:srgbClr val="102A63">
                  <a:alpha val="84000"/>
                </a:srgbClr>
              </a:gs>
              <a:gs pos="85000">
                <a:srgbClr val="070D31">
                  <a:alpha val="69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17000">
                <a:srgbClr val="00275C">
                  <a:alpha val="51000"/>
                </a:srgbClr>
              </a:gs>
              <a:gs pos="100000">
                <a:srgbClr val="00275C">
                  <a:alpha val="3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2169160" y="364490"/>
            <a:ext cx="13481685" cy="7750175"/>
          </a:xfrm>
          <a:prstGeom prst="rect">
            <a:avLst/>
          </a:prstGeom>
          <a:blipFill dpi="0" rotWithShape="1">
            <a:blip r:embed="rId3">
              <a:alphaModFix amt="50000"/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5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3000">
                <a:srgbClr val="102A63">
                  <a:alpha val="84000"/>
                </a:srgbClr>
              </a:gs>
              <a:gs pos="85000">
                <a:srgbClr val="070D31">
                  <a:alpha val="69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17000">
                <a:srgbClr val="00275C">
                  <a:alpha val="51000"/>
                </a:srgbClr>
              </a:gs>
              <a:gs pos="100000">
                <a:srgbClr val="00275C">
                  <a:alpha val="3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2168525" y="803275"/>
            <a:ext cx="13481685" cy="7750175"/>
          </a:xfrm>
          <a:prstGeom prst="rect">
            <a:avLst/>
          </a:prstGeom>
          <a:blipFill dpi="0" rotWithShape="1">
            <a:blip r:embed="rId3">
              <a:alphaModFix amt="50000"/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5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Text 25"/>
          <p:cNvSpPr/>
          <p:nvPr userDrawn="1"/>
        </p:nvSpPr>
        <p:spPr>
          <a:xfrm>
            <a:off x="336550" y="4732020"/>
            <a:ext cx="161544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5.xml"/><Relationship Id="rId7" Type="http://schemas.microsoft.com/office/2007/relationships/hdphoto" Target="../media/image6.wdp"/><Relationship Id="rId6" Type="http://schemas.openxmlformats.org/officeDocument/2006/relationships/image" Target="../media/image5.png"/><Relationship Id="rId5" Type="http://schemas.openxmlformats.org/officeDocument/2006/relationships/tags" Target="../tags/tag1.xml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microsoft.com/office/2007/relationships/hdphoto" Target="../media/image8.wdp"/><Relationship Id="rId8" Type="http://schemas.openxmlformats.org/officeDocument/2006/relationships/image" Target="../media/image7.png"/><Relationship Id="rId7" Type="http://schemas.openxmlformats.org/officeDocument/2006/relationships/image" Target="../media/image4.png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2" Type="http://schemas.openxmlformats.org/officeDocument/2006/relationships/slideLayout" Target="../slideLayouts/slideLayout6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3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5.xml"/><Relationship Id="rId6" Type="http://schemas.microsoft.com/office/2007/relationships/hdphoto" Target="../media/image6.wdp"/><Relationship Id="rId5" Type="http://schemas.openxmlformats.org/officeDocument/2006/relationships/image" Target="../media/image5.png"/><Relationship Id="rId4" Type="http://schemas.openxmlformats.org/officeDocument/2006/relationships/tags" Target="../tags/tag20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5.xml"/><Relationship Id="rId6" Type="http://schemas.microsoft.com/office/2007/relationships/hdphoto" Target="../media/image6.wdp"/><Relationship Id="rId5" Type="http://schemas.openxmlformats.org/officeDocument/2006/relationships/image" Target="../media/image5.png"/><Relationship Id="rId4" Type="http://schemas.openxmlformats.org/officeDocument/2006/relationships/tags" Target="../tags/tag23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4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5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6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8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9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30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31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5.xml"/><Relationship Id="rId6" Type="http://schemas.microsoft.com/office/2007/relationships/hdphoto" Target="../media/image6.wdp"/><Relationship Id="rId5" Type="http://schemas.openxmlformats.org/officeDocument/2006/relationships/image" Target="../media/image5.png"/><Relationship Id="rId4" Type="http://schemas.openxmlformats.org/officeDocument/2006/relationships/tags" Target="../tags/tag32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33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34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35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6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37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54610" y="-635"/>
            <a:ext cx="9144000" cy="5144400"/>
          </a:xfrm>
          <a:prstGeom prst="rect">
            <a:avLst/>
          </a:prstGeom>
          <a:gradFill flip="none" rotWithShape="1">
            <a:gsLst>
              <a:gs pos="17000">
                <a:srgbClr val="00275C">
                  <a:alpha val="51000"/>
                </a:srgbClr>
              </a:gs>
              <a:gs pos="100000">
                <a:srgbClr val="00275C">
                  <a:alpha val="3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4610" y="0"/>
            <a:ext cx="9144000" cy="5144400"/>
          </a:xfrm>
          <a:prstGeom prst="rect">
            <a:avLst/>
          </a:prstGeom>
          <a:gradFill flip="none" rotWithShape="1">
            <a:gsLst>
              <a:gs pos="3000">
                <a:srgbClr val="102A63">
                  <a:alpha val="84000"/>
                </a:srgbClr>
              </a:gs>
              <a:gs pos="85000">
                <a:srgbClr val="070D31">
                  <a:alpha val="69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175" y="777240"/>
            <a:ext cx="318833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A9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基于大模型技术</a:t>
            </a:r>
            <a:r>
              <a:rPr lang="zh-CN" altLang="en-US" sz="2400" dirty="0">
                <a:solidFill>
                  <a:srgbClr val="6A9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的</a:t>
            </a:r>
            <a:endParaRPr lang="zh-CN" altLang="en-US" sz="2400" dirty="0">
              <a:solidFill>
                <a:srgbClr val="6A9E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175" y="1160780"/>
            <a:ext cx="7772400" cy="1336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软件实训</a:t>
            </a:r>
            <a:endParaRPr lang="en-US" sz="3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教学结果检查评价与报表系统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384048" y="2433701"/>
            <a:ext cx="3200400" cy="54864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98267"/>
            <a:ext cx="7498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E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成果验收数字化　·　评价过程可复核　·　教学质量可汇总</a:t>
            </a:r>
            <a:endParaRPr lang="en-US" sz="1400" dirty="0"/>
          </a:p>
        </p:txBody>
      </p:sp>
      <p:grpSp>
        <p:nvGrpSpPr>
          <p:cNvPr id="33" name="组合 32"/>
          <p:cNvGrpSpPr/>
          <p:nvPr/>
        </p:nvGrpSpPr>
        <p:grpSpPr>
          <a:xfrm>
            <a:off x="384175" y="3788410"/>
            <a:ext cx="4481830" cy="311150"/>
            <a:chOff x="605" y="4977"/>
            <a:chExt cx="7058" cy="490"/>
          </a:xfrm>
        </p:grpSpPr>
        <p:grpSp>
          <p:nvGrpSpPr>
            <p:cNvPr id="26" name="组合 25"/>
            <p:cNvGrpSpPr/>
            <p:nvPr/>
          </p:nvGrpSpPr>
          <p:grpSpPr>
            <a:xfrm rot="0">
              <a:off x="605" y="4977"/>
              <a:ext cx="1872" cy="490"/>
              <a:chOff x="605" y="4248"/>
              <a:chExt cx="1872" cy="490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605" y="4248"/>
                <a:ext cx="1872" cy="490"/>
              </a:xfrm>
              <a:prstGeom prst="roundRect">
                <a:avLst>
                  <a:gd name="adj" fmla="val 17647"/>
                </a:avLst>
              </a:prstGeom>
              <a:solidFill>
                <a:srgbClr val="132E4A"/>
              </a:solidFill>
              <a:ln w="12700">
                <a:solidFill>
                  <a:srgbClr val="2A5A7A"/>
                </a:solidFill>
                <a:prstDash val="solid"/>
              </a:ln>
            </p:spPr>
          </p:sp>
          <p:sp>
            <p:nvSpPr>
              <p:cNvPr id="15" name="Text 13"/>
              <p:cNvSpPr/>
              <p:nvPr/>
            </p:nvSpPr>
            <p:spPr>
              <a:xfrm>
                <a:off x="605" y="4248"/>
                <a:ext cx="1872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7EB8D8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竞赛评委</a:t>
                </a:r>
                <a:endParaRPr lang="en-US" sz="1000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 rot="0">
              <a:off x="3252" y="4977"/>
              <a:ext cx="1872" cy="490"/>
              <a:chOff x="2736" y="4248"/>
              <a:chExt cx="1872" cy="490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2736" y="4248"/>
                <a:ext cx="1872" cy="490"/>
              </a:xfrm>
              <a:prstGeom prst="roundRect">
                <a:avLst>
                  <a:gd name="adj" fmla="val 17647"/>
                </a:avLst>
              </a:prstGeom>
              <a:solidFill>
                <a:srgbClr val="132E4A"/>
              </a:solidFill>
              <a:ln w="12700">
                <a:solidFill>
                  <a:srgbClr val="2A5A7A"/>
                </a:solidFill>
                <a:prstDash val="solid"/>
              </a:ln>
            </p:spPr>
          </p:sp>
          <p:sp>
            <p:nvSpPr>
              <p:cNvPr id="17" name="Text 15"/>
              <p:cNvSpPr/>
              <p:nvPr/>
            </p:nvSpPr>
            <p:spPr>
              <a:xfrm>
                <a:off x="2736" y="4248"/>
                <a:ext cx="1872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7EB8D8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院校管理者</a:t>
                </a:r>
                <a:endParaRPr lang="en-US" sz="1000" dirty="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 rot="0">
              <a:off x="5791" y="4977"/>
              <a:ext cx="1872" cy="490"/>
              <a:chOff x="4867" y="4248"/>
              <a:chExt cx="1872" cy="490"/>
            </a:xfrm>
          </p:grpSpPr>
          <p:sp>
            <p:nvSpPr>
              <p:cNvPr id="18" name="Shape 16"/>
              <p:cNvSpPr/>
              <p:nvPr/>
            </p:nvSpPr>
            <p:spPr>
              <a:xfrm>
                <a:off x="4867" y="4248"/>
                <a:ext cx="1872" cy="490"/>
              </a:xfrm>
              <a:prstGeom prst="roundRect">
                <a:avLst>
                  <a:gd name="adj" fmla="val 17647"/>
                </a:avLst>
              </a:prstGeom>
              <a:solidFill>
                <a:srgbClr val="132E4A"/>
              </a:solidFill>
              <a:ln w="12700">
                <a:solidFill>
                  <a:srgbClr val="2A5A7A"/>
                </a:solidFill>
                <a:prstDash val="solid"/>
              </a:ln>
            </p:spPr>
          </p:sp>
          <p:sp>
            <p:nvSpPr>
              <p:cNvPr id="19" name="Text 17"/>
              <p:cNvSpPr/>
              <p:nvPr/>
            </p:nvSpPr>
            <p:spPr>
              <a:xfrm>
                <a:off x="4867" y="4248"/>
                <a:ext cx="1872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7EB8D8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软件实训教师</a:t>
                </a:r>
                <a:endParaRPr lang="en-US" sz="1000" dirty="0"/>
              </a:p>
            </p:txBody>
          </p:sp>
        </p:grpSp>
      </p:grpSp>
      <p:sp>
        <p:nvSpPr>
          <p:cNvPr id="20" name="Shape 18"/>
          <p:cNvSpPr/>
          <p:nvPr/>
        </p:nvSpPr>
        <p:spPr>
          <a:xfrm>
            <a:off x="384048" y="4220972"/>
            <a:ext cx="8375904" cy="9144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175" y="4317365"/>
            <a:ext cx="287020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软件工程实训评价系统开发团队</a:t>
            </a:r>
            <a:endParaRPr lang="en-US" sz="1400" b="1" dirty="0">
              <a:solidFill>
                <a:srgbClr val="4A7A9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674620" y="4309872"/>
            <a:ext cx="12618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4A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2026-07-16</a:t>
            </a:r>
            <a:endParaRPr lang="en-US" sz="1600" dirty="0">
              <a:solidFill>
                <a:srgbClr val="4A7A9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-151765" y="-41275"/>
            <a:ext cx="7063740" cy="1074467"/>
            <a:chOff x="-239" y="-65"/>
            <a:chExt cx="11124" cy="1692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504" y="792"/>
              <a:ext cx="10381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6" name="组合 5"/>
            <p:cNvGrpSpPr/>
            <p:nvPr/>
          </p:nvGrpSpPr>
          <p:grpSpPr>
            <a:xfrm>
              <a:off x="-239" y="-65"/>
              <a:ext cx="9637" cy="1692"/>
              <a:chOff x="-239" y="-65"/>
              <a:chExt cx="9637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39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24" name="组合 23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功能演示  ·  V1.0.0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grpSp>
        <p:nvGrpSpPr>
          <p:cNvPr id="23" name="组合 22"/>
          <p:cNvGrpSpPr/>
          <p:nvPr/>
        </p:nvGrpSpPr>
        <p:grpSpPr>
          <a:xfrm>
            <a:off x="-90805" y="-831850"/>
            <a:ext cx="12099290" cy="8920480"/>
            <a:chOff x="1873" y="-8"/>
            <a:chExt cx="19054" cy="14048"/>
          </a:xfrm>
        </p:grpSpPr>
        <p:sp>
          <p:nvSpPr>
            <p:cNvPr id="98" name="矩形 97"/>
            <p:cNvSpPr/>
            <p:nvPr/>
          </p:nvSpPr>
          <p:spPr>
            <a:xfrm>
              <a:off x="1873" y="5474"/>
              <a:ext cx="14901" cy="8566"/>
            </a:xfrm>
            <a:prstGeom prst="rect">
              <a:avLst/>
            </a:prstGeom>
            <a:blipFill dpi="0" rotWithShape="1">
              <a:blip r:embed="rId3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8" name="图片 8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3" y="-8"/>
              <a:ext cx="11484" cy="114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2" name="组合 91"/>
          <p:cNvGrpSpPr/>
          <p:nvPr/>
        </p:nvGrpSpPr>
        <p:grpSpPr>
          <a:xfrm>
            <a:off x="5507355" y="3229610"/>
            <a:ext cx="2560320" cy="1216025"/>
            <a:chOff x="8036" y="5086"/>
            <a:chExt cx="4032" cy="1915"/>
          </a:xfrm>
        </p:grpSpPr>
        <p:sp>
          <p:nvSpPr>
            <p:cNvPr id="50" name="Shape 5"/>
            <p:cNvSpPr/>
            <p:nvPr/>
          </p:nvSpPr>
          <p:spPr>
            <a:xfrm>
              <a:off x="8360" y="5341"/>
              <a:ext cx="3708" cy="1661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2700">
              <a:solidFill>
                <a:srgbClr val="17A589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76" name="组合 75"/>
            <p:cNvGrpSpPr/>
            <p:nvPr/>
          </p:nvGrpSpPr>
          <p:grpSpPr>
            <a:xfrm>
              <a:off x="9192" y="5086"/>
              <a:ext cx="2381" cy="607"/>
              <a:chOff x="1335" y="2177"/>
              <a:chExt cx="2538" cy="646"/>
            </a:xfrm>
          </p:grpSpPr>
          <p:grpSp>
            <p:nvGrpSpPr>
              <p:cNvPr id="77" name="组合 76"/>
              <p:cNvGrpSpPr/>
              <p:nvPr/>
            </p:nvGrpSpPr>
            <p:grpSpPr>
              <a:xfrm>
                <a:off x="1335" y="2177"/>
                <a:ext cx="2538" cy="599"/>
                <a:chOff x="7339" y="3037"/>
                <a:chExt cx="6450" cy="1254"/>
              </a:xfrm>
            </p:grpSpPr>
            <p:grpSp>
              <p:nvGrpSpPr>
                <p:cNvPr id="78" name="组合 77"/>
                <p:cNvGrpSpPr/>
                <p:nvPr/>
              </p:nvGrpSpPr>
              <p:grpSpPr>
                <a:xfrm rot="10800000">
                  <a:off x="7339" y="3037"/>
                  <a:ext cx="6251" cy="1255"/>
                  <a:chOff x="7874193" y="5752158"/>
                  <a:chExt cx="3613166" cy="673100"/>
                </a:xfrm>
              </p:grpSpPr>
              <p:sp>
                <p:nvSpPr>
                  <p:cNvPr id="79" name="等腰三角形 78"/>
                  <p:cNvSpPr/>
                  <p:nvPr/>
                </p:nvSpPr>
                <p:spPr>
                  <a:xfrm rot="5400000">
                    <a:off x="10989705" y="5927604"/>
                    <a:ext cx="673100" cy="322208"/>
                  </a:xfrm>
                  <a:prstGeom prst="triangle">
                    <a:avLst>
                      <a:gd name="adj" fmla="val 53774"/>
                    </a:avLst>
                  </a:prstGeom>
                  <a:gradFill>
                    <a:gsLst>
                      <a:gs pos="71000">
                        <a:srgbClr val="039EA8">
                          <a:alpha val="30000"/>
                        </a:srgbClr>
                      </a:gs>
                      <a:gs pos="100000">
                        <a:srgbClr val="039EA8">
                          <a:alpha val="0"/>
                        </a:srgbClr>
                      </a:gs>
                    </a:gsLst>
                    <a:lin ang="5400000" scaled="0"/>
                  </a:gradFill>
                  <a:ln>
                    <a:gradFill>
                      <a:gsLst>
                        <a:gs pos="100000">
                          <a:srgbClr val="039EA8">
                            <a:alpha val="0"/>
                          </a:srgbClr>
                        </a:gs>
                        <a:gs pos="57000">
                          <a:srgbClr val="039EA8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  <p:sp>
                <p:nvSpPr>
                  <p:cNvPr id="80" name="箭头: 五边形 147"/>
                  <p:cNvSpPr/>
                  <p:nvPr/>
                </p:nvSpPr>
                <p:spPr>
                  <a:xfrm>
                    <a:off x="7874193" y="5768243"/>
                    <a:ext cx="3493992" cy="657015"/>
                  </a:xfrm>
                  <a:prstGeom prst="homePlate">
                    <a:avLst/>
                  </a:prstGeom>
                  <a:gradFill>
                    <a:gsLst>
                      <a:gs pos="100000">
                        <a:srgbClr val="039EA8">
                          <a:alpha val="43000"/>
                        </a:srgbClr>
                      </a:gs>
                      <a:gs pos="0">
                        <a:srgbClr val="039EA8">
                          <a:alpha val="0"/>
                        </a:srgbClr>
                      </a:gs>
                    </a:gsLst>
                    <a:lin ang="0" scaled="0"/>
                  </a:gradFill>
                  <a:ln>
                    <a:gradFill>
                      <a:gsLst>
                        <a:gs pos="0">
                          <a:srgbClr val="039EA8">
                            <a:alpha val="0"/>
                          </a:srgbClr>
                        </a:gs>
                        <a:gs pos="100000">
                          <a:srgbClr val="039EA8"/>
                        </a:gs>
                      </a:gsLst>
                      <a:lin ang="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</p:grpSp>
            <p:grpSp>
              <p:nvGrpSpPr>
                <p:cNvPr id="81" name="组合 80"/>
                <p:cNvGrpSpPr/>
                <p:nvPr/>
              </p:nvGrpSpPr>
              <p:grpSpPr>
                <a:xfrm rot="10800000" flipH="1">
                  <a:off x="7539" y="3037"/>
                  <a:ext cx="6251" cy="1255"/>
                  <a:chOff x="7874193" y="5752158"/>
                  <a:chExt cx="3613166" cy="673100"/>
                </a:xfrm>
              </p:grpSpPr>
              <p:sp>
                <p:nvSpPr>
                  <p:cNvPr id="82" name="等腰三角形 81"/>
                  <p:cNvSpPr/>
                  <p:nvPr/>
                </p:nvSpPr>
                <p:spPr>
                  <a:xfrm rot="5400000">
                    <a:off x="10989705" y="5927604"/>
                    <a:ext cx="673100" cy="322208"/>
                  </a:xfrm>
                  <a:prstGeom prst="triangle">
                    <a:avLst>
                      <a:gd name="adj" fmla="val 53774"/>
                    </a:avLst>
                  </a:prstGeom>
                  <a:gradFill>
                    <a:gsLst>
                      <a:gs pos="71000">
                        <a:srgbClr val="039EA8">
                          <a:alpha val="30000"/>
                        </a:srgbClr>
                      </a:gs>
                      <a:gs pos="100000">
                        <a:srgbClr val="039EA8">
                          <a:alpha val="0"/>
                        </a:srgbClr>
                      </a:gs>
                    </a:gsLst>
                    <a:lin ang="5400000" scaled="0"/>
                  </a:gradFill>
                  <a:ln>
                    <a:gradFill>
                      <a:gsLst>
                        <a:gs pos="100000">
                          <a:srgbClr val="039EA8">
                            <a:alpha val="0"/>
                          </a:srgbClr>
                        </a:gs>
                        <a:gs pos="57000">
                          <a:srgbClr val="039EA8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  <p:sp>
                <p:nvSpPr>
                  <p:cNvPr id="83" name="箭头: 五边形 147"/>
                  <p:cNvSpPr/>
                  <p:nvPr/>
                </p:nvSpPr>
                <p:spPr>
                  <a:xfrm>
                    <a:off x="7874193" y="5768243"/>
                    <a:ext cx="3493992" cy="657015"/>
                  </a:xfrm>
                  <a:prstGeom prst="homePlate">
                    <a:avLst/>
                  </a:prstGeom>
                  <a:gradFill>
                    <a:gsLst>
                      <a:gs pos="100000">
                        <a:srgbClr val="039EA8">
                          <a:alpha val="43000"/>
                        </a:srgbClr>
                      </a:gs>
                      <a:gs pos="0">
                        <a:srgbClr val="039EA8">
                          <a:alpha val="0"/>
                        </a:srgbClr>
                      </a:gs>
                    </a:gsLst>
                    <a:lin ang="0" scaled="0"/>
                  </a:gradFill>
                  <a:ln>
                    <a:gradFill>
                      <a:gsLst>
                        <a:gs pos="0">
                          <a:srgbClr val="039EA8">
                            <a:alpha val="0"/>
                          </a:srgbClr>
                        </a:gs>
                        <a:gs pos="100000">
                          <a:srgbClr val="039EA8"/>
                        </a:gs>
                      </a:gsLst>
                      <a:lin ang="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</p:grpSp>
          </p:grpSp>
          <p:sp>
            <p:nvSpPr>
              <p:cNvPr id="84" name="标题 6"/>
              <p:cNvSpPr>
                <a:spLocks noGrp="1"/>
              </p:cNvSpPr>
              <p:nvPr/>
            </p:nvSpPr>
            <p:spPr>
              <a:xfrm>
                <a:off x="1498" y="2177"/>
                <a:ext cx="2208" cy="646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algn="ctr">
                  <a:buClrTx/>
                  <a:buSzTx/>
                  <a:buFontTx/>
                  <a:buNone/>
                </a:pPr>
                <a:r>
                  <a:rPr lang="zh-CN" altLang="en-US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sym typeface="+mn-ea"/>
                  </a:rPr>
                  <a:t>统计滞后</a:t>
                </a:r>
                <a:endParaRPr lang="zh-CN" altLang="en-US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endParaRPr>
              </a:p>
            </p:txBody>
          </p:sp>
        </p:grpSp>
        <p:sp>
          <p:nvSpPr>
            <p:cNvPr id="88" name="Text 24"/>
            <p:cNvSpPr/>
            <p:nvPr/>
          </p:nvSpPr>
          <p:spPr>
            <a:xfrm>
              <a:off x="8036" y="5755"/>
              <a:ext cx="3583" cy="103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r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成绩汇总依赖</a:t>
              </a:r>
              <a:endParaRPr lang="en-US" sz="16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  <a:p>
              <a:pPr marL="0" indent="0" algn="r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手工整理</a:t>
              </a:r>
              <a:endParaRPr lang="en-US" sz="1600" dirty="0"/>
            </a:p>
            <a:p>
              <a:pPr marL="0" indent="0" algn="r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班级质量画像缺失</a:t>
              </a:r>
              <a:endParaRPr lang="en-US" sz="16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1313180" y="3229610"/>
            <a:ext cx="2434590" cy="1233170"/>
            <a:chOff x="1431" y="5086"/>
            <a:chExt cx="3834" cy="1942"/>
          </a:xfrm>
        </p:grpSpPr>
        <p:sp>
          <p:nvSpPr>
            <p:cNvPr id="49" name="Shape 5"/>
            <p:cNvSpPr/>
            <p:nvPr/>
          </p:nvSpPr>
          <p:spPr>
            <a:xfrm>
              <a:off x="1431" y="5368"/>
              <a:ext cx="3835" cy="1661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2700">
              <a:solidFill>
                <a:srgbClr val="E67E22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58" name="组合 57"/>
            <p:cNvGrpSpPr/>
            <p:nvPr/>
          </p:nvGrpSpPr>
          <p:grpSpPr>
            <a:xfrm>
              <a:off x="2024" y="5086"/>
              <a:ext cx="2381" cy="607"/>
              <a:chOff x="1335" y="2177"/>
              <a:chExt cx="2538" cy="646"/>
            </a:xfrm>
          </p:grpSpPr>
          <p:grpSp>
            <p:nvGrpSpPr>
              <p:cNvPr id="59" name="组合 58"/>
              <p:cNvGrpSpPr/>
              <p:nvPr/>
            </p:nvGrpSpPr>
            <p:grpSpPr>
              <a:xfrm>
                <a:off x="1335" y="2177"/>
                <a:ext cx="2538" cy="599"/>
                <a:chOff x="7339" y="3037"/>
                <a:chExt cx="6450" cy="1254"/>
              </a:xfrm>
            </p:grpSpPr>
            <p:grpSp>
              <p:nvGrpSpPr>
                <p:cNvPr id="60" name="组合 59"/>
                <p:cNvGrpSpPr/>
                <p:nvPr/>
              </p:nvGrpSpPr>
              <p:grpSpPr>
                <a:xfrm rot="10800000">
                  <a:off x="7339" y="3037"/>
                  <a:ext cx="6251" cy="1255"/>
                  <a:chOff x="7874193" y="5752158"/>
                  <a:chExt cx="3613166" cy="673100"/>
                </a:xfrm>
              </p:grpSpPr>
              <p:sp>
                <p:nvSpPr>
                  <p:cNvPr id="61" name="等腰三角形 60"/>
                  <p:cNvSpPr/>
                  <p:nvPr/>
                </p:nvSpPr>
                <p:spPr>
                  <a:xfrm rot="5400000">
                    <a:off x="10989705" y="5927604"/>
                    <a:ext cx="673100" cy="322208"/>
                  </a:xfrm>
                  <a:prstGeom prst="triangle">
                    <a:avLst>
                      <a:gd name="adj" fmla="val 53774"/>
                    </a:avLst>
                  </a:prstGeom>
                  <a:gradFill>
                    <a:gsLst>
                      <a:gs pos="71000">
                        <a:srgbClr val="039EA8">
                          <a:alpha val="30000"/>
                        </a:srgbClr>
                      </a:gs>
                      <a:gs pos="100000">
                        <a:srgbClr val="039EA8">
                          <a:alpha val="0"/>
                        </a:srgbClr>
                      </a:gs>
                    </a:gsLst>
                    <a:lin ang="5400000" scaled="0"/>
                  </a:gradFill>
                  <a:ln>
                    <a:gradFill>
                      <a:gsLst>
                        <a:gs pos="100000">
                          <a:srgbClr val="039EA8">
                            <a:alpha val="0"/>
                          </a:srgbClr>
                        </a:gs>
                        <a:gs pos="57000">
                          <a:srgbClr val="039EA8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  <p:sp>
                <p:nvSpPr>
                  <p:cNvPr id="62" name="箭头: 五边形 147"/>
                  <p:cNvSpPr/>
                  <p:nvPr/>
                </p:nvSpPr>
                <p:spPr>
                  <a:xfrm>
                    <a:off x="7874193" y="5768243"/>
                    <a:ext cx="3493992" cy="657015"/>
                  </a:xfrm>
                  <a:prstGeom prst="homePlate">
                    <a:avLst/>
                  </a:prstGeom>
                  <a:gradFill>
                    <a:gsLst>
                      <a:gs pos="100000">
                        <a:srgbClr val="039EA8">
                          <a:alpha val="43000"/>
                        </a:srgbClr>
                      </a:gs>
                      <a:gs pos="0">
                        <a:srgbClr val="039EA8">
                          <a:alpha val="0"/>
                        </a:srgbClr>
                      </a:gs>
                    </a:gsLst>
                    <a:lin ang="0" scaled="0"/>
                  </a:gradFill>
                  <a:ln>
                    <a:gradFill>
                      <a:gsLst>
                        <a:gs pos="0">
                          <a:srgbClr val="039EA8">
                            <a:alpha val="0"/>
                          </a:srgbClr>
                        </a:gs>
                        <a:gs pos="100000">
                          <a:srgbClr val="039EA8"/>
                        </a:gs>
                      </a:gsLst>
                      <a:lin ang="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</p:grpSp>
            <p:grpSp>
              <p:nvGrpSpPr>
                <p:cNvPr id="63" name="组合 62"/>
                <p:cNvGrpSpPr/>
                <p:nvPr/>
              </p:nvGrpSpPr>
              <p:grpSpPr>
                <a:xfrm rot="10800000" flipH="1">
                  <a:off x="7539" y="3037"/>
                  <a:ext cx="6251" cy="1255"/>
                  <a:chOff x="7874193" y="5752158"/>
                  <a:chExt cx="3613166" cy="673100"/>
                </a:xfrm>
              </p:grpSpPr>
              <p:sp>
                <p:nvSpPr>
                  <p:cNvPr id="64" name="等腰三角形 63"/>
                  <p:cNvSpPr/>
                  <p:nvPr/>
                </p:nvSpPr>
                <p:spPr>
                  <a:xfrm rot="5400000">
                    <a:off x="10989705" y="5927604"/>
                    <a:ext cx="673100" cy="322208"/>
                  </a:xfrm>
                  <a:prstGeom prst="triangle">
                    <a:avLst>
                      <a:gd name="adj" fmla="val 53774"/>
                    </a:avLst>
                  </a:prstGeom>
                  <a:gradFill>
                    <a:gsLst>
                      <a:gs pos="71000">
                        <a:srgbClr val="039EA8">
                          <a:alpha val="30000"/>
                        </a:srgbClr>
                      </a:gs>
                      <a:gs pos="100000">
                        <a:srgbClr val="039EA8">
                          <a:alpha val="0"/>
                        </a:srgbClr>
                      </a:gs>
                    </a:gsLst>
                    <a:lin ang="5400000" scaled="0"/>
                  </a:gradFill>
                  <a:ln>
                    <a:gradFill>
                      <a:gsLst>
                        <a:gs pos="100000">
                          <a:srgbClr val="039EA8">
                            <a:alpha val="0"/>
                          </a:srgbClr>
                        </a:gs>
                        <a:gs pos="57000">
                          <a:srgbClr val="039EA8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  <p:sp>
                <p:nvSpPr>
                  <p:cNvPr id="65" name="箭头: 五边形 147"/>
                  <p:cNvSpPr/>
                  <p:nvPr/>
                </p:nvSpPr>
                <p:spPr>
                  <a:xfrm>
                    <a:off x="7874193" y="5768243"/>
                    <a:ext cx="3493992" cy="657015"/>
                  </a:xfrm>
                  <a:prstGeom prst="homePlate">
                    <a:avLst/>
                  </a:prstGeom>
                  <a:gradFill>
                    <a:gsLst>
                      <a:gs pos="100000">
                        <a:srgbClr val="039EA8">
                          <a:alpha val="43000"/>
                        </a:srgbClr>
                      </a:gs>
                      <a:gs pos="0">
                        <a:srgbClr val="039EA8">
                          <a:alpha val="0"/>
                        </a:srgbClr>
                      </a:gs>
                    </a:gsLst>
                    <a:lin ang="0" scaled="0"/>
                  </a:gradFill>
                  <a:ln>
                    <a:gradFill>
                      <a:gsLst>
                        <a:gs pos="0">
                          <a:srgbClr val="039EA8">
                            <a:alpha val="0"/>
                          </a:srgbClr>
                        </a:gs>
                        <a:gs pos="100000">
                          <a:srgbClr val="039EA8"/>
                        </a:gs>
                      </a:gsLst>
                      <a:lin ang="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</p:grpSp>
          </p:grpSp>
          <p:sp>
            <p:nvSpPr>
              <p:cNvPr id="66" name="标题 6"/>
              <p:cNvSpPr>
                <a:spLocks noGrp="1"/>
              </p:cNvSpPr>
              <p:nvPr/>
            </p:nvSpPr>
            <p:spPr>
              <a:xfrm>
                <a:off x="1498" y="2177"/>
                <a:ext cx="2208" cy="646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algn="ctr">
                  <a:buClrTx/>
                  <a:buSzTx/>
                  <a:buFontTx/>
                  <a:buNone/>
                </a:pPr>
                <a:r>
                  <a:rPr lang="zh-CN" altLang="en-US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sym typeface="+mn-ea"/>
                  </a:rPr>
                  <a:t>依据难追溯</a:t>
                </a:r>
                <a:endParaRPr lang="zh-CN" altLang="en-US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endParaRPr>
              </a:p>
            </p:txBody>
          </p:sp>
        </p:grpSp>
        <p:sp>
          <p:nvSpPr>
            <p:cNvPr id="87" name="Text 19"/>
            <p:cNvSpPr/>
            <p:nvPr/>
          </p:nvSpPr>
          <p:spPr>
            <a:xfrm>
              <a:off x="1775" y="5722"/>
              <a:ext cx="3184" cy="103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评分依据存于脑中</a:t>
              </a:r>
              <a:endParaRPr lang="en-US" sz="1600" dirty="0"/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同一作业</a:t>
              </a:r>
              <a:endParaRPr lang="en-US" sz="16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标准难统一</a:t>
              </a:r>
              <a:endParaRPr lang="en-US" sz="16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5692140" y="1395095"/>
            <a:ext cx="2354580" cy="1256030"/>
            <a:chOff x="8327" y="2197"/>
            <a:chExt cx="3708" cy="1978"/>
          </a:xfrm>
        </p:grpSpPr>
        <p:sp>
          <p:nvSpPr>
            <p:cNvPr id="48" name="Shape 5"/>
            <p:cNvSpPr/>
            <p:nvPr/>
          </p:nvSpPr>
          <p:spPr>
            <a:xfrm>
              <a:off x="8327" y="2515"/>
              <a:ext cx="3708" cy="1661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2700">
              <a:solidFill>
                <a:srgbClr val="2E86C1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67" name="组合 66"/>
            <p:cNvGrpSpPr/>
            <p:nvPr/>
          </p:nvGrpSpPr>
          <p:grpSpPr>
            <a:xfrm>
              <a:off x="9139" y="2197"/>
              <a:ext cx="2382" cy="606"/>
              <a:chOff x="1335" y="2177"/>
              <a:chExt cx="2538" cy="646"/>
            </a:xfrm>
          </p:grpSpPr>
          <p:grpSp>
            <p:nvGrpSpPr>
              <p:cNvPr id="68" name="组合 67"/>
              <p:cNvGrpSpPr/>
              <p:nvPr/>
            </p:nvGrpSpPr>
            <p:grpSpPr>
              <a:xfrm>
                <a:off x="1335" y="2177"/>
                <a:ext cx="2538" cy="599"/>
                <a:chOff x="7339" y="3037"/>
                <a:chExt cx="6450" cy="1254"/>
              </a:xfrm>
            </p:grpSpPr>
            <p:grpSp>
              <p:nvGrpSpPr>
                <p:cNvPr id="69" name="组合 68"/>
                <p:cNvGrpSpPr/>
                <p:nvPr/>
              </p:nvGrpSpPr>
              <p:grpSpPr>
                <a:xfrm rot="10800000">
                  <a:off x="7339" y="3037"/>
                  <a:ext cx="6251" cy="1255"/>
                  <a:chOff x="7874193" y="5752158"/>
                  <a:chExt cx="3613166" cy="673100"/>
                </a:xfrm>
              </p:grpSpPr>
              <p:sp>
                <p:nvSpPr>
                  <p:cNvPr id="70" name="等腰三角形 69"/>
                  <p:cNvSpPr/>
                  <p:nvPr/>
                </p:nvSpPr>
                <p:spPr>
                  <a:xfrm rot="5400000">
                    <a:off x="10989705" y="5927604"/>
                    <a:ext cx="673100" cy="322208"/>
                  </a:xfrm>
                  <a:prstGeom prst="triangle">
                    <a:avLst>
                      <a:gd name="adj" fmla="val 53774"/>
                    </a:avLst>
                  </a:prstGeom>
                  <a:gradFill>
                    <a:gsLst>
                      <a:gs pos="71000">
                        <a:srgbClr val="039EA8">
                          <a:alpha val="30000"/>
                        </a:srgbClr>
                      </a:gs>
                      <a:gs pos="100000">
                        <a:srgbClr val="039EA8">
                          <a:alpha val="0"/>
                        </a:srgbClr>
                      </a:gs>
                    </a:gsLst>
                    <a:lin ang="5400000" scaled="0"/>
                  </a:gradFill>
                  <a:ln>
                    <a:gradFill>
                      <a:gsLst>
                        <a:gs pos="100000">
                          <a:srgbClr val="039EA8">
                            <a:alpha val="0"/>
                          </a:srgbClr>
                        </a:gs>
                        <a:gs pos="57000">
                          <a:srgbClr val="039EA8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  <p:sp>
                <p:nvSpPr>
                  <p:cNvPr id="71" name="箭头: 五边形 147"/>
                  <p:cNvSpPr/>
                  <p:nvPr/>
                </p:nvSpPr>
                <p:spPr>
                  <a:xfrm>
                    <a:off x="7874193" y="5768243"/>
                    <a:ext cx="3493992" cy="657015"/>
                  </a:xfrm>
                  <a:prstGeom prst="homePlate">
                    <a:avLst/>
                  </a:prstGeom>
                  <a:gradFill>
                    <a:gsLst>
                      <a:gs pos="100000">
                        <a:srgbClr val="039EA8">
                          <a:alpha val="43000"/>
                        </a:srgbClr>
                      </a:gs>
                      <a:gs pos="0">
                        <a:srgbClr val="039EA8">
                          <a:alpha val="0"/>
                        </a:srgbClr>
                      </a:gs>
                    </a:gsLst>
                    <a:lin ang="0" scaled="0"/>
                  </a:gradFill>
                  <a:ln>
                    <a:gradFill>
                      <a:gsLst>
                        <a:gs pos="0">
                          <a:srgbClr val="039EA8">
                            <a:alpha val="0"/>
                          </a:srgbClr>
                        </a:gs>
                        <a:gs pos="100000">
                          <a:srgbClr val="039EA8"/>
                        </a:gs>
                      </a:gsLst>
                      <a:lin ang="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</p:grpSp>
            <p:grpSp>
              <p:nvGrpSpPr>
                <p:cNvPr id="72" name="组合 71"/>
                <p:cNvGrpSpPr/>
                <p:nvPr/>
              </p:nvGrpSpPr>
              <p:grpSpPr>
                <a:xfrm rot="10800000" flipH="1">
                  <a:off x="7539" y="3037"/>
                  <a:ext cx="6251" cy="1255"/>
                  <a:chOff x="7874193" y="5752158"/>
                  <a:chExt cx="3613166" cy="673100"/>
                </a:xfrm>
              </p:grpSpPr>
              <p:sp>
                <p:nvSpPr>
                  <p:cNvPr id="73" name="等腰三角形 72"/>
                  <p:cNvSpPr/>
                  <p:nvPr/>
                </p:nvSpPr>
                <p:spPr>
                  <a:xfrm rot="5400000">
                    <a:off x="10989705" y="5927604"/>
                    <a:ext cx="673100" cy="322208"/>
                  </a:xfrm>
                  <a:prstGeom prst="triangle">
                    <a:avLst>
                      <a:gd name="adj" fmla="val 53774"/>
                    </a:avLst>
                  </a:prstGeom>
                  <a:gradFill>
                    <a:gsLst>
                      <a:gs pos="71000">
                        <a:srgbClr val="039EA8">
                          <a:alpha val="30000"/>
                        </a:srgbClr>
                      </a:gs>
                      <a:gs pos="100000">
                        <a:srgbClr val="039EA8">
                          <a:alpha val="0"/>
                        </a:srgbClr>
                      </a:gs>
                    </a:gsLst>
                    <a:lin ang="5400000" scaled="0"/>
                  </a:gradFill>
                  <a:ln>
                    <a:gradFill>
                      <a:gsLst>
                        <a:gs pos="100000">
                          <a:srgbClr val="039EA8">
                            <a:alpha val="0"/>
                          </a:srgbClr>
                        </a:gs>
                        <a:gs pos="57000">
                          <a:srgbClr val="039EA8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  <p:sp>
                <p:nvSpPr>
                  <p:cNvPr id="74" name="箭头: 五边形 147"/>
                  <p:cNvSpPr/>
                  <p:nvPr/>
                </p:nvSpPr>
                <p:spPr>
                  <a:xfrm>
                    <a:off x="7874193" y="5768243"/>
                    <a:ext cx="3493992" cy="657015"/>
                  </a:xfrm>
                  <a:prstGeom prst="homePlate">
                    <a:avLst/>
                  </a:prstGeom>
                  <a:gradFill>
                    <a:gsLst>
                      <a:gs pos="100000">
                        <a:srgbClr val="039EA8">
                          <a:alpha val="43000"/>
                        </a:srgbClr>
                      </a:gs>
                      <a:gs pos="0">
                        <a:srgbClr val="039EA8">
                          <a:alpha val="0"/>
                        </a:srgbClr>
                      </a:gs>
                    </a:gsLst>
                    <a:lin ang="0" scaled="0"/>
                  </a:gradFill>
                  <a:ln>
                    <a:gradFill>
                      <a:gsLst>
                        <a:gs pos="0">
                          <a:srgbClr val="039EA8">
                            <a:alpha val="0"/>
                          </a:srgbClr>
                        </a:gs>
                        <a:gs pos="100000">
                          <a:srgbClr val="039EA8"/>
                        </a:gs>
                      </a:gsLst>
                      <a:lin ang="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</p:grpSp>
          </p:grpSp>
          <p:sp>
            <p:nvSpPr>
              <p:cNvPr id="75" name="标题 6"/>
              <p:cNvSpPr>
                <a:spLocks noGrp="1"/>
              </p:cNvSpPr>
              <p:nvPr/>
            </p:nvSpPr>
            <p:spPr>
              <a:xfrm>
                <a:off x="1498" y="2177"/>
                <a:ext cx="2208" cy="646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algn="ctr">
                  <a:buClrTx/>
                  <a:buSzTx/>
                  <a:buFontTx/>
                  <a:buNone/>
                </a:pPr>
                <a:r>
                  <a:rPr lang="zh-CN" altLang="en-US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sym typeface="+mn-ea"/>
                  </a:rPr>
                  <a:t>重复核对</a:t>
                </a:r>
                <a:endParaRPr lang="zh-CN" altLang="en-US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endParaRPr>
              </a:p>
            </p:txBody>
          </p:sp>
        </p:grpSp>
        <p:sp>
          <p:nvSpPr>
            <p:cNvPr id="86" name="Text 14"/>
            <p:cNvSpPr/>
            <p:nvPr/>
          </p:nvSpPr>
          <p:spPr>
            <a:xfrm>
              <a:off x="8747" y="2863"/>
              <a:ext cx="2814" cy="103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r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多班级同类项目</a:t>
              </a:r>
              <a:endParaRPr lang="en-US" sz="1600" dirty="0"/>
            </a:p>
            <a:p>
              <a:pPr marL="0" indent="0" algn="r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教师重复</a:t>
              </a:r>
              <a:endParaRPr lang="en-US" sz="16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  <a:p>
              <a:pPr marL="0" indent="0" algn="r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阅读耗时巨大</a:t>
              </a:r>
              <a:endParaRPr lang="en-US" sz="16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1286510" y="1395095"/>
            <a:ext cx="2352040" cy="1262380"/>
            <a:chOff x="1389" y="2197"/>
            <a:chExt cx="3704" cy="1988"/>
          </a:xfrm>
        </p:grpSpPr>
        <p:sp>
          <p:nvSpPr>
            <p:cNvPr id="47" name="Shape 5"/>
            <p:cNvSpPr/>
            <p:nvPr/>
          </p:nvSpPr>
          <p:spPr>
            <a:xfrm>
              <a:off x="1389" y="2527"/>
              <a:ext cx="3705" cy="1659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2700">
              <a:solidFill>
                <a:srgbClr val="1A3A5C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  <p:txBody>
            <a:bodyPr/>
            <a:p>
              <a:endParaRPr lang="zh-CN" altLang="en-US"/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1946" y="2197"/>
              <a:ext cx="2382" cy="606"/>
              <a:chOff x="1335" y="2177"/>
              <a:chExt cx="2538" cy="646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1335" y="2177"/>
                <a:ext cx="2538" cy="599"/>
                <a:chOff x="7339" y="3037"/>
                <a:chExt cx="6450" cy="1254"/>
              </a:xfrm>
            </p:grpSpPr>
            <p:grpSp>
              <p:nvGrpSpPr>
                <p:cNvPr id="143" name="组合 142"/>
                <p:cNvGrpSpPr/>
                <p:nvPr/>
              </p:nvGrpSpPr>
              <p:grpSpPr>
                <a:xfrm rot="10800000">
                  <a:off x="7339" y="3037"/>
                  <a:ext cx="6251" cy="1255"/>
                  <a:chOff x="7874193" y="5752158"/>
                  <a:chExt cx="3613166" cy="673100"/>
                </a:xfrm>
              </p:grpSpPr>
              <p:sp>
                <p:nvSpPr>
                  <p:cNvPr id="144" name="等腰三角形 143"/>
                  <p:cNvSpPr/>
                  <p:nvPr/>
                </p:nvSpPr>
                <p:spPr>
                  <a:xfrm rot="5400000">
                    <a:off x="10989705" y="5927604"/>
                    <a:ext cx="673100" cy="322208"/>
                  </a:xfrm>
                  <a:prstGeom prst="triangle">
                    <a:avLst>
                      <a:gd name="adj" fmla="val 53774"/>
                    </a:avLst>
                  </a:prstGeom>
                  <a:gradFill>
                    <a:gsLst>
                      <a:gs pos="71000">
                        <a:srgbClr val="039EA8">
                          <a:alpha val="30000"/>
                        </a:srgbClr>
                      </a:gs>
                      <a:gs pos="100000">
                        <a:srgbClr val="039EA8">
                          <a:alpha val="0"/>
                        </a:srgbClr>
                      </a:gs>
                    </a:gsLst>
                    <a:lin ang="5400000" scaled="0"/>
                  </a:gradFill>
                  <a:ln>
                    <a:gradFill>
                      <a:gsLst>
                        <a:gs pos="100000">
                          <a:srgbClr val="039EA8">
                            <a:alpha val="0"/>
                          </a:srgbClr>
                        </a:gs>
                        <a:gs pos="57000">
                          <a:srgbClr val="039EA8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  <p:sp>
                <p:nvSpPr>
                  <p:cNvPr id="148" name="箭头: 五边形 147"/>
                  <p:cNvSpPr/>
                  <p:nvPr/>
                </p:nvSpPr>
                <p:spPr>
                  <a:xfrm>
                    <a:off x="7874193" y="5768243"/>
                    <a:ext cx="3493992" cy="657015"/>
                  </a:xfrm>
                  <a:prstGeom prst="homePlate">
                    <a:avLst/>
                  </a:prstGeom>
                  <a:gradFill>
                    <a:gsLst>
                      <a:gs pos="100000">
                        <a:srgbClr val="039EA8">
                          <a:alpha val="43000"/>
                        </a:srgbClr>
                      </a:gs>
                      <a:gs pos="0">
                        <a:srgbClr val="039EA8">
                          <a:alpha val="0"/>
                        </a:srgbClr>
                      </a:gs>
                    </a:gsLst>
                    <a:lin ang="0" scaled="0"/>
                  </a:gradFill>
                  <a:ln>
                    <a:gradFill>
                      <a:gsLst>
                        <a:gs pos="0">
                          <a:srgbClr val="039EA8">
                            <a:alpha val="0"/>
                          </a:srgbClr>
                        </a:gs>
                        <a:gs pos="100000">
                          <a:srgbClr val="039EA8"/>
                        </a:gs>
                      </a:gsLst>
                      <a:lin ang="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</p:grpSp>
            <p:grpSp>
              <p:nvGrpSpPr>
                <p:cNvPr id="52" name="组合 51"/>
                <p:cNvGrpSpPr/>
                <p:nvPr/>
              </p:nvGrpSpPr>
              <p:grpSpPr>
                <a:xfrm rot="10800000" flipH="1">
                  <a:off x="7539" y="3037"/>
                  <a:ext cx="6251" cy="1255"/>
                  <a:chOff x="7874193" y="5752158"/>
                  <a:chExt cx="3613166" cy="673100"/>
                </a:xfrm>
              </p:grpSpPr>
              <p:sp>
                <p:nvSpPr>
                  <p:cNvPr id="53" name="等腰三角形 52"/>
                  <p:cNvSpPr/>
                  <p:nvPr/>
                </p:nvSpPr>
                <p:spPr>
                  <a:xfrm rot="5400000">
                    <a:off x="10989705" y="5927604"/>
                    <a:ext cx="673100" cy="322208"/>
                  </a:xfrm>
                  <a:prstGeom prst="triangle">
                    <a:avLst>
                      <a:gd name="adj" fmla="val 53774"/>
                    </a:avLst>
                  </a:prstGeom>
                  <a:gradFill>
                    <a:gsLst>
                      <a:gs pos="71000">
                        <a:srgbClr val="039EA8">
                          <a:alpha val="30000"/>
                        </a:srgbClr>
                      </a:gs>
                      <a:gs pos="100000">
                        <a:srgbClr val="039EA8">
                          <a:alpha val="0"/>
                        </a:srgbClr>
                      </a:gs>
                    </a:gsLst>
                    <a:lin ang="5400000" scaled="0"/>
                  </a:gradFill>
                  <a:ln>
                    <a:gradFill>
                      <a:gsLst>
                        <a:gs pos="100000">
                          <a:srgbClr val="039EA8">
                            <a:alpha val="0"/>
                          </a:srgbClr>
                        </a:gs>
                        <a:gs pos="57000">
                          <a:srgbClr val="039EA8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  <p:sp>
                <p:nvSpPr>
                  <p:cNvPr id="54" name="箭头: 五边形 147"/>
                  <p:cNvSpPr/>
                  <p:nvPr/>
                </p:nvSpPr>
                <p:spPr>
                  <a:xfrm>
                    <a:off x="7874193" y="5768243"/>
                    <a:ext cx="3493992" cy="657015"/>
                  </a:xfrm>
                  <a:prstGeom prst="homePlate">
                    <a:avLst/>
                  </a:prstGeom>
                  <a:gradFill>
                    <a:gsLst>
                      <a:gs pos="100000">
                        <a:srgbClr val="039EA8">
                          <a:alpha val="43000"/>
                        </a:srgbClr>
                      </a:gs>
                      <a:gs pos="0">
                        <a:srgbClr val="039EA8">
                          <a:alpha val="0"/>
                        </a:srgbClr>
                      </a:gs>
                    </a:gsLst>
                    <a:lin ang="0" scaled="0"/>
                  </a:gradFill>
                  <a:ln>
                    <a:gradFill>
                      <a:gsLst>
                        <a:gs pos="0">
                          <a:srgbClr val="039EA8">
                            <a:alpha val="0"/>
                          </a:srgbClr>
                        </a:gs>
                        <a:gs pos="100000">
                          <a:srgbClr val="039EA8"/>
                        </a:gs>
                      </a:gsLst>
                      <a:lin ang="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</p:grpSp>
          </p:grpSp>
          <p:sp>
            <p:nvSpPr>
              <p:cNvPr id="55" name="标题 6"/>
              <p:cNvSpPr>
                <a:spLocks noGrp="1"/>
              </p:cNvSpPr>
              <p:nvPr/>
            </p:nvSpPr>
            <p:spPr>
              <a:xfrm>
                <a:off x="1498" y="2177"/>
                <a:ext cx="2208" cy="646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indent="0" algn="ctr">
                  <a:buNone/>
                </a:pPr>
                <a:r>
                  <a:rPr lang="zh-CN" altLang="en-US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sym typeface="+mn-ea"/>
                  </a:rPr>
                  <a:t>材料分散</a:t>
                </a:r>
                <a:endParaRPr lang="zh-CN" altLang="en-US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endParaRPr>
              </a:p>
            </p:txBody>
          </p:sp>
        </p:grpSp>
        <p:sp>
          <p:nvSpPr>
            <p:cNvPr id="85" name="Text 9"/>
            <p:cNvSpPr/>
            <p:nvPr/>
          </p:nvSpPr>
          <p:spPr>
            <a:xfrm>
              <a:off x="1650" y="2857"/>
              <a:ext cx="3029" cy="103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源码、文档、截图、</a:t>
              </a:r>
              <a:endParaRPr lang="en-US" sz="16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报告各处提交</a:t>
              </a:r>
              <a:endParaRPr lang="en-US" sz="1600" dirty="0"/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教师需逐一收集核对</a:t>
              </a:r>
              <a:endParaRPr lang="en-US" sz="16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sp>
        <p:nvSpPr>
          <p:cNvPr id="5" name="Text 3"/>
          <p:cNvSpPr/>
          <p:nvPr/>
        </p:nvSpPr>
        <p:spPr>
          <a:xfrm>
            <a:off x="320040" y="502920"/>
            <a:ext cx="23729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建设背景与痛点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36550" y="998220"/>
            <a:ext cx="223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软件实训人工验收的四大挑战</a:t>
            </a:r>
            <a:endParaRPr lang="en-US" sz="1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3171190" y="1483360"/>
            <a:ext cx="3077210" cy="3069590"/>
            <a:chOff x="4357" y="2336"/>
            <a:chExt cx="4846" cy="4834"/>
          </a:xfrm>
        </p:grpSpPr>
        <p:grpSp>
          <p:nvGrpSpPr>
            <p:cNvPr id="42" name="组合 41"/>
            <p:cNvGrpSpPr/>
            <p:nvPr/>
          </p:nvGrpSpPr>
          <p:grpSpPr>
            <a:xfrm>
              <a:off x="4357" y="2336"/>
              <a:ext cx="4847" cy="4834"/>
              <a:chOff x="4773" y="1760"/>
              <a:chExt cx="4847" cy="4834"/>
            </a:xfrm>
          </p:grpSpPr>
          <p:grpSp>
            <p:nvGrpSpPr>
              <p:cNvPr id="19" name="组合 18"/>
              <p:cNvGrpSpPr/>
              <p:nvPr/>
            </p:nvGrpSpPr>
            <p:grpSpPr>
              <a:xfrm rot="20700000">
                <a:off x="7928" y="1895"/>
                <a:ext cx="1693" cy="2933"/>
                <a:chOff x="9995" y="1627"/>
                <a:chExt cx="1693" cy="2933"/>
              </a:xfrm>
              <a:solidFill>
                <a:srgbClr val="2E86C1"/>
              </a:solidFill>
            </p:grpSpPr>
            <p:sp>
              <p:nvSpPr>
                <p:cNvPr id="12" name="任意多边形 11"/>
                <p:cNvSpPr/>
                <p:nvPr/>
              </p:nvSpPr>
              <p:spPr>
                <a:xfrm rot="5400000">
                  <a:off x="10094" y="1737"/>
                  <a:ext cx="1705" cy="1485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cd4">
                      <a:pos x="hc" y="t"/>
                    </a:cxn>
                    <a:cxn ang="3cd4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cd4">
                      <a:pos x="ir" y="it"/>
                    </a:cxn>
                  </a:cxnLst>
                  <a:rect l="l" t="t" r="r" b="b"/>
                  <a:pathLst>
                    <a:path w="1705" h="1485">
                      <a:moveTo>
                        <a:pt x="853" y="0"/>
                      </a:moveTo>
                      <a:cubicBezTo>
                        <a:pt x="1302" y="0"/>
                        <a:pt x="1670" y="347"/>
                        <a:pt x="1704" y="787"/>
                      </a:cubicBezTo>
                      <a:lnTo>
                        <a:pt x="1705" y="806"/>
                      </a:lnTo>
                      <a:lnTo>
                        <a:pt x="1700" y="805"/>
                      </a:lnTo>
                      <a:cubicBezTo>
                        <a:pt x="1646" y="800"/>
                        <a:pt x="1591" y="797"/>
                        <a:pt x="1536" y="798"/>
                      </a:cubicBezTo>
                      <a:cubicBezTo>
                        <a:pt x="1411" y="799"/>
                        <a:pt x="1284" y="816"/>
                        <a:pt x="1157" y="850"/>
                      </a:cubicBezTo>
                      <a:cubicBezTo>
                        <a:pt x="791" y="948"/>
                        <a:pt x="492" y="1172"/>
                        <a:pt x="294" y="1464"/>
                      </a:cubicBezTo>
                      <a:lnTo>
                        <a:pt x="280" y="1485"/>
                      </a:lnTo>
                      <a:lnTo>
                        <a:pt x="279" y="1484"/>
                      </a:lnTo>
                      <a:cubicBezTo>
                        <a:pt x="108" y="1328"/>
                        <a:pt x="0" y="1103"/>
                        <a:pt x="0" y="853"/>
                      </a:cubicBezTo>
                      <a:cubicBezTo>
                        <a:pt x="0" y="382"/>
                        <a:pt x="382" y="0"/>
                        <a:pt x="853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rgbClr val="2E86C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13" name="任意多边形 12"/>
                <p:cNvSpPr/>
                <p:nvPr/>
              </p:nvSpPr>
              <p:spPr>
                <a:xfrm rot="5400000">
                  <a:off x="9772" y="2213"/>
                  <a:ext cx="1426" cy="814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cd4">
                      <a:pos x="hc" y="t"/>
                    </a:cxn>
                    <a:cxn ang="3cd4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cd4">
                      <a:pos x="ir" y="it"/>
                    </a:cxn>
                  </a:cxnLst>
                  <a:rect l="l" t="t" r="r" b="b"/>
                  <a:pathLst>
                    <a:path w="1426" h="814">
                      <a:moveTo>
                        <a:pt x="1283" y="0"/>
                      </a:moveTo>
                      <a:cubicBezTo>
                        <a:pt x="1329" y="0"/>
                        <a:pt x="1375" y="3"/>
                        <a:pt x="1420" y="7"/>
                      </a:cubicBezTo>
                      <a:lnTo>
                        <a:pt x="1424" y="8"/>
                      </a:lnTo>
                      <a:lnTo>
                        <a:pt x="1425" y="11"/>
                      </a:lnTo>
                      <a:cubicBezTo>
                        <a:pt x="1425" y="26"/>
                        <a:pt x="1426" y="41"/>
                        <a:pt x="1426" y="55"/>
                      </a:cubicBezTo>
                      <a:cubicBezTo>
                        <a:pt x="1426" y="107"/>
                        <a:pt x="1421" y="157"/>
                        <a:pt x="1412" y="206"/>
                      </a:cubicBezTo>
                      <a:lnTo>
                        <a:pt x="1410" y="217"/>
                      </a:lnTo>
                      <a:lnTo>
                        <a:pt x="1389" y="216"/>
                      </a:lnTo>
                      <a:cubicBezTo>
                        <a:pt x="904" y="216"/>
                        <a:pt x="473" y="443"/>
                        <a:pt x="195" y="797"/>
                      </a:cubicBezTo>
                      <a:lnTo>
                        <a:pt x="182" y="814"/>
                      </a:lnTo>
                      <a:lnTo>
                        <a:pt x="166" y="805"/>
                      </a:lnTo>
                      <a:cubicBezTo>
                        <a:pt x="118" y="779"/>
                        <a:pt x="72" y="748"/>
                        <a:pt x="30" y="714"/>
                      </a:cubicBezTo>
                      <a:lnTo>
                        <a:pt x="0" y="687"/>
                      </a:lnTo>
                      <a:lnTo>
                        <a:pt x="14" y="666"/>
                      </a:lnTo>
                      <a:cubicBezTo>
                        <a:pt x="211" y="375"/>
                        <a:pt x="510" y="150"/>
                        <a:pt x="877" y="52"/>
                      </a:cubicBezTo>
                      <a:cubicBezTo>
                        <a:pt x="1004" y="18"/>
                        <a:pt x="1131" y="1"/>
                        <a:pt x="1256" y="0"/>
                      </a:cubicBezTo>
                      <a:cubicBezTo>
                        <a:pt x="1265" y="0"/>
                        <a:pt x="1274" y="0"/>
                        <a:pt x="1283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rgbClr val="2E86C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14" name="任意多边形 13"/>
                <p:cNvSpPr/>
                <p:nvPr/>
              </p:nvSpPr>
              <p:spPr>
                <a:xfrm rot="5400000">
                  <a:off x="9818" y="3495"/>
                  <a:ext cx="1243" cy="888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cd4">
                      <a:pos x="hc" y="t"/>
                    </a:cxn>
                    <a:cxn ang="3cd4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cd4">
                      <a:pos x="ir" y="it"/>
                    </a:cxn>
                  </a:cxnLst>
                  <a:rect l="l" t="t" r="r" b="b"/>
                  <a:pathLst>
                    <a:path w="1243" h="888">
                      <a:moveTo>
                        <a:pt x="14" y="0"/>
                      </a:moveTo>
                      <a:lnTo>
                        <a:pt x="36" y="2"/>
                      </a:lnTo>
                      <a:cubicBezTo>
                        <a:pt x="549" y="63"/>
                        <a:pt x="1007" y="384"/>
                        <a:pt x="1232" y="864"/>
                      </a:cubicBezTo>
                      <a:lnTo>
                        <a:pt x="1243" y="888"/>
                      </a:lnTo>
                      <a:lnTo>
                        <a:pt x="1236" y="877"/>
                      </a:lnTo>
                      <a:cubicBezTo>
                        <a:pt x="968" y="480"/>
                        <a:pt x="516" y="217"/>
                        <a:pt x="3" y="209"/>
                      </a:cubicBezTo>
                      <a:lnTo>
                        <a:pt x="0" y="209"/>
                      </a:lnTo>
                      <a:lnTo>
                        <a:pt x="2" y="198"/>
                      </a:lnTo>
                      <a:cubicBezTo>
                        <a:pt x="11" y="149"/>
                        <a:pt x="15" y="99"/>
                        <a:pt x="15" y="47"/>
                      </a:cubicBezTo>
                      <a:cubicBezTo>
                        <a:pt x="15" y="33"/>
                        <a:pt x="15" y="18"/>
                        <a:pt x="14" y="4"/>
                      </a:cubicBez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>
                  <a:solidFill>
                    <a:srgbClr val="2E86C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 rot="15300000">
                <a:off x="5424" y="1140"/>
                <a:ext cx="1693" cy="2933"/>
                <a:chOff x="9995" y="1627"/>
                <a:chExt cx="1693" cy="2933"/>
              </a:xfrm>
              <a:solidFill>
                <a:srgbClr val="1A3A5C"/>
              </a:solidFill>
            </p:grpSpPr>
            <p:sp>
              <p:nvSpPr>
                <p:cNvPr id="23" name="任意多边形 22"/>
                <p:cNvSpPr/>
                <p:nvPr/>
              </p:nvSpPr>
              <p:spPr>
                <a:xfrm rot="5400000">
                  <a:off x="10094" y="1737"/>
                  <a:ext cx="1705" cy="1485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705" h="1485">
                      <a:moveTo>
                        <a:pt x="853" y="0"/>
                      </a:moveTo>
                      <a:cubicBezTo>
                        <a:pt x="1302" y="0"/>
                        <a:pt x="1670" y="347"/>
                        <a:pt x="1704" y="787"/>
                      </a:cubicBezTo>
                      <a:lnTo>
                        <a:pt x="1705" y="806"/>
                      </a:lnTo>
                      <a:lnTo>
                        <a:pt x="1700" y="805"/>
                      </a:lnTo>
                      <a:cubicBezTo>
                        <a:pt x="1646" y="800"/>
                        <a:pt x="1591" y="797"/>
                        <a:pt x="1536" y="798"/>
                      </a:cubicBezTo>
                      <a:cubicBezTo>
                        <a:pt x="1411" y="799"/>
                        <a:pt x="1284" y="816"/>
                        <a:pt x="1157" y="850"/>
                      </a:cubicBezTo>
                      <a:cubicBezTo>
                        <a:pt x="791" y="948"/>
                        <a:pt x="492" y="1172"/>
                        <a:pt x="294" y="1464"/>
                      </a:cubicBezTo>
                      <a:lnTo>
                        <a:pt x="280" y="1485"/>
                      </a:lnTo>
                      <a:lnTo>
                        <a:pt x="279" y="1484"/>
                      </a:lnTo>
                      <a:cubicBezTo>
                        <a:pt x="108" y="1328"/>
                        <a:pt x="0" y="1103"/>
                        <a:pt x="0" y="853"/>
                      </a:cubicBezTo>
                      <a:cubicBezTo>
                        <a:pt x="0" y="382"/>
                        <a:pt x="382" y="0"/>
                        <a:pt x="853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rgbClr val="1A3A5C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24" name="任意多边形 23"/>
                <p:cNvSpPr/>
                <p:nvPr/>
              </p:nvSpPr>
              <p:spPr>
                <a:xfrm rot="5400000">
                  <a:off x="9772" y="2213"/>
                  <a:ext cx="1426" cy="814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426" h="814">
                      <a:moveTo>
                        <a:pt x="1283" y="0"/>
                      </a:moveTo>
                      <a:cubicBezTo>
                        <a:pt x="1329" y="0"/>
                        <a:pt x="1375" y="3"/>
                        <a:pt x="1420" y="7"/>
                      </a:cubicBezTo>
                      <a:lnTo>
                        <a:pt x="1424" y="8"/>
                      </a:lnTo>
                      <a:lnTo>
                        <a:pt x="1425" y="11"/>
                      </a:lnTo>
                      <a:cubicBezTo>
                        <a:pt x="1425" y="26"/>
                        <a:pt x="1426" y="41"/>
                        <a:pt x="1426" y="55"/>
                      </a:cubicBezTo>
                      <a:cubicBezTo>
                        <a:pt x="1426" y="107"/>
                        <a:pt x="1421" y="157"/>
                        <a:pt x="1412" y="206"/>
                      </a:cubicBezTo>
                      <a:lnTo>
                        <a:pt x="1410" y="217"/>
                      </a:lnTo>
                      <a:lnTo>
                        <a:pt x="1389" y="216"/>
                      </a:lnTo>
                      <a:cubicBezTo>
                        <a:pt x="904" y="216"/>
                        <a:pt x="473" y="443"/>
                        <a:pt x="195" y="797"/>
                      </a:cubicBezTo>
                      <a:lnTo>
                        <a:pt x="182" y="814"/>
                      </a:lnTo>
                      <a:lnTo>
                        <a:pt x="166" y="805"/>
                      </a:lnTo>
                      <a:cubicBezTo>
                        <a:pt x="118" y="779"/>
                        <a:pt x="72" y="748"/>
                        <a:pt x="30" y="714"/>
                      </a:cubicBezTo>
                      <a:lnTo>
                        <a:pt x="0" y="687"/>
                      </a:lnTo>
                      <a:lnTo>
                        <a:pt x="14" y="666"/>
                      </a:lnTo>
                      <a:cubicBezTo>
                        <a:pt x="211" y="375"/>
                        <a:pt x="510" y="150"/>
                        <a:pt x="877" y="52"/>
                      </a:cubicBezTo>
                      <a:cubicBezTo>
                        <a:pt x="1004" y="18"/>
                        <a:pt x="1131" y="1"/>
                        <a:pt x="1256" y="0"/>
                      </a:cubicBezTo>
                      <a:cubicBezTo>
                        <a:pt x="1265" y="0"/>
                        <a:pt x="1274" y="0"/>
                        <a:pt x="1283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rgbClr val="1A3A5C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25" name="任意多边形 24"/>
                <p:cNvSpPr/>
                <p:nvPr/>
              </p:nvSpPr>
              <p:spPr>
                <a:xfrm rot="5400000">
                  <a:off x="9818" y="3495"/>
                  <a:ext cx="1243" cy="888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243" h="888">
                      <a:moveTo>
                        <a:pt x="14" y="0"/>
                      </a:moveTo>
                      <a:lnTo>
                        <a:pt x="36" y="2"/>
                      </a:lnTo>
                      <a:cubicBezTo>
                        <a:pt x="549" y="63"/>
                        <a:pt x="1007" y="384"/>
                        <a:pt x="1232" y="864"/>
                      </a:cubicBezTo>
                      <a:lnTo>
                        <a:pt x="1243" y="888"/>
                      </a:lnTo>
                      <a:lnTo>
                        <a:pt x="1236" y="877"/>
                      </a:lnTo>
                      <a:cubicBezTo>
                        <a:pt x="968" y="480"/>
                        <a:pt x="516" y="217"/>
                        <a:pt x="3" y="209"/>
                      </a:cubicBezTo>
                      <a:lnTo>
                        <a:pt x="0" y="209"/>
                      </a:lnTo>
                      <a:lnTo>
                        <a:pt x="2" y="198"/>
                      </a:lnTo>
                      <a:cubicBezTo>
                        <a:pt x="11" y="149"/>
                        <a:pt x="15" y="99"/>
                        <a:pt x="15" y="47"/>
                      </a:cubicBezTo>
                      <a:cubicBezTo>
                        <a:pt x="15" y="33"/>
                        <a:pt x="15" y="18"/>
                        <a:pt x="14" y="4"/>
                      </a:cubicBez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>
                  <a:solidFill>
                    <a:srgbClr val="1A3A5C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7" name="组合 26"/>
              <p:cNvGrpSpPr/>
              <p:nvPr/>
            </p:nvGrpSpPr>
            <p:grpSpPr>
              <a:xfrm rot="4500000">
                <a:off x="7183" y="4282"/>
                <a:ext cx="1693" cy="2933"/>
                <a:chOff x="9995" y="1627"/>
                <a:chExt cx="1693" cy="2933"/>
              </a:xfrm>
              <a:solidFill>
                <a:srgbClr val="17A589"/>
              </a:solidFill>
            </p:grpSpPr>
            <p:sp>
              <p:nvSpPr>
                <p:cNvPr id="29" name="任意多边形 28"/>
                <p:cNvSpPr/>
                <p:nvPr/>
              </p:nvSpPr>
              <p:spPr>
                <a:xfrm rot="5400000">
                  <a:off x="10094" y="1737"/>
                  <a:ext cx="1705" cy="1485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705" h="1485">
                      <a:moveTo>
                        <a:pt x="853" y="0"/>
                      </a:moveTo>
                      <a:cubicBezTo>
                        <a:pt x="1302" y="0"/>
                        <a:pt x="1670" y="347"/>
                        <a:pt x="1704" y="787"/>
                      </a:cubicBezTo>
                      <a:lnTo>
                        <a:pt x="1705" y="806"/>
                      </a:lnTo>
                      <a:lnTo>
                        <a:pt x="1700" y="805"/>
                      </a:lnTo>
                      <a:cubicBezTo>
                        <a:pt x="1646" y="800"/>
                        <a:pt x="1591" y="797"/>
                        <a:pt x="1536" y="798"/>
                      </a:cubicBezTo>
                      <a:cubicBezTo>
                        <a:pt x="1411" y="799"/>
                        <a:pt x="1284" y="816"/>
                        <a:pt x="1157" y="850"/>
                      </a:cubicBezTo>
                      <a:cubicBezTo>
                        <a:pt x="791" y="948"/>
                        <a:pt x="492" y="1172"/>
                        <a:pt x="294" y="1464"/>
                      </a:cubicBezTo>
                      <a:lnTo>
                        <a:pt x="280" y="1485"/>
                      </a:lnTo>
                      <a:lnTo>
                        <a:pt x="279" y="1484"/>
                      </a:lnTo>
                      <a:cubicBezTo>
                        <a:pt x="108" y="1328"/>
                        <a:pt x="0" y="1103"/>
                        <a:pt x="0" y="853"/>
                      </a:cubicBezTo>
                      <a:cubicBezTo>
                        <a:pt x="0" y="382"/>
                        <a:pt x="382" y="0"/>
                        <a:pt x="853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rgbClr val="17A589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30" name="任意多边形 29"/>
                <p:cNvSpPr/>
                <p:nvPr/>
              </p:nvSpPr>
              <p:spPr>
                <a:xfrm rot="5400000">
                  <a:off x="9772" y="2213"/>
                  <a:ext cx="1426" cy="814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426" h="814">
                      <a:moveTo>
                        <a:pt x="1283" y="0"/>
                      </a:moveTo>
                      <a:cubicBezTo>
                        <a:pt x="1329" y="0"/>
                        <a:pt x="1375" y="3"/>
                        <a:pt x="1420" y="7"/>
                      </a:cubicBezTo>
                      <a:lnTo>
                        <a:pt x="1424" y="8"/>
                      </a:lnTo>
                      <a:lnTo>
                        <a:pt x="1425" y="11"/>
                      </a:lnTo>
                      <a:cubicBezTo>
                        <a:pt x="1425" y="26"/>
                        <a:pt x="1426" y="41"/>
                        <a:pt x="1426" y="55"/>
                      </a:cubicBezTo>
                      <a:cubicBezTo>
                        <a:pt x="1426" y="107"/>
                        <a:pt x="1421" y="157"/>
                        <a:pt x="1412" y="206"/>
                      </a:cubicBezTo>
                      <a:lnTo>
                        <a:pt x="1410" y="217"/>
                      </a:lnTo>
                      <a:lnTo>
                        <a:pt x="1389" y="216"/>
                      </a:lnTo>
                      <a:cubicBezTo>
                        <a:pt x="904" y="216"/>
                        <a:pt x="473" y="443"/>
                        <a:pt x="195" y="797"/>
                      </a:cubicBezTo>
                      <a:lnTo>
                        <a:pt x="182" y="814"/>
                      </a:lnTo>
                      <a:lnTo>
                        <a:pt x="166" y="805"/>
                      </a:lnTo>
                      <a:cubicBezTo>
                        <a:pt x="118" y="779"/>
                        <a:pt x="72" y="748"/>
                        <a:pt x="30" y="714"/>
                      </a:cubicBezTo>
                      <a:lnTo>
                        <a:pt x="0" y="687"/>
                      </a:lnTo>
                      <a:lnTo>
                        <a:pt x="14" y="666"/>
                      </a:lnTo>
                      <a:cubicBezTo>
                        <a:pt x="211" y="375"/>
                        <a:pt x="510" y="150"/>
                        <a:pt x="877" y="52"/>
                      </a:cubicBezTo>
                      <a:cubicBezTo>
                        <a:pt x="1004" y="18"/>
                        <a:pt x="1131" y="1"/>
                        <a:pt x="1256" y="0"/>
                      </a:cubicBezTo>
                      <a:cubicBezTo>
                        <a:pt x="1265" y="0"/>
                        <a:pt x="1274" y="0"/>
                        <a:pt x="1283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rgbClr val="17A589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31" name="任意多边形 30"/>
                <p:cNvSpPr/>
                <p:nvPr/>
              </p:nvSpPr>
              <p:spPr>
                <a:xfrm rot="5400000">
                  <a:off x="9818" y="3495"/>
                  <a:ext cx="1243" cy="888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243" h="888">
                      <a:moveTo>
                        <a:pt x="14" y="0"/>
                      </a:moveTo>
                      <a:lnTo>
                        <a:pt x="36" y="2"/>
                      </a:lnTo>
                      <a:cubicBezTo>
                        <a:pt x="549" y="63"/>
                        <a:pt x="1007" y="384"/>
                        <a:pt x="1232" y="864"/>
                      </a:cubicBezTo>
                      <a:lnTo>
                        <a:pt x="1243" y="888"/>
                      </a:lnTo>
                      <a:lnTo>
                        <a:pt x="1236" y="877"/>
                      </a:lnTo>
                      <a:cubicBezTo>
                        <a:pt x="968" y="480"/>
                        <a:pt x="516" y="217"/>
                        <a:pt x="3" y="209"/>
                      </a:cubicBezTo>
                      <a:lnTo>
                        <a:pt x="0" y="209"/>
                      </a:lnTo>
                      <a:lnTo>
                        <a:pt x="2" y="198"/>
                      </a:lnTo>
                      <a:cubicBezTo>
                        <a:pt x="11" y="149"/>
                        <a:pt x="15" y="99"/>
                        <a:pt x="15" y="47"/>
                      </a:cubicBezTo>
                      <a:cubicBezTo>
                        <a:pt x="15" y="33"/>
                        <a:pt x="15" y="18"/>
                        <a:pt x="14" y="4"/>
                      </a:cubicBez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>
                  <a:solidFill>
                    <a:srgbClr val="17A589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 rot="9900000">
                <a:off x="4773" y="3539"/>
                <a:ext cx="1693" cy="2933"/>
                <a:chOff x="9995" y="1627"/>
                <a:chExt cx="1693" cy="2933"/>
              </a:xfrm>
              <a:solidFill>
                <a:srgbClr val="E67E22"/>
              </a:solidFill>
            </p:grpSpPr>
            <p:sp>
              <p:nvSpPr>
                <p:cNvPr id="39" name="任意多边形 38"/>
                <p:cNvSpPr/>
                <p:nvPr/>
              </p:nvSpPr>
              <p:spPr>
                <a:xfrm rot="5400000">
                  <a:off x="10094" y="1737"/>
                  <a:ext cx="1705" cy="1485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705" h="1485">
                      <a:moveTo>
                        <a:pt x="853" y="0"/>
                      </a:moveTo>
                      <a:cubicBezTo>
                        <a:pt x="1302" y="0"/>
                        <a:pt x="1670" y="347"/>
                        <a:pt x="1704" y="787"/>
                      </a:cubicBezTo>
                      <a:lnTo>
                        <a:pt x="1705" y="806"/>
                      </a:lnTo>
                      <a:lnTo>
                        <a:pt x="1700" y="805"/>
                      </a:lnTo>
                      <a:cubicBezTo>
                        <a:pt x="1646" y="800"/>
                        <a:pt x="1591" y="797"/>
                        <a:pt x="1536" y="798"/>
                      </a:cubicBezTo>
                      <a:cubicBezTo>
                        <a:pt x="1411" y="799"/>
                        <a:pt x="1284" y="816"/>
                        <a:pt x="1157" y="850"/>
                      </a:cubicBezTo>
                      <a:cubicBezTo>
                        <a:pt x="791" y="948"/>
                        <a:pt x="492" y="1172"/>
                        <a:pt x="294" y="1464"/>
                      </a:cubicBezTo>
                      <a:lnTo>
                        <a:pt x="280" y="1485"/>
                      </a:lnTo>
                      <a:lnTo>
                        <a:pt x="279" y="1484"/>
                      </a:lnTo>
                      <a:cubicBezTo>
                        <a:pt x="108" y="1328"/>
                        <a:pt x="0" y="1103"/>
                        <a:pt x="0" y="853"/>
                      </a:cubicBezTo>
                      <a:cubicBezTo>
                        <a:pt x="0" y="382"/>
                        <a:pt x="382" y="0"/>
                        <a:pt x="853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rgbClr val="E67E2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40" name="任意多边形 39"/>
                <p:cNvSpPr/>
                <p:nvPr/>
              </p:nvSpPr>
              <p:spPr>
                <a:xfrm rot="5400000">
                  <a:off x="9772" y="2213"/>
                  <a:ext cx="1426" cy="814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426" h="814">
                      <a:moveTo>
                        <a:pt x="1283" y="0"/>
                      </a:moveTo>
                      <a:cubicBezTo>
                        <a:pt x="1329" y="0"/>
                        <a:pt x="1375" y="3"/>
                        <a:pt x="1420" y="7"/>
                      </a:cubicBezTo>
                      <a:lnTo>
                        <a:pt x="1424" y="8"/>
                      </a:lnTo>
                      <a:lnTo>
                        <a:pt x="1425" y="11"/>
                      </a:lnTo>
                      <a:cubicBezTo>
                        <a:pt x="1425" y="26"/>
                        <a:pt x="1426" y="41"/>
                        <a:pt x="1426" y="55"/>
                      </a:cubicBezTo>
                      <a:cubicBezTo>
                        <a:pt x="1426" y="107"/>
                        <a:pt x="1421" y="157"/>
                        <a:pt x="1412" y="206"/>
                      </a:cubicBezTo>
                      <a:lnTo>
                        <a:pt x="1410" y="217"/>
                      </a:lnTo>
                      <a:lnTo>
                        <a:pt x="1389" y="216"/>
                      </a:lnTo>
                      <a:cubicBezTo>
                        <a:pt x="904" y="216"/>
                        <a:pt x="473" y="443"/>
                        <a:pt x="195" y="797"/>
                      </a:cubicBezTo>
                      <a:lnTo>
                        <a:pt x="182" y="814"/>
                      </a:lnTo>
                      <a:lnTo>
                        <a:pt x="166" y="805"/>
                      </a:lnTo>
                      <a:cubicBezTo>
                        <a:pt x="118" y="779"/>
                        <a:pt x="72" y="748"/>
                        <a:pt x="30" y="714"/>
                      </a:cubicBezTo>
                      <a:lnTo>
                        <a:pt x="0" y="687"/>
                      </a:lnTo>
                      <a:lnTo>
                        <a:pt x="14" y="666"/>
                      </a:lnTo>
                      <a:cubicBezTo>
                        <a:pt x="211" y="375"/>
                        <a:pt x="510" y="150"/>
                        <a:pt x="877" y="52"/>
                      </a:cubicBezTo>
                      <a:cubicBezTo>
                        <a:pt x="1004" y="18"/>
                        <a:pt x="1131" y="1"/>
                        <a:pt x="1256" y="0"/>
                      </a:cubicBezTo>
                      <a:cubicBezTo>
                        <a:pt x="1265" y="0"/>
                        <a:pt x="1274" y="0"/>
                        <a:pt x="1283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rgbClr val="E67E2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41" name="任意多边形 40"/>
                <p:cNvSpPr/>
                <p:nvPr/>
              </p:nvSpPr>
              <p:spPr>
                <a:xfrm rot="5400000">
                  <a:off x="9818" y="3495"/>
                  <a:ext cx="1243" cy="888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243" h="888">
                      <a:moveTo>
                        <a:pt x="14" y="0"/>
                      </a:moveTo>
                      <a:lnTo>
                        <a:pt x="36" y="2"/>
                      </a:lnTo>
                      <a:cubicBezTo>
                        <a:pt x="549" y="63"/>
                        <a:pt x="1007" y="384"/>
                        <a:pt x="1232" y="864"/>
                      </a:cubicBezTo>
                      <a:lnTo>
                        <a:pt x="1243" y="888"/>
                      </a:lnTo>
                      <a:lnTo>
                        <a:pt x="1236" y="877"/>
                      </a:lnTo>
                      <a:cubicBezTo>
                        <a:pt x="968" y="480"/>
                        <a:pt x="516" y="217"/>
                        <a:pt x="3" y="209"/>
                      </a:cubicBezTo>
                      <a:lnTo>
                        <a:pt x="0" y="209"/>
                      </a:lnTo>
                      <a:lnTo>
                        <a:pt x="2" y="198"/>
                      </a:lnTo>
                      <a:cubicBezTo>
                        <a:pt x="11" y="149"/>
                        <a:pt x="15" y="99"/>
                        <a:pt x="15" y="47"/>
                      </a:cubicBezTo>
                      <a:cubicBezTo>
                        <a:pt x="15" y="33"/>
                        <a:pt x="15" y="18"/>
                        <a:pt x="14" y="4"/>
                      </a:cubicBez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>
                  <a:solidFill>
                    <a:srgbClr val="E67E2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43" name="Text 7"/>
            <p:cNvSpPr/>
            <p:nvPr/>
          </p:nvSpPr>
          <p:spPr>
            <a:xfrm>
              <a:off x="4617" y="2762"/>
              <a:ext cx="1008" cy="10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📂</a:t>
              </a:r>
              <a:endParaRPr lang="en-US" sz="3200" dirty="0">
                <a:solidFill>
                  <a:srgbClr val="000000"/>
                </a:solidFill>
              </a:endParaRPr>
            </a:p>
          </p:txBody>
        </p:sp>
        <p:sp>
          <p:nvSpPr>
            <p:cNvPr id="44" name="Text 12"/>
            <p:cNvSpPr/>
            <p:nvPr/>
          </p:nvSpPr>
          <p:spPr>
            <a:xfrm>
              <a:off x="7589" y="2741"/>
              <a:ext cx="1008" cy="10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🔄</a:t>
              </a:r>
              <a:endParaRPr lang="en-US" sz="3200" dirty="0">
                <a:solidFill>
                  <a:srgbClr val="000000"/>
                </a:solidFill>
              </a:endParaRPr>
            </a:p>
          </p:txBody>
        </p:sp>
        <p:sp>
          <p:nvSpPr>
            <p:cNvPr id="45" name="Text 17"/>
            <p:cNvSpPr/>
            <p:nvPr/>
          </p:nvSpPr>
          <p:spPr>
            <a:xfrm>
              <a:off x="4701" y="5658"/>
              <a:ext cx="1008" cy="10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❓</a:t>
              </a:r>
              <a:endParaRPr lang="en-US" sz="3200" dirty="0">
                <a:solidFill>
                  <a:srgbClr val="000000"/>
                </a:solidFill>
              </a:endParaRPr>
            </a:p>
          </p:txBody>
        </p:sp>
        <p:sp>
          <p:nvSpPr>
            <p:cNvPr id="46" name="Text 22"/>
            <p:cNvSpPr/>
            <p:nvPr/>
          </p:nvSpPr>
          <p:spPr>
            <a:xfrm>
              <a:off x="7664" y="5736"/>
              <a:ext cx="1008" cy="10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⏰</a:t>
              </a:r>
              <a:endParaRPr lang="en-US" sz="3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95" name="直接连接符 94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96" name="组合 95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97" name="图片 96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99" name="组合 9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100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1" name="矩形 100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第一章  背景与定位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102" name="椭圆 101"/>
          <p:cNvSpPr/>
          <p:nvPr/>
        </p:nvSpPr>
        <p:spPr>
          <a:xfrm>
            <a:off x="4049395" y="2373630"/>
            <a:ext cx="1314450" cy="1314450"/>
          </a:xfrm>
          <a:prstGeom prst="ellipse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四大</a:t>
            </a:r>
            <a:endParaRPr lang="zh-CN" alt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挑战</a:t>
            </a:r>
            <a:endParaRPr lang="zh-CN" alt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任意多边形 20"/>
          <p:cNvSpPr/>
          <p:nvPr/>
        </p:nvSpPr>
        <p:spPr>
          <a:xfrm>
            <a:off x="1008380" y="1450340"/>
            <a:ext cx="3834765" cy="3011170"/>
          </a:xfrm>
          <a:custGeom>
            <a:avLst/>
            <a:gdLst>
              <a:gd name="connsiteX0" fmla="*/ 0 w 5680"/>
              <a:gd name="connsiteY0" fmla="*/ 391 h 4083"/>
              <a:gd name="connsiteX1" fmla="*/ 276 w 5680"/>
              <a:gd name="connsiteY1" fmla="*/ 13 h 4083"/>
              <a:gd name="connsiteX2" fmla="*/ 5223 w 5680"/>
              <a:gd name="connsiteY2" fmla="*/ 0 h 4083"/>
              <a:gd name="connsiteX3" fmla="*/ 5631 w 5680"/>
              <a:gd name="connsiteY3" fmla="*/ 608 h 4083"/>
              <a:gd name="connsiteX4" fmla="*/ 4487 w 5680"/>
              <a:gd name="connsiteY4" fmla="*/ 3698 h 4083"/>
              <a:gd name="connsiteX5" fmla="*/ 4199 w 5680"/>
              <a:gd name="connsiteY5" fmla="*/ 4083 h 4083"/>
              <a:gd name="connsiteX6" fmla="*/ 276 w 5680"/>
              <a:gd name="connsiteY6" fmla="*/ 4058 h 4083"/>
              <a:gd name="connsiteX7" fmla="*/ 0 w 5680"/>
              <a:gd name="connsiteY7" fmla="*/ 3680 h 4083"/>
              <a:gd name="connsiteX8" fmla="*/ 0 w 5680"/>
              <a:gd name="connsiteY8" fmla="*/ 391 h 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80" h="4083">
                <a:moveTo>
                  <a:pt x="0" y="391"/>
                </a:moveTo>
                <a:cubicBezTo>
                  <a:pt x="0" y="182"/>
                  <a:pt x="124" y="13"/>
                  <a:pt x="276" y="13"/>
                </a:cubicBezTo>
                <a:lnTo>
                  <a:pt x="5223" y="0"/>
                </a:lnTo>
                <a:cubicBezTo>
                  <a:pt x="5567" y="16"/>
                  <a:pt x="5782" y="35"/>
                  <a:pt x="5631" y="608"/>
                </a:cubicBezTo>
                <a:lnTo>
                  <a:pt x="4487" y="3698"/>
                </a:lnTo>
                <a:cubicBezTo>
                  <a:pt x="4401" y="3915"/>
                  <a:pt x="4351" y="4083"/>
                  <a:pt x="4199" y="4083"/>
                </a:cubicBezTo>
                <a:lnTo>
                  <a:pt x="276" y="4058"/>
                </a:lnTo>
                <a:cubicBezTo>
                  <a:pt x="124" y="4058"/>
                  <a:pt x="0" y="3889"/>
                  <a:pt x="0" y="3680"/>
                </a:cubicBezTo>
                <a:lnTo>
                  <a:pt x="0" y="391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306006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系统定位与边界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425"/>
            <a:ext cx="41027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明确做什么、不做什么 — 避免答辩时被问偏</a:t>
            </a:r>
            <a:endParaRPr lang="en-US" sz="1300" dirty="0"/>
          </a:p>
        </p:txBody>
      </p:sp>
      <p:grpSp>
        <p:nvGrpSpPr>
          <p:cNvPr id="30" name="组合 29"/>
          <p:cNvGrpSpPr/>
          <p:nvPr/>
        </p:nvGrpSpPr>
        <p:grpSpPr>
          <a:xfrm>
            <a:off x="733425" y="1287145"/>
            <a:ext cx="3839210" cy="3011170"/>
            <a:chOff x="576" y="2267"/>
            <a:chExt cx="6046" cy="4742"/>
          </a:xfrm>
        </p:grpSpPr>
        <p:sp>
          <p:nvSpPr>
            <p:cNvPr id="17" name="任意多边形 16"/>
            <p:cNvSpPr/>
            <p:nvPr/>
          </p:nvSpPr>
          <p:spPr>
            <a:xfrm>
              <a:off x="576" y="2267"/>
              <a:ext cx="6046" cy="4742"/>
            </a:xfrm>
            <a:custGeom>
              <a:avLst/>
              <a:gdLst>
                <a:gd name="connsiteX0" fmla="*/ 0 w 5680"/>
                <a:gd name="connsiteY0" fmla="*/ 391 h 4083"/>
                <a:gd name="connsiteX1" fmla="*/ 276 w 5680"/>
                <a:gd name="connsiteY1" fmla="*/ 13 h 4083"/>
                <a:gd name="connsiteX2" fmla="*/ 5223 w 5680"/>
                <a:gd name="connsiteY2" fmla="*/ 0 h 4083"/>
                <a:gd name="connsiteX3" fmla="*/ 5631 w 5680"/>
                <a:gd name="connsiteY3" fmla="*/ 608 h 4083"/>
                <a:gd name="connsiteX4" fmla="*/ 4487 w 5680"/>
                <a:gd name="connsiteY4" fmla="*/ 3698 h 4083"/>
                <a:gd name="connsiteX5" fmla="*/ 4199 w 5680"/>
                <a:gd name="connsiteY5" fmla="*/ 4083 h 4083"/>
                <a:gd name="connsiteX6" fmla="*/ 276 w 5680"/>
                <a:gd name="connsiteY6" fmla="*/ 4058 h 4083"/>
                <a:gd name="connsiteX7" fmla="*/ 0 w 5680"/>
                <a:gd name="connsiteY7" fmla="*/ 3680 h 4083"/>
                <a:gd name="connsiteX8" fmla="*/ 0 w 5680"/>
                <a:gd name="connsiteY8" fmla="*/ 391 h 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80" h="4083">
                  <a:moveTo>
                    <a:pt x="0" y="391"/>
                  </a:moveTo>
                  <a:cubicBezTo>
                    <a:pt x="0" y="182"/>
                    <a:pt x="124" y="13"/>
                    <a:pt x="276" y="13"/>
                  </a:cubicBezTo>
                  <a:lnTo>
                    <a:pt x="5223" y="0"/>
                  </a:lnTo>
                  <a:cubicBezTo>
                    <a:pt x="5567" y="16"/>
                    <a:pt x="5782" y="35"/>
                    <a:pt x="5631" y="608"/>
                  </a:cubicBezTo>
                  <a:lnTo>
                    <a:pt x="4487" y="3698"/>
                  </a:lnTo>
                  <a:cubicBezTo>
                    <a:pt x="4401" y="3915"/>
                    <a:pt x="4351" y="4083"/>
                    <a:pt x="4199" y="4083"/>
                  </a:cubicBezTo>
                  <a:lnTo>
                    <a:pt x="276" y="4058"/>
                  </a:lnTo>
                  <a:cubicBezTo>
                    <a:pt x="124" y="4058"/>
                    <a:pt x="0" y="3889"/>
                    <a:pt x="0" y="3680"/>
                  </a:cubicBezTo>
                  <a:lnTo>
                    <a:pt x="0" y="391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708" y="2348"/>
              <a:ext cx="5798" cy="480"/>
              <a:chOff x="504" y="2160"/>
              <a:chExt cx="6336" cy="648"/>
            </a:xfrm>
          </p:grpSpPr>
          <p:sp>
            <p:nvSpPr>
              <p:cNvPr id="19" name="Shape 6"/>
              <p:cNvSpPr/>
              <p:nvPr/>
            </p:nvSpPr>
            <p:spPr>
              <a:xfrm>
                <a:off x="504" y="2160"/>
                <a:ext cx="6336" cy="648"/>
              </a:xfrm>
              <a:prstGeom prst="roundRect">
                <a:avLst>
                  <a:gd name="adj" fmla="val 22222"/>
                </a:avLst>
              </a:prstGeom>
              <a:solidFill>
                <a:srgbClr val="27AE60"/>
              </a:solidFill>
              <a:ln w="12700">
                <a:solidFill>
                  <a:srgbClr val="27AE60"/>
                </a:solidFill>
                <a:prstDash val="solid"/>
              </a:ln>
            </p:spPr>
          </p:sp>
          <p:sp>
            <p:nvSpPr>
              <p:cNvPr id="20" name="Text 7"/>
              <p:cNvSpPr/>
              <p:nvPr/>
            </p:nvSpPr>
            <p:spPr>
              <a:xfrm>
                <a:off x="1776" y="2160"/>
                <a:ext cx="3792" cy="64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✓  系统做什么</a:t>
                </a:r>
                <a:endParaRPr lang="en-US" sz="1400" dirty="0"/>
              </a:p>
            </p:txBody>
          </p:sp>
        </p:grpSp>
        <p:sp>
          <p:nvSpPr>
            <p:cNvPr id="22" name="Text 8"/>
            <p:cNvSpPr/>
            <p:nvPr/>
          </p:nvSpPr>
          <p:spPr>
            <a:xfrm>
              <a:off x="792" y="2995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1D6A3A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✓ 接收并管理学生提交的成果文件</a:t>
              </a:r>
              <a:endParaRPr lang="en-US" sz="1300" dirty="0"/>
            </a:p>
          </p:txBody>
        </p:sp>
        <p:sp>
          <p:nvSpPr>
            <p:cNvPr id="23" name="Text 9"/>
            <p:cNvSpPr/>
            <p:nvPr/>
          </p:nvSpPr>
          <p:spPr>
            <a:xfrm>
              <a:off x="792" y="3802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1D6A3A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✓ 静态解析文档结构与代码目录</a:t>
              </a:r>
              <a:endParaRPr lang="en-US" sz="1300" dirty="0"/>
            </a:p>
          </p:txBody>
        </p:sp>
        <p:sp>
          <p:nvSpPr>
            <p:cNvPr id="24" name="Text 10"/>
            <p:cNvSpPr/>
            <p:nvPr/>
          </p:nvSpPr>
          <p:spPr>
            <a:xfrm>
              <a:off x="792" y="4608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1D6A3A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✓ 大模型辅助生成评价建议（可复核）</a:t>
              </a:r>
              <a:endParaRPr lang="en-US" sz="1300" dirty="0"/>
            </a:p>
          </p:txBody>
        </p:sp>
        <p:sp>
          <p:nvSpPr>
            <p:cNvPr id="25" name="Text 11"/>
            <p:cNvSpPr/>
            <p:nvPr/>
          </p:nvSpPr>
          <p:spPr>
            <a:xfrm>
              <a:off x="792" y="5414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1D6A3A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✓ 支持教师配置评价规则与指标模板</a:t>
              </a:r>
              <a:endParaRPr lang="en-US" sz="1300" dirty="0"/>
            </a:p>
          </p:txBody>
        </p:sp>
        <p:sp>
          <p:nvSpPr>
            <p:cNvPr id="26" name="Text 12"/>
            <p:cNvSpPr/>
            <p:nvPr/>
          </p:nvSpPr>
          <p:spPr>
            <a:xfrm>
              <a:off x="792" y="6221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1D6A3A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✓ 生成班级报表与教学质量画像</a:t>
              </a:r>
              <a:endParaRPr lang="en-US" sz="1300" dirty="0"/>
            </a:p>
          </p:txBody>
        </p:sp>
      </p:grpSp>
      <p:sp>
        <p:nvSpPr>
          <p:cNvPr id="28" name="任意多边形 27"/>
          <p:cNvSpPr/>
          <p:nvPr/>
        </p:nvSpPr>
        <p:spPr>
          <a:xfrm rot="10800000">
            <a:off x="4242480" y="1651635"/>
            <a:ext cx="3834720" cy="2992755"/>
          </a:xfrm>
          <a:custGeom>
            <a:avLst/>
            <a:gdLst>
              <a:gd name="connsiteX0" fmla="*/ 0 w 6038"/>
              <a:gd name="connsiteY0" fmla="*/ 454 h 4713"/>
              <a:gd name="connsiteX1" fmla="*/ 293 w 6038"/>
              <a:gd name="connsiteY1" fmla="*/ 15 h 4713"/>
              <a:gd name="connsiteX2" fmla="*/ 5553 w 6038"/>
              <a:gd name="connsiteY2" fmla="*/ 0 h 4713"/>
              <a:gd name="connsiteX3" fmla="*/ 5987 w 6038"/>
              <a:gd name="connsiteY3" fmla="*/ 706 h 4713"/>
              <a:gd name="connsiteX4" fmla="*/ 4771 w 6038"/>
              <a:gd name="connsiteY4" fmla="*/ 4295 h 4713"/>
              <a:gd name="connsiteX5" fmla="*/ 4427 w 6038"/>
              <a:gd name="connsiteY5" fmla="*/ 4688 h 4713"/>
              <a:gd name="connsiteX6" fmla="*/ 293 w 6038"/>
              <a:gd name="connsiteY6" fmla="*/ 4713 h 4713"/>
              <a:gd name="connsiteX7" fmla="*/ 0 w 6038"/>
              <a:gd name="connsiteY7" fmla="*/ 4274 h 4713"/>
              <a:gd name="connsiteX8" fmla="*/ 0 w 6038"/>
              <a:gd name="connsiteY8" fmla="*/ 454 h 4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39" h="4713">
                <a:moveTo>
                  <a:pt x="0" y="454"/>
                </a:moveTo>
                <a:cubicBezTo>
                  <a:pt x="0" y="211"/>
                  <a:pt x="132" y="15"/>
                  <a:pt x="293" y="15"/>
                </a:cubicBezTo>
                <a:lnTo>
                  <a:pt x="5553" y="0"/>
                </a:lnTo>
                <a:cubicBezTo>
                  <a:pt x="5919" y="19"/>
                  <a:pt x="6147" y="41"/>
                  <a:pt x="5987" y="706"/>
                </a:cubicBezTo>
                <a:lnTo>
                  <a:pt x="4771" y="4295"/>
                </a:lnTo>
                <a:cubicBezTo>
                  <a:pt x="4679" y="4547"/>
                  <a:pt x="4589" y="4688"/>
                  <a:pt x="4427" y="4688"/>
                </a:cubicBezTo>
                <a:lnTo>
                  <a:pt x="293" y="4713"/>
                </a:lnTo>
                <a:cubicBezTo>
                  <a:pt x="132" y="4713"/>
                  <a:pt x="0" y="4517"/>
                  <a:pt x="0" y="4274"/>
                </a:cubicBezTo>
                <a:lnTo>
                  <a:pt x="0" y="45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8" name="组合 57"/>
          <p:cNvGrpSpPr/>
          <p:nvPr/>
        </p:nvGrpSpPr>
        <p:grpSpPr>
          <a:xfrm>
            <a:off x="4488180" y="1810385"/>
            <a:ext cx="4650740" cy="2983230"/>
            <a:chOff x="7112" y="2886"/>
            <a:chExt cx="7324" cy="4698"/>
          </a:xfrm>
        </p:grpSpPr>
        <p:sp>
          <p:nvSpPr>
            <p:cNvPr id="37" name="任意多边形 36"/>
            <p:cNvSpPr/>
            <p:nvPr/>
          </p:nvSpPr>
          <p:spPr>
            <a:xfrm rot="10800000">
              <a:off x="7112" y="2886"/>
              <a:ext cx="6011" cy="4698"/>
            </a:xfrm>
            <a:custGeom>
              <a:avLst/>
              <a:gdLst>
                <a:gd name="connsiteX0" fmla="*/ 0 w 6011"/>
                <a:gd name="connsiteY0" fmla="*/ 439 h 4698"/>
                <a:gd name="connsiteX1" fmla="*/ 299 w 6011"/>
                <a:gd name="connsiteY1" fmla="*/ 0 h 4698"/>
                <a:gd name="connsiteX2" fmla="*/ 5564 w 6011"/>
                <a:gd name="connsiteY2" fmla="*/ 25 h 4698"/>
                <a:gd name="connsiteX3" fmla="*/ 5950 w 6011"/>
                <a:gd name="connsiteY3" fmla="*/ 682 h 4698"/>
                <a:gd name="connsiteX4" fmla="*/ 4863 w 6011"/>
                <a:gd name="connsiteY4" fmla="*/ 4280 h 4698"/>
                <a:gd name="connsiteX5" fmla="*/ 4553 w 6011"/>
                <a:gd name="connsiteY5" fmla="*/ 4684 h 4698"/>
                <a:gd name="connsiteX6" fmla="*/ 299 w 6011"/>
                <a:gd name="connsiteY6" fmla="*/ 4698 h 4698"/>
                <a:gd name="connsiteX7" fmla="*/ 0 w 6011"/>
                <a:gd name="connsiteY7" fmla="*/ 4259 h 4698"/>
                <a:gd name="connsiteX8" fmla="*/ 0 w 6011"/>
                <a:gd name="connsiteY8" fmla="*/ 439 h 4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11" h="4698">
                  <a:moveTo>
                    <a:pt x="0" y="439"/>
                  </a:moveTo>
                  <a:cubicBezTo>
                    <a:pt x="0" y="196"/>
                    <a:pt x="134" y="0"/>
                    <a:pt x="299" y="0"/>
                  </a:cubicBezTo>
                  <a:lnTo>
                    <a:pt x="5564" y="25"/>
                  </a:lnTo>
                  <a:cubicBezTo>
                    <a:pt x="5936" y="44"/>
                    <a:pt x="6114" y="17"/>
                    <a:pt x="5950" y="682"/>
                  </a:cubicBezTo>
                  <a:lnTo>
                    <a:pt x="4863" y="4280"/>
                  </a:lnTo>
                  <a:cubicBezTo>
                    <a:pt x="4771" y="4532"/>
                    <a:pt x="4717" y="4684"/>
                    <a:pt x="4553" y="4684"/>
                  </a:cubicBezTo>
                  <a:lnTo>
                    <a:pt x="299" y="4698"/>
                  </a:lnTo>
                  <a:cubicBezTo>
                    <a:pt x="134" y="4698"/>
                    <a:pt x="0" y="4502"/>
                    <a:pt x="0" y="4259"/>
                  </a:cubicBezTo>
                  <a:lnTo>
                    <a:pt x="0" y="439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8516" y="2976"/>
              <a:ext cx="4488" cy="648"/>
              <a:chOff x="7560" y="2160"/>
              <a:chExt cx="6336" cy="648"/>
            </a:xfrm>
          </p:grpSpPr>
          <p:sp>
            <p:nvSpPr>
              <p:cNvPr id="47" name="Shape 14"/>
              <p:cNvSpPr/>
              <p:nvPr/>
            </p:nvSpPr>
            <p:spPr>
              <a:xfrm>
                <a:off x="7560" y="2160"/>
                <a:ext cx="6336" cy="648"/>
              </a:xfrm>
              <a:prstGeom prst="roundRect">
                <a:avLst>
                  <a:gd name="adj" fmla="val 22222"/>
                </a:avLst>
              </a:prstGeom>
              <a:solidFill>
                <a:srgbClr val="E74C3C"/>
              </a:solidFill>
              <a:ln w="12700">
                <a:solidFill>
                  <a:srgbClr val="E74C3C"/>
                </a:solidFill>
                <a:prstDash val="solid"/>
              </a:ln>
            </p:spPr>
          </p:sp>
          <p:sp>
            <p:nvSpPr>
              <p:cNvPr id="48" name="Text 15"/>
              <p:cNvSpPr/>
              <p:nvPr/>
            </p:nvSpPr>
            <p:spPr>
              <a:xfrm>
                <a:off x="8164" y="2160"/>
                <a:ext cx="5128" cy="64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✗  系统不做什么</a:t>
                </a:r>
                <a:endParaRPr lang="en-US" sz="1400" dirty="0"/>
              </a:p>
            </p:txBody>
          </p:sp>
        </p:grpSp>
        <p:sp>
          <p:nvSpPr>
            <p:cNvPr id="49" name="Text 16"/>
            <p:cNvSpPr/>
            <p:nvPr/>
          </p:nvSpPr>
          <p:spPr>
            <a:xfrm>
              <a:off x="8676" y="3715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922B2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✗ 在线编译或运行学生代码</a:t>
              </a:r>
              <a:endParaRPr lang="en-US" sz="1300" dirty="0"/>
            </a:p>
          </p:txBody>
        </p:sp>
        <p:sp>
          <p:nvSpPr>
            <p:cNvPr id="50" name="Text 17"/>
            <p:cNvSpPr/>
            <p:nvPr/>
          </p:nvSpPr>
          <p:spPr>
            <a:xfrm>
              <a:off x="8676" y="4522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922B2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✗ 执行代码功能测试用例</a:t>
              </a:r>
              <a:endParaRPr lang="en-US" sz="1300" dirty="0"/>
            </a:p>
          </p:txBody>
        </p:sp>
        <p:sp>
          <p:nvSpPr>
            <p:cNvPr id="51" name="Text 18"/>
            <p:cNvSpPr/>
            <p:nvPr/>
          </p:nvSpPr>
          <p:spPr>
            <a:xfrm>
              <a:off x="8676" y="5328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922B2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✗ 自动生成并发布最终成绩</a:t>
              </a:r>
              <a:endParaRPr lang="en-US" sz="1300" dirty="0"/>
            </a:p>
          </p:txBody>
        </p:sp>
        <p:sp>
          <p:nvSpPr>
            <p:cNvPr id="52" name="Text 19"/>
            <p:cNvSpPr/>
            <p:nvPr/>
          </p:nvSpPr>
          <p:spPr>
            <a:xfrm>
              <a:off x="8676" y="6134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922B2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✗ 替代教师做最终评价判断</a:t>
              </a:r>
              <a:endParaRPr lang="en-US" sz="1300" dirty="0"/>
            </a:p>
          </p:txBody>
        </p:sp>
        <p:sp>
          <p:nvSpPr>
            <p:cNvPr id="53" name="Text 20"/>
            <p:cNvSpPr/>
            <p:nvPr/>
          </p:nvSpPr>
          <p:spPr>
            <a:xfrm>
              <a:off x="8676" y="6941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922B2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✗ 与学生进行实时互动答疑</a:t>
              </a:r>
              <a:endParaRPr lang="en-US" sz="1300" dirty="0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1645920" y="4828540"/>
            <a:ext cx="5852160" cy="274320"/>
            <a:chOff x="2592" y="7344"/>
            <a:chExt cx="9216" cy="432"/>
          </a:xfrm>
        </p:grpSpPr>
        <p:sp>
          <p:nvSpPr>
            <p:cNvPr id="56" name="Shape 21"/>
            <p:cNvSpPr/>
            <p:nvPr/>
          </p:nvSpPr>
          <p:spPr>
            <a:xfrm>
              <a:off x="2592" y="7344"/>
              <a:ext cx="9216" cy="432"/>
            </a:xfrm>
            <a:prstGeom prst="roundRect">
              <a:avLst>
                <a:gd name="adj" fmla="val 26667"/>
              </a:avLst>
            </a:prstGeom>
            <a:solidFill>
              <a:srgbClr val="D6EAF8"/>
            </a:solidFill>
            <a:ln w="12700">
              <a:solidFill>
                <a:srgbClr val="D5E8F3"/>
              </a:solidFill>
              <a:prstDash val="solid"/>
            </a:ln>
          </p:spPr>
        </p:sp>
        <p:sp>
          <p:nvSpPr>
            <p:cNvPr id="57" name="Text 22"/>
            <p:cNvSpPr/>
            <p:nvPr/>
          </p:nvSpPr>
          <p:spPr>
            <a:xfrm>
              <a:off x="3661" y="7344"/>
              <a:ext cx="707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A3A5C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⚠  自动评分仅作参考依据，最终成绩由教师复核后发布</a:t>
              </a:r>
              <a:endParaRPr lang="en-US" sz="105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" name="组合 3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59" name="图片 58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60" name="组合 59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61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矩形 61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第一章  背景与定位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" name="Shape 15"/>
          <p:cNvSpPr/>
          <p:nvPr>
            <p:custDataLst>
              <p:tags r:id="rId1"/>
            </p:custDataLst>
          </p:nvPr>
        </p:nvSpPr>
        <p:spPr>
          <a:xfrm>
            <a:off x="936625" y="3797935"/>
            <a:ext cx="2454275" cy="814705"/>
          </a:xfrm>
          <a:custGeom>
            <a:avLst/>
            <a:gdLst>
              <a:gd name="connsiteX0" fmla="*/ 0 w 4209"/>
              <a:gd name="connsiteY0" fmla="*/ 119 h 1283"/>
              <a:gd name="connsiteX1" fmla="*/ 105 w 4209"/>
              <a:gd name="connsiteY1" fmla="*/ 3 h 1283"/>
              <a:gd name="connsiteX2" fmla="*/ 3958 w 4209"/>
              <a:gd name="connsiteY2" fmla="*/ 0 h 1283"/>
              <a:gd name="connsiteX3" fmla="*/ 3759 w 4209"/>
              <a:gd name="connsiteY3" fmla="*/ 513 h 1283"/>
              <a:gd name="connsiteX4" fmla="*/ 3879 w 4209"/>
              <a:gd name="connsiteY4" fmla="*/ 953 h 1283"/>
              <a:gd name="connsiteX5" fmla="*/ 4199 w 4209"/>
              <a:gd name="connsiteY5" fmla="*/ 1273 h 1283"/>
              <a:gd name="connsiteX6" fmla="*/ 105 w 4209"/>
              <a:gd name="connsiteY6" fmla="*/ 1283 h 1283"/>
              <a:gd name="connsiteX7" fmla="*/ 0 w 4209"/>
              <a:gd name="connsiteY7" fmla="*/ 1167 h 1283"/>
              <a:gd name="connsiteX8" fmla="*/ 0 w 4209"/>
              <a:gd name="connsiteY8" fmla="*/ 119 h 1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0" h="1283">
                <a:moveTo>
                  <a:pt x="0" y="119"/>
                </a:moveTo>
                <a:cubicBezTo>
                  <a:pt x="0" y="56"/>
                  <a:pt x="48" y="3"/>
                  <a:pt x="105" y="3"/>
                </a:cubicBezTo>
                <a:lnTo>
                  <a:pt x="3958" y="0"/>
                </a:lnTo>
                <a:cubicBezTo>
                  <a:pt x="4015" y="0"/>
                  <a:pt x="3887" y="211"/>
                  <a:pt x="3759" y="513"/>
                </a:cubicBezTo>
                <a:cubicBezTo>
                  <a:pt x="3806" y="721"/>
                  <a:pt x="3776" y="705"/>
                  <a:pt x="3879" y="953"/>
                </a:cubicBezTo>
                <a:cubicBezTo>
                  <a:pt x="4074" y="1121"/>
                  <a:pt x="4256" y="1273"/>
                  <a:pt x="4199" y="1273"/>
                </a:cubicBezTo>
                <a:lnTo>
                  <a:pt x="105" y="1283"/>
                </a:lnTo>
                <a:cubicBezTo>
                  <a:pt x="48" y="1283"/>
                  <a:pt x="0" y="1230"/>
                  <a:pt x="0" y="1167"/>
                </a:cubicBezTo>
                <a:lnTo>
                  <a:pt x="0" y="119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13" name="Shape 15"/>
          <p:cNvSpPr/>
          <p:nvPr>
            <p:custDataLst>
              <p:tags r:id="rId2"/>
            </p:custDataLst>
          </p:nvPr>
        </p:nvSpPr>
        <p:spPr>
          <a:xfrm>
            <a:off x="962660" y="2673985"/>
            <a:ext cx="1999615" cy="814705"/>
          </a:xfrm>
          <a:custGeom>
            <a:avLst/>
            <a:gdLst>
              <a:gd name="connsiteX0" fmla="*/ 0 w 3529"/>
              <a:gd name="connsiteY0" fmla="*/ 119 h 1283"/>
              <a:gd name="connsiteX1" fmla="*/ 90 w 3529"/>
              <a:gd name="connsiteY1" fmla="*/ 3 h 1283"/>
              <a:gd name="connsiteX2" fmla="*/ 3399 w 3529"/>
              <a:gd name="connsiteY2" fmla="*/ 0 h 1283"/>
              <a:gd name="connsiteX3" fmla="*/ 3152 w 3529"/>
              <a:gd name="connsiteY3" fmla="*/ 505 h 1283"/>
              <a:gd name="connsiteX4" fmla="*/ 3248 w 3529"/>
              <a:gd name="connsiteY4" fmla="*/ 1001 h 1283"/>
              <a:gd name="connsiteX5" fmla="*/ 3520 w 3529"/>
              <a:gd name="connsiteY5" fmla="*/ 1281 h 1283"/>
              <a:gd name="connsiteX6" fmla="*/ 90 w 3529"/>
              <a:gd name="connsiteY6" fmla="*/ 1283 h 1283"/>
              <a:gd name="connsiteX7" fmla="*/ 0 w 3529"/>
              <a:gd name="connsiteY7" fmla="*/ 1167 h 1283"/>
              <a:gd name="connsiteX8" fmla="*/ 0 w 3529"/>
              <a:gd name="connsiteY8" fmla="*/ 119 h 1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29" h="1283">
                <a:moveTo>
                  <a:pt x="0" y="119"/>
                </a:moveTo>
                <a:cubicBezTo>
                  <a:pt x="0" y="56"/>
                  <a:pt x="41" y="3"/>
                  <a:pt x="90" y="3"/>
                </a:cubicBezTo>
                <a:lnTo>
                  <a:pt x="3399" y="0"/>
                </a:lnTo>
                <a:cubicBezTo>
                  <a:pt x="3448" y="0"/>
                  <a:pt x="3262" y="203"/>
                  <a:pt x="3152" y="505"/>
                </a:cubicBezTo>
                <a:cubicBezTo>
                  <a:pt x="3192" y="713"/>
                  <a:pt x="3160" y="753"/>
                  <a:pt x="3248" y="1001"/>
                </a:cubicBezTo>
                <a:cubicBezTo>
                  <a:pt x="3416" y="1169"/>
                  <a:pt x="3569" y="1281"/>
                  <a:pt x="3520" y="1281"/>
                </a:cubicBezTo>
                <a:lnTo>
                  <a:pt x="90" y="1283"/>
                </a:lnTo>
                <a:cubicBezTo>
                  <a:pt x="41" y="1283"/>
                  <a:pt x="0" y="1230"/>
                  <a:pt x="0" y="1167"/>
                </a:cubicBezTo>
                <a:lnTo>
                  <a:pt x="0" y="119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1E4D7B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12" name="Shape 15"/>
          <p:cNvSpPr/>
          <p:nvPr>
            <p:custDataLst>
              <p:tags r:id="rId3"/>
            </p:custDataLst>
          </p:nvPr>
        </p:nvSpPr>
        <p:spPr>
          <a:xfrm>
            <a:off x="958215" y="1515110"/>
            <a:ext cx="2574290" cy="814705"/>
          </a:xfrm>
          <a:custGeom>
            <a:avLst/>
            <a:gdLst>
              <a:gd name="connsiteX0" fmla="*/ 0 w 4428"/>
              <a:gd name="connsiteY0" fmla="*/ 120 h 1294"/>
              <a:gd name="connsiteX1" fmla="*/ 117 w 4428"/>
              <a:gd name="connsiteY1" fmla="*/ 3 h 1294"/>
              <a:gd name="connsiteX2" fmla="*/ 4417 w 4428"/>
              <a:gd name="connsiteY2" fmla="*/ 0 h 1294"/>
              <a:gd name="connsiteX3" fmla="*/ 4113 w 4428"/>
              <a:gd name="connsiteY3" fmla="*/ 488 h 1294"/>
              <a:gd name="connsiteX4" fmla="*/ 4161 w 4428"/>
              <a:gd name="connsiteY4" fmla="*/ 1177 h 1294"/>
              <a:gd name="connsiteX5" fmla="*/ 4044 w 4428"/>
              <a:gd name="connsiteY5" fmla="*/ 1294 h 1294"/>
              <a:gd name="connsiteX6" fmla="*/ 117 w 4428"/>
              <a:gd name="connsiteY6" fmla="*/ 1294 h 1294"/>
              <a:gd name="connsiteX7" fmla="*/ 0 w 4428"/>
              <a:gd name="connsiteY7" fmla="*/ 1177 h 1294"/>
              <a:gd name="connsiteX8" fmla="*/ 0 w 4428"/>
              <a:gd name="connsiteY8" fmla="*/ 120 h 1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28" h="1294">
                <a:moveTo>
                  <a:pt x="0" y="120"/>
                </a:moveTo>
                <a:cubicBezTo>
                  <a:pt x="0" y="56"/>
                  <a:pt x="53" y="3"/>
                  <a:pt x="117" y="3"/>
                </a:cubicBezTo>
                <a:lnTo>
                  <a:pt x="4417" y="0"/>
                </a:lnTo>
                <a:cubicBezTo>
                  <a:pt x="4481" y="0"/>
                  <a:pt x="4257" y="184"/>
                  <a:pt x="4113" y="488"/>
                </a:cubicBezTo>
                <a:cubicBezTo>
                  <a:pt x="4089" y="704"/>
                  <a:pt x="4145" y="918"/>
                  <a:pt x="4161" y="1177"/>
                </a:cubicBezTo>
                <a:cubicBezTo>
                  <a:pt x="4161" y="1241"/>
                  <a:pt x="4108" y="1294"/>
                  <a:pt x="4044" y="1294"/>
                </a:cubicBezTo>
                <a:lnTo>
                  <a:pt x="117" y="1294"/>
                </a:lnTo>
                <a:cubicBezTo>
                  <a:pt x="53" y="1294"/>
                  <a:pt x="0" y="1241"/>
                  <a:pt x="0" y="1177"/>
                </a:cubicBezTo>
                <a:lnTo>
                  <a:pt x="0" y="12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19385A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11" name="Shape 21"/>
          <p:cNvSpPr/>
          <p:nvPr>
            <p:custDataLst>
              <p:tags r:id="rId4"/>
            </p:custDataLst>
          </p:nvPr>
        </p:nvSpPr>
        <p:spPr>
          <a:xfrm>
            <a:off x="5808345" y="3810000"/>
            <a:ext cx="2465070" cy="806450"/>
          </a:xfrm>
          <a:custGeom>
            <a:avLst/>
            <a:gdLst>
              <a:gd name="connsiteX0" fmla="*/ 355 w 3494"/>
              <a:gd name="connsiteY0" fmla="*/ 329 h 1270"/>
              <a:gd name="connsiteX1" fmla="*/ 149 w 3494"/>
              <a:gd name="connsiteY1" fmla="*/ 8 h 1270"/>
              <a:gd name="connsiteX2" fmla="*/ 3352 w 3494"/>
              <a:gd name="connsiteY2" fmla="*/ 0 h 1270"/>
              <a:gd name="connsiteX3" fmla="*/ 3495 w 3494"/>
              <a:gd name="connsiteY3" fmla="*/ 180 h 1270"/>
              <a:gd name="connsiteX4" fmla="*/ 3495 w 3494"/>
              <a:gd name="connsiteY4" fmla="*/ 1090 h 1270"/>
              <a:gd name="connsiteX5" fmla="*/ 3352 w 3494"/>
              <a:gd name="connsiteY5" fmla="*/ 1270 h 1270"/>
              <a:gd name="connsiteX6" fmla="*/ 15 w 3494"/>
              <a:gd name="connsiteY6" fmla="*/ 1252 h 1270"/>
              <a:gd name="connsiteX7" fmla="*/ 277 w 3494"/>
              <a:gd name="connsiteY7" fmla="*/ 988 h 1270"/>
              <a:gd name="connsiteX8" fmla="*/ 391 w 3494"/>
              <a:gd name="connsiteY8" fmla="*/ 683 h 1270"/>
              <a:gd name="connsiteX9" fmla="*/ 355 w 3494"/>
              <a:gd name="connsiteY9" fmla="*/ 329 h 1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5" h="1270">
                <a:moveTo>
                  <a:pt x="355" y="329"/>
                </a:moveTo>
                <a:cubicBezTo>
                  <a:pt x="355" y="230"/>
                  <a:pt x="70" y="8"/>
                  <a:pt x="149" y="8"/>
                </a:cubicBezTo>
                <a:lnTo>
                  <a:pt x="3352" y="0"/>
                </a:lnTo>
                <a:cubicBezTo>
                  <a:pt x="3431" y="0"/>
                  <a:pt x="3495" y="81"/>
                  <a:pt x="3495" y="180"/>
                </a:cubicBezTo>
                <a:lnTo>
                  <a:pt x="3495" y="1090"/>
                </a:lnTo>
                <a:cubicBezTo>
                  <a:pt x="3495" y="1189"/>
                  <a:pt x="3431" y="1270"/>
                  <a:pt x="3352" y="1270"/>
                </a:cubicBezTo>
                <a:lnTo>
                  <a:pt x="15" y="1252"/>
                </a:lnTo>
                <a:cubicBezTo>
                  <a:pt x="-64" y="1252"/>
                  <a:pt x="191" y="1042"/>
                  <a:pt x="277" y="988"/>
                </a:cubicBezTo>
                <a:cubicBezTo>
                  <a:pt x="314" y="938"/>
                  <a:pt x="408" y="808"/>
                  <a:pt x="391" y="683"/>
                </a:cubicBezTo>
                <a:cubicBezTo>
                  <a:pt x="375" y="559"/>
                  <a:pt x="421" y="458"/>
                  <a:pt x="355" y="329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09" name="Shape 21"/>
          <p:cNvSpPr/>
          <p:nvPr>
            <p:custDataLst>
              <p:tags r:id="rId5"/>
            </p:custDataLst>
          </p:nvPr>
        </p:nvSpPr>
        <p:spPr>
          <a:xfrm>
            <a:off x="6139815" y="2658110"/>
            <a:ext cx="2114550" cy="830580"/>
          </a:xfrm>
          <a:custGeom>
            <a:avLst/>
            <a:gdLst>
              <a:gd name="connsiteX0" fmla="*/ 239 w 3217"/>
              <a:gd name="connsiteY0" fmla="*/ 238 h 1308"/>
              <a:gd name="connsiteX1" fmla="*/ 19 w 3217"/>
              <a:gd name="connsiteY1" fmla="*/ 0 h 1308"/>
              <a:gd name="connsiteX2" fmla="*/ 3081 w 3217"/>
              <a:gd name="connsiteY2" fmla="*/ 38 h 1308"/>
              <a:gd name="connsiteX3" fmla="*/ 3217 w 3217"/>
              <a:gd name="connsiteY3" fmla="*/ 218 h 1308"/>
              <a:gd name="connsiteX4" fmla="*/ 3217 w 3217"/>
              <a:gd name="connsiteY4" fmla="*/ 1128 h 1308"/>
              <a:gd name="connsiteX5" fmla="*/ 3081 w 3217"/>
              <a:gd name="connsiteY5" fmla="*/ 1308 h 1308"/>
              <a:gd name="connsiteX6" fmla="*/ 13 w 3217"/>
              <a:gd name="connsiteY6" fmla="*/ 1300 h 1308"/>
              <a:gd name="connsiteX7" fmla="*/ 211 w 3217"/>
              <a:gd name="connsiteY7" fmla="*/ 1042 h 1308"/>
              <a:gd name="connsiteX8" fmla="*/ 239 w 3217"/>
              <a:gd name="connsiteY8" fmla="*/ 238 h 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17" h="1308">
                <a:moveTo>
                  <a:pt x="239" y="238"/>
                </a:moveTo>
                <a:cubicBezTo>
                  <a:pt x="239" y="139"/>
                  <a:pt x="-56" y="0"/>
                  <a:pt x="19" y="0"/>
                </a:cubicBezTo>
                <a:lnTo>
                  <a:pt x="3081" y="38"/>
                </a:lnTo>
                <a:cubicBezTo>
                  <a:pt x="3156" y="38"/>
                  <a:pt x="3217" y="119"/>
                  <a:pt x="3217" y="218"/>
                </a:cubicBezTo>
                <a:lnTo>
                  <a:pt x="3217" y="1128"/>
                </a:lnTo>
                <a:cubicBezTo>
                  <a:pt x="3217" y="1227"/>
                  <a:pt x="3156" y="1308"/>
                  <a:pt x="3081" y="1308"/>
                </a:cubicBezTo>
                <a:lnTo>
                  <a:pt x="13" y="1300"/>
                </a:lnTo>
                <a:cubicBezTo>
                  <a:pt x="-62" y="1300"/>
                  <a:pt x="211" y="1141"/>
                  <a:pt x="211" y="1042"/>
                </a:cubicBezTo>
                <a:cubicBezTo>
                  <a:pt x="390" y="798"/>
                  <a:pt x="285" y="534"/>
                  <a:pt x="239" y="23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08" name="Shape 21"/>
          <p:cNvSpPr/>
          <p:nvPr>
            <p:custDataLst>
              <p:tags r:id="rId6"/>
            </p:custDataLst>
          </p:nvPr>
        </p:nvSpPr>
        <p:spPr>
          <a:xfrm>
            <a:off x="5585460" y="1518285"/>
            <a:ext cx="2669540" cy="818515"/>
          </a:xfrm>
          <a:custGeom>
            <a:avLst/>
            <a:gdLst>
              <a:gd name="connsiteX0" fmla="*/ 281 w 4264"/>
              <a:gd name="connsiteY0" fmla="*/ 284 h 1289"/>
              <a:gd name="connsiteX1" fmla="*/ 17 w 4264"/>
              <a:gd name="connsiteY1" fmla="*/ 8 h 1289"/>
              <a:gd name="connsiteX2" fmla="*/ 4084 w 4264"/>
              <a:gd name="connsiteY2" fmla="*/ 0 h 1289"/>
              <a:gd name="connsiteX3" fmla="*/ 4264 w 4264"/>
              <a:gd name="connsiteY3" fmla="*/ 180 h 1289"/>
              <a:gd name="connsiteX4" fmla="*/ 4264 w 4264"/>
              <a:gd name="connsiteY4" fmla="*/ 1090 h 1289"/>
              <a:gd name="connsiteX5" fmla="*/ 4084 w 4264"/>
              <a:gd name="connsiteY5" fmla="*/ 1270 h 1289"/>
              <a:gd name="connsiteX6" fmla="*/ 334 w 4264"/>
              <a:gd name="connsiteY6" fmla="*/ 1289 h 1289"/>
              <a:gd name="connsiteX7" fmla="*/ 406 w 4264"/>
              <a:gd name="connsiteY7" fmla="*/ 1031 h 1289"/>
              <a:gd name="connsiteX8" fmla="*/ 281 w 4264"/>
              <a:gd name="connsiteY8" fmla="*/ 284 h 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4" h="1289">
                <a:moveTo>
                  <a:pt x="281" y="284"/>
                </a:moveTo>
                <a:cubicBezTo>
                  <a:pt x="281" y="185"/>
                  <a:pt x="-82" y="8"/>
                  <a:pt x="17" y="8"/>
                </a:cubicBezTo>
                <a:lnTo>
                  <a:pt x="4084" y="0"/>
                </a:lnTo>
                <a:cubicBezTo>
                  <a:pt x="4183" y="0"/>
                  <a:pt x="4264" y="81"/>
                  <a:pt x="4264" y="180"/>
                </a:cubicBezTo>
                <a:lnTo>
                  <a:pt x="4264" y="1090"/>
                </a:lnTo>
                <a:cubicBezTo>
                  <a:pt x="4264" y="1189"/>
                  <a:pt x="4183" y="1270"/>
                  <a:pt x="4084" y="1270"/>
                </a:cubicBezTo>
                <a:lnTo>
                  <a:pt x="334" y="1289"/>
                </a:lnTo>
                <a:cubicBezTo>
                  <a:pt x="235" y="1289"/>
                  <a:pt x="298" y="1085"/>
                  <a:pt x="406" y="1031"/>
                </a:cubicBezTo>
                <a:cubicBezTo>
                  <a:pt x="442" y="587"/>
                  <a:pt x="419" y="530"/>
                  <a:pt x="281" y="284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58" name="组合 5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59" name="图片 58" descr="黑暗中的灯光&#10;&#10;描述已自动生成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60" name="组合 59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61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矩形 61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第一章  背景与定位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5" name="Text 3"/>
          <p:cNvSpPr/>
          <p:nvPr/>
        </p:nvSpPr>
        <p:spPr>
          <a:xfrm>
            <a:off x="365760" y="502920"/>
            <a:ext cx="325247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总体业务闭环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六步全流程 — 从组织准备到报表输出，全程可追溯</a:t>
            </a:r>
            <a:endParaRPr lang="en-US" sz="1300" dirty="0"/>
          </a:p>
        </p:txBody>
      </p:sp>
      <p:sp>
        <p:nvSpPr>
          <p:cNvPr id="53" name="同心圆 52"/>
          <p:cNvSpPr/>
          <p:nvPr/>
        </p:nvSpPr>
        <p:spPr>
          <a:xfrm>
            <a:off x="2990850" y="1553210"/>
            <a:ext cx="3100070" cy="3100070"/>
          </a:xfrm>
          <a:prstGeom prst="donut">
            <a:avLst>
              <a:gd name="adj" fmla="val 12698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7" name="组合 96"/>
          <p:cNvGrpSpPr/>
          <p:nvPr/>
        </p:nvGrpSpPr>
        <p:grpSpPr>
          <a:xfrm rot="0">
            <a:off x="5121275" y="3689985"/>
            <a:ext cx="977900" cy="986790"/>
            <a:chOff x="8065" y="5787"/>
            <a:chExt cx="1540" cy="1554"/>
          </a:xfrm>
          <a:solidFill>
            <a:srgbClr val="17A589"/>
          </a:solidFill>
        </p:grpSpPr>
        <p:sp>
          <p:nvSpPr>
            <p:cNvPr id="73" name="任意多边形 72"/>
            <p:cNvSpPr/>
            <p:nvPr/>
          </p:nvSpPr>
          <p:spPr>
            <a:xfrm>
              <a:off x="8579" y="5787"/>
              <a:ext cx="765" cy="316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765" h="316">
                  <a:moveTo>
                    <a:pt x="250" y="0"/>
                  </a:moveTo>
                  <a:cubicBezTo>
                    <a:pt x="438" y="0"/>
                    <a:pt x="610" y="67"/>
                    <a:pt x="744" y="177"/>
                  </a:cubicBezTo>
                  <a:lnTo>
                    <a:pt x="765" y="196"/>
                  </a:lnTo>
                  <a:lnTo>
                    <a:pt x="759" y="208"/>
                  </a:lnTo>
                  <a:cubicBezTo>
                    <a:pt x="741" y="243"/>
                    <a:pt x="722" y="278"/>
                    <a:pt x="703" y="312"/>
                  </a:cubicBezTo>
                  <a:lnTo>
                    <a:pt x="700" y="316"/>
                  </a:lnTo>
                  <a:lnTo>
                    <a:pt x="683" y="300"/>
                  </a:lnTo>
                  <a:cubicBezTo>
                    <a:pt x="569" y="196"/>
                    <a:pt x="417" y="132"/>
                    <a:pt x="250" y="132"/>
                  </a:cubicBezTo>
                  <a:cubicBezTo>
                    <a:pt x="172" y="132"/>
                    <a:pt x="97" y="146"/>
                    <a:pt x="28" y="171"/>
                  </a:cubicBezTo>
                  <a:lnTo>
                    <a:pt x="0" y="182"/>
                  </a:lnTo>
                  <a:lnTo>
                    <a:pt x="14" y="164"/>
                  </a:lnTo>
                  <a:cubicBezTo>
                    <a:pt x="48" y="118"/>
                    <a:pt x="81" y="71"/>
                    <a:pt x="110" y="22"/>
                  </a:cubicBezTo>
                  <a:lnTo>
                    <a:pt x="116" y="11"/>
                  </a:lnTo>
                  <a:lnTo>
                    <a:pt x="132" y="9"/>
                  </a:lnTo>
                  <a:cubicBezTo>
                    <a:pt x="170" y="3"/>
                    <a:pt x="210" y="0"/>
                    <a:pt x="250" y="0"/>
                  </a:cubicBezTo>
                  <a:close/>
                </a:path>
              </a:pathLst>
            </a:custGeom>
            <a:grpFill/>
            <a:ln>
              <a:solidFill>
                <a:srgbClr val="17A58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5" name="任意多边形 74"/>
            <p:cNvSpPr/>
            <p:nvPr/>
          </p:nvSpPr>
          <p:spPr>
            <a:xfrm>
              <a:off x="8065" y="5798"/>
              <a:ext cx="630" cy="625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630" h="625">
                  <a:moveTo>
                    <a:pt x="630" y="0"/>
                  </a:moveTo>
                  <a:lnTo>
                    <a:pt x="624" y="10"/>
                  </a:lnTo>
                  <a:cubicBezTo>
                    <a:pt x="595" y="59"/>
                    <a:pt x="563" y="107"/>
                    <a:pt x="528" y="152"/>
                  </a:cubicBezTo>
                  <a:lnTo>
                    <a:pt x="514" y="171"/>
                  </a:lnTo>
                  <a:lnTo>
                    <a:pt x="513" y="171"/>
                  </a:lnTo>
                  <a:cubicBezTo>
                    <a:pt x="369" y="233"/>
                    <a:pt x="251" y="345"/>
                    <a:pt x="183" y="486"/>
                  </a:cubicBezTo>
                  <a:lnTo>
                    <a:pt x="172" y="510"/>
                  </a:lnTo>
                  <a:lnTo>
                    <a:pt x="166" y="515"/>
                  </a:lnTo>
                  <a:cubicBezTo>
                    <a:pt x="121" y="549"/>
                    <a:pt x="73" y="581"/>
                    <a:pt x="24" y="611"/>
                  </a:cubicBezTo>
                  <a:lnTo>
                    <a:pt x="0" y="625"/>
                  </a:lnTo>
                  <a:lnTo>
                    <a:pt x="3" y="609"/>
                  </a:lnTo>
                  <a:cubicBezTo>
                    <a:pt x="66" y="299"/>
                    <a:pt x="314" y="56"/>
                    <a:pt x="627" y="1"/>
                  </a:cubicBezTo>
                  <a:lnTo>
                    <a:pt x="630" y="0"/>
                  </a:lnTo>
                  <a:close/>
                </a:path>
              </a:pathLst>
            </a:custGeom>
            <a:grpFill/>
            <a:ln>
              <a:solidFill>
                <a:srgbClr val="17A58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6" name="任意多边形 75"/>
            <p:cNvSpPr/>
            <p:nvPr/>
          </p:nvSpPr>
          <p:spPr>
            <a:xfrm>
              <a:off x="8243" y="5983"/>
              <a:ext cx="1362" cy="1358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362" h="1358">
                  <a:moveTo>
                    <a:pt x="1101" y="0"/>
                  </a:moveTo>
                  <a:lnTo>
                    <a:pt x="1108" y="6"/>
                  </a:lnTo>
                  <a:cubicBezTo>
                    <a:pt x="1264" y="148"/>
                    <a:pt x="1362" y="353"/>
                    <a:pt x="1362" y="581"/>
                  </a:cubicBezTo>
                  <a:cubicBezTo>
                    <a:pt x="1362" y="1010"/>
                    <a:pt x="1014" y="1358"/>
                    <a:pt x="585" y="1358"/>
                  </a:cubicBezTo>
                  <a:cubicBezTo>
                    <a:pt x="358" y="1358"/>
                    <a:pt x="153" y="1259"/>
                    <a:pt x="10" y="1103"/>
                  </a:cubicBezTo>
                  <a:lnTo>
                    <a:pt x="0" y="1091"/>
                  </a:lnTo>
                  <a:lnTo>
                    <a:pt x="32" y="1075"/>
                  </a:lnTo>
                  <a:cubicBezTo>
                    <a:pt x="50" y="1066"/>
                    <a:pt x="67" y="1057"/>
                    <a:pt x="84" y="1048"/>
                  </a:cubicBezTo>
                  <a:lnTo>
                    <a:pt x="121" y="1027"/>
                  </a:lnTo>
                  <a:lnTo>
                    <a:pt x="130" y="1037"/>
                  </a:lnTo>
                  <a:cubicBezTo>
                    <a:pt x="246" y="1153"/>
                    <a:pt x="407" y="1225"/>
                    <a:pt x="585" y="1225"/>
                  </a:cubicBezTo>
                  <a:cubicBezTo>
                    <a:pt x="941" y="1225"/>
                    <a:pt x="1230" y="937"/>
                    <a:pt x="1230" y="581"/>
                  </a:cubicBezTo>
                  <a:cubicBezTo>
                    <a:pt x="1230" y="403"/>
                    <a:pt x="1158" y="242"/>
                    <a:pt x="1041" y="125"/>
                  </a:cubicBezTo>
                  <a:lnTo>
                    <a:pt x="1036" y="120"/>
                  </a:lnTo>
                  <a:lnTo>
                    <a:pt x="1038" y="116"/>
                  </a:lnTo>
                  <a:cubicBezTo>
                    <a:pt x="1058" y="82"/>
                    <a:pt x="1077" y="47"/>
                    <a:pt x="1095" y="12"/>
                  </a:cubicBezTo>
                  <a:lnTo>
                    <a:pt x="1101" y="0"/>
                  </a:lnTo>
                  <a:close/>
                </a:path>
              </a:pathLst>
            </a:custGeom>
            <a:grpFill/>
            <a:ln>
              <a:solidFill>
                <a:srgbClr val="17A58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 rot="0">
            <a:off x="3098800" y="3676650"/>
            <a:ext cx="986790" cy="986790"/>
            <a:chOff x="4922" y="5790"/>
            <a:chExt cx="1554" cy="1554"/>
          </a:xfrm>
          <a:solidFill>
            <a:srgbClr val="2E86C1"/>
          </a:solidFill>
        </p:grpSpPr>
        <p:sp>
          <p:nvSpPr>
            <p:cNvPr id="78" name="任意多边形 77"/>
            <p:cNvSpPr/>
            <p:nvPr/>
          </p:nvSpPr>
          <p:spPr>
            <a:xfrm>
              <a:off x="6092" y="6463"/>
              <a:ext cx="384" cy="675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384" h="675">
                  <a:moveTo>
                    <a:pt x="243" y="0"/>
                  </a:moveTo>
                  <a:lnTo>
                    <a:pt x="260" y="9"/>
                  </a:lnTo>
                  <a:cubicBezTo>
                    <a:pt x="299" y="29"/>
                    <a:pt x="338" y="47"/>
                    <a:pt x="378" y="64"/>
                  </a:cubicBezTo>
                  <a:lnTo>
                    <a:pt x="383" y="66"/>
                  </a:lnTo>
                  <a:lnTo>
                    <a:pt x="383" y="84"/>
                  </a:lnTo>
                  <a:cubicBezTo>
                    <a:pt x="384" y="90"/>
                    <a:pt x="384" y="97"/>
                    <a:pt x="384" y="104"/>
                  </a:cubicBezTo>
                  <a:cubicBezTo>
                    <a:pt x="384" y="318"/>
                    <a:pt x="297" y="512"/>
                    <a:pt x="156" y="653"/>
                  </a:cubicBezTo>
                  <a:lnTo>
                    <a:pt x="133" y="675"/>
                  </a:lnTo>
                  <a:lnTo>
                    <a:pt x="122" y="670"/>
                  </a:lnTo>
                  <a:cubicBezTo>
                    <a:pt x="86" y="655"/>
                    <a:pt x="50" y="638"/>
                    <a:pt x="14" y="621"/>
                  </a:cubicBezTo>
                  <a:lnTo>
                    <a:pt x="0" y="614"/>
                  </a:lnTo>
                  <a:lnTo>
                    <a:pt x="17" y="601"/>
                  </a:lnTo>
                  <a:cubicBezTo>
                    <a:pt x="160" y="483"/>
                    <a:pt x="251" y="304"/>
                    <a:pt x="251" y="104"/>
                  </a:cubicBezTo>
                  <a:cubicBezTo>
                    <a:pt x="251" y="70"/>
                    <a:pt x="249" y="38"/>
                    <a:pt x="244" y="6"/>
                  </a:cubicBezTo>
                  <a:lnTo>
                    <a:pt x="243" y="0"/>
                  </a:lnTo>
                  <a:close/>
                </a:path>
              </a:pathLst>
            </a:custGeom>
            <a:grpFill/>
            <a:ln>
              <a:solidFill>
                <a:srgbClr val="2E86C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任意多边形 78"/>
            <p:cNvSpPr/>
            <p:nvPr/>
          </p:nvSpPr>
          <p:spPr>
            <a:xfrm>
              <a:off x="5630" y="5790"/>
              <a:ext cx="845" cy="739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845" h="739">
                  <a:moveTo>
                    <a:pt x="69" y="0"/>
                  </a:moveTo>
                  <a:cubicBezTo>
                    <a:pt x="485" y="0"/>
                    <a:pt x="824" y="326"/>
                    <a:pt x="845" y="737"/>
                  </a:cubicBezTo>
                  <a:lnTo>
                    <a:pt x="845" y="739"/>
                  </a:lnTo>
                  <a:lnTo>
                    <a:pt x="840" y="737"/>
                  </a:lnTo>
                  <a:cubicBezTo>
                    <a:pt x="800" y="720"/>
                    <a:pt x="761" y="702"/>
                    <a:pt x="722" y="682"/>
                  </a:cubicBezTo>
                  <a:lnTo>
                    <a:pt x="705" y="673"/>
                  </a:lnTo>
                  <a:lnTo>
                    <a:pt x="703" y="663"/>
                  </a:lnTo>
                  <a:cubicBezTo>
                    <a:pt x="651" y="366"/>
                    <a:pt x="395" y="140"/>
                    <a:pt x="86" y="132"/>
                  </a:cubicBezTo>
                  <a:lnTo>
                    <a:pt x="85" y="132"/>
                  </a:lnTo>
                  <a:lnTo>
                    <a:pt x="80" y="126"/>
                  </a:lnTo>
                  <a:cubicBezTo>
                    <a:pt x="55" y="91"/>
                    <a:pt x="32" y="55"/>
                    <a:pt x="9" y="19"/>
                  </a:cubicBezTo>
                  <a:lnTo>
                    <a:pt x="0" y="3"/>
                  </a:lnTo>
                  <a:lnTo>
                    <a:pt x="9" y="2"/>
                  </a:lnTo>
                  <a:cubicBezTo>
                    <a:pt x="29" y="1"/>
                    <a:pt x="49" y="0"/>
                    <a:pt x="69" y="0"/>
                  </a:cubicBezTo>
                  <a:close/>
                </a:path>
              </a:pathLst>
            </a:custGeom>
            <a:grpFill/>
            <a:ln>
              <a:solidFill>
                <a:srgbClr val="2E86C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任意多边形 79"/>
            <p:cNvSpPr/>
            <p:nvPr/>
          </p:nvSpPr>
          <p:spPr>
            <a:xfrm>
              <a:off x="4922" y="6124"/>
              <a:ext cx="1303" cy="1220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303" h="1220">
                  <a:moveTo>
                    <a:pt x="139" y="0"/>
                  </a:moveTo>
                  <a:lnTo>
                    <a:pt x="154" y="26"/>
                  </a:lnTo>
                  <a:cubicBezTo>
                    <a:pt x="165" y="43"/>
                    <a:pt x="175" y="60"/>
                    <a:pt x="186" y="76"/>
                  </a:cubicBezTo>
                  <a:lnTo>
                    <a:pt x="217" y="124"/>
                  </a:lnTo>
                  <a:lnTo>
                    <a:pt x="210" y="136"/>
                  </a:lnTo>
                  <a:cubicBezTo>
                    <a:pt x="160" y="227"/>
                    <a:pt x="132" y="332"/>
                    <a:pt x="132" y="443"/>
                  </a:cubicBezTo>
                  <a:cubicBezTo>
                    <a:pt x="132" y="799"/>
                    <a:pt x="421" y="1088"/>
                    <a:pt x="777" y="1088"/>
                  </a:cubicBezTo>
                  <a:cubicBezTo>
                    <a:pt x="921" y="1088"/>
                    <a:pt x="1055" y="1040"/>
                    <a:pt x="1162" y="960"/>
                  </a:cubicBezTo>
                  <a:lnTo>
                    <a:pt x="1170" y="954"/>
                  </a:lnTo>
                  <a:lnTo>
                    <a:pt x="1184" y="961"/>
                  </a:lnTo>
                  <a:cubicBezTo>
                    <a:pt x="1219" y="978"/>
                    <a:pt x="1255" y="994"/>
                    <a:pt x="1292" y="1010"/>
                  </a:cubicBezTo>
                  <a:lnTo>
                    <a:pt x="1303" y="1014"/>
                  </a:lnTo>
                  <a:lnTo>
                    <a:pt x="1299" y="1018"/>
                  </a:lnTo>
                  <a:cubicBezTo>
                    <a:pt x="1161" y="1143"/>
                    <a:pt x="978" y="1220"/>
                    <a:pt x="777" y="1220"/>
                  </a:cubicBezTo>
                  <a:cubicBezTo>
                    <a:pt x="348" y="1220"/>
                    <a:pt x="0" y="872"/>
                    <a:pt x="0" y="443"/>
                  </a:cubicBezTo>
                  <a:cubicBezTo>
                    <a:pt x="0" y="282"/>
                    <a:pt x="49" y="133"/>
                    <a:pt x="133" y="9"/>
                  </a:cubicBezTo>
                  <a:lnTo>
                    <a:pt x="139" y="0"/>
                  </a:lnTo>
                  <a:close/>
                </a:path>
              </a:pathLst>
            </a:custGeom>
            <a:grpFill/>
            <a:ln>
              <a:solidFill>
                <a:srgbClr val="2E86C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 rot="0">
            <a:off x="5416550" y="2573020"/>
            <a:ext cx="986155" cy="970280"/>
            <a:chOff x="8530" y="4052"/>
            <a:chExt cx="1553" cy="1528"/>
          </a:xfrm>
          <a:solidFill>
            <a:srgbClr val="E67E22"/>
          </a:solidFill>
        </p:grpSpPr>
        <p:sp>
          <p:nvSpPr>
            <p:cNvPr id="81" name="任意多边形 80"/>
            <p:cNvSpPr/>
            <p:nvPr/>
          </p:nvSpPr>
          <p:spPr>
            <a:xfrm>
              <a:off x="8821" y="4052"/>
              <a:ext cx="692" cy="305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692" h="305">
                  <a:moveTo>
                    <a:pt x="486" y="0"/>
                  </a:moveTo>
                  <a:cubicBezTo>
                    <a:pt x="540" y="0"/>
                    <a:pt x="592" y="5"/>
                    <a:pt x="643" y="16"/>
                  </a:cubicBezTo>
                  <a:lnTo>
                    <a:pt x="644" y="16"/>
                  </a:lnTo>
                  <a:lnTo>
                    <a:pt x="656" y="49"/>
                  </a:lnTo>
                  <a:cubicBezTo>
                    <a:pt x="669" y="87"/>
                    <a:pt x="681" y="125"/>
                    <a:pt x="692" y="164"/>
                  </a:cubicBezTo>
                  <a:lnTo>
                    <a:pt x="692" y="166"/>
                  </a:lnTo>
                  <a:lnTo>
                    <a:pt x="678" y="161"/>
                  </a:lnTo>
                  <a:cubicBezTo>
                    <a:pt x="617" y="142"/>
                    <a:pt x="553" y="132"/>
                    <a:pt x="486" y="132"/>
                  </a:cubicBezTo>
                  <a:cubicBezTo>
                    <a:pt x="319" y="132"/>
                    <a:pt x="167" y="196"/>
                    <a:pt x="53" y="300"/>
                  </a:cubicBezTo>
                  <a:lnTo>
                    <a:pt x="47" y="305"/>
                  </a:lnTo>
                  <a:lnTo>
                    <a:pt x="46" y="302"/>
                  </a:lnTo>
                  <a:cubicBezTo>
                    <a:pt x="33" y="260"/>
                    <a:pt x="19" y="219"/>
                    <a:pt x="3" y="178"/>
                  </a:cubicBezTo>
                  <a:lnTo>
                    <a:pt x="0" y="171"/>
                  </a:lnTo>
                  <a:lnTo>
                    <a:pt x="21" y="154"/>
                  </a:lnTo>
                  <a:cubicBezTo>
                    <a:pt x="151" y="57"/>
                    <a:pt x="312" y="0"/>
                    <a:pt x="486" y="0"/>
                  </a:cubicBezTo>
                  <a:close/>
                </a:path>
              </a:pathLst>
            </a:custGeom>
            <a:grpFill/>
            <a:ln>
              <a:solidFill>
                <a:srgbClr val="E67E2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任意多边形 82"/>
            <p:cNvSpPr/>
            <p:nvPr/>
          </p:nvSpPr>
          <p:spPr>
            <a:xfrm>
              <a:off x="9465" y="4068"/>
              <a:ext cx="618" cy="1512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618" h="1512">
                  <a:moveTo>
                    <a:pt x="0" y="0"/>
                  </a:moveTo>
                  <a:lnTo>
                    <a:pt x="17" y="4"/>
                  </a:lnTo>
                  <a:cubicBezTo>
                    <a:pt x="361" y="83"/>
                    <a:pt x="618" y="392"/>
                    <a:pt x="618" y="760"/>
                  </a:cubicBezTo>
                  <a:cubicBezTo>
                    <a:pt x="618" y="1116"/>
                    <a:pt x="380" y="1415"/>
                    <a:pt x="54" y="1508"/>
                  </a:cubicBezTo>
                  <a:lnTo>
                    <a:pt x="39" y="1512"/>
                  </a:lnTo>
                  <a:lnTo>
                    <a:pt x="47" y="1484"/>
                  </a:lnTo>
                  <a:cubicBezTo>
                    <a:pt x="58" y="1445"/>
                    <a:pt x="68" y="1406"/>
                    <a:pt x="77" y="1367"/>
                  </a:cubicBezTo>
                  <a:lnTo>
                    <a:pt x="79" y="1360"/>
                  </a:lnTo>
                  <a:lnTo>
                    <a:pt x="92" y="1354"/>
                  </a:lnTo>
                  <a:cubicBezTo>
                    <a:pt x="324" y="1256"/>
                    <a:pt x="486" y="1027"/>
                    <a:pt x="486" y="760"/>
                  </a:cubicBezTo>
                  <a:cubicBezTo>
                    <a:pt x="486" y="482"/>
                    <a:pt x="310" y="245"/>
                    <a:pt x="63" y="155"/>
                  </a:cubicBezTo>
                  <a:lnTo>
                    <a:pt x="48" y="150"/>
                  </a:lnTo>
                  <a:lnTo>
                    <a:pt x="47" y="148"/>
                  </a:lnTo>
                  <a:cubicBezTo>
                    <a:pt x="36" y="109"/>
                    <a:pt x="24" y="71"/>
                    <a:pt x="12" y="3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rgbClr val="E67E2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任意多边形 83"/>
            <p:cNvSpPr/>
            <p:nvPr/>
          </p:nvSpPr>
          <p:spPr>
            <a:xfrm>
              <a:off x="8530" y="4223"/>
              <a:ext cx="363" cy="1236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363" h="1236">
                  <a:moveTo>
                    <a:pt x="291" y="0"/>
                  </a:moveTo>
                  <a:lnTo>
                    <a:pt x="294" y="7"/>
                  </a:lnTo>
                  <a:cubicBezTo>
                    <a:pt x="310" y="48"/>
                    <a:pt x="324" y="89"/>
                    <a:pt x="337" y="131"/>
                  </a:cubicBezTo>
                  <a:lnTo>
                    <a:pt x="338" y="134"/>
                  </a:lnTo>
                  <a:lnTo>
                    <a:pt x="321" y="150"/>
                  </a:lnTo>
                  <a:cubicBezTo>
                    <a:pt x="204" y="267"/>
                    <a:pt x="132" y="428"/>
                    <a:pt x="132" y="606"/>
                  </a:cubicBezTo>
                  <a:cubicBezTo>
                    <a:pt x="132" y="795"/>
                    <a:pt x="214" y="965"/>
                    <a:pt x="343" y="1083"/>
                  </a:cubicBezTo>
                  <a:lnTo>
                    <a:pt x="363" y="1100"/>
                  </a:lnTo>
                  <a:lnTo>
                    <a:pt x="361" y="1107"/>
                  </a:lnTo>
                  <a:cubicBezTo>
                    <a:pt x="350" y="1149"/>
                    <a:pt x="338" y="1191"/>
                    <a:pt x="324" y="1233"/>
                  </a:cubicBezTo>
                  <a:lnTo>
                    <a:pt x="323" y="1236"/>
                  </a:lnTo>
                  <a:lnTo>
                    <a:pt x="312" y="1228"/>
                  </a:lnTo>
                  <a:cubicBezTo>
                    <a:pt x="123" y="1086"/>
                    <a:pt x="0" y="860"/>
                    <a:pt x="0" y="606"/>
                  </a:cubicBezTo>
                  <a:cubicBezTo>
                    <a:pt x="0" y="364"/>
                    <a:pt x="110" y="149"/>
                    <a:pt x="283" y="6"/>
                  </a:cubicBezTo>
                  <a:lnTo>
                    <a:pt x="291" y="0"/>
                  </a:lnTo>
                  <a:close/>
                </a:path>
              </a:pathLst>
            </a:custGeom>
            <a:grpFill/>
            <a:ln>
              <a:solidFill>
                <a:srgbClr val="E67E2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 rot="0">
            <a:off x="2678430" y="2583815"/>
            <a:ext cx="986155" cy="975360"/>
            <a:chOff x="4244" y="4069"/>
            <a:chExt cx="1553" cy="1536"/>
          </a:xfrm>
          <a:solidFill>
            <a:srgbClr val="1E4D7B"/>
          </a:solidFill>
        </p:grpSpPr>
        <p:sp>
          <p:nvSpPr>
            <p:cNvPr id="86" name="任意多边形 85"/>
            <p:cNvSpPr/>
            <p:nvPr/>
          </p:nvSpPr>
          <p:spPr>
            <a:xfrm>
              <a:off x="4784" y="5323"/>
              <a:ext cx="691" cy="283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691" h="283">
                  <a:moveTo>
                    <a:pt x="651" y="0"/>
                  </a:moveTo>
                  <a:lnTo>
                    <a:pt x="653" y="7"/>
                  </a:lnTo>
                  <a:cubicBezTo>
                    <a:pt x="664" y="49"/>
                    <a:pt x="676" y="92"/>
                    <a:pt x="690" y="133"/>
                  </a:cubicBezTo>
                  <a:lnTo>
                    <a:pt x="691" y="136"/>
                  </a:lnTo>
                  <a:lnTo>
                    <a:pt x="671" y="151"/>
                  </a:lnTo>
                  <a:cubicBezTo>
                    <a:pt x="547" y="234"/>
                    <a:pt x="397" y="283"/>
                    <a:pt x="237" y="283"/>
                  </a:cubicBezTo>
                  <a:cubicBezTo>
                    <a:pt x="169" y="283"/>
                    <a:pt x="104" y="275"/>
                    <a:pt x="42" y="259"/>
                  </a:cubicBezTo>
                  <a:lnTo>
                    <a:pt x="40" y="258"/>
                  </a:lnTo>
                  <a:lnTo>
                    <a:pt x="31" y="229"/>
                  </a:lnTo>
                  <a:cubicBezTo>
                    <a:pt x="20" y="191"/>
                    <a:pt x="10" y="152"/>
                    <a:pt x="1" y="112"/>
                  </a:cubicBezTo>
                  <a:lnTo>
                    <a:pt x="0" y="106"/>
                  </a:lnTo>
                  <a:lnTo>
                    <a:pt x="15" y="112"/>
                  </a:lnTo>
                  <a:cubicBezTo>
                    <a:pt x="84" y="137"/>
                    <a:pt x="159" y="151"/>
                    <a:pt x="237" y="151"/>
                  </a:cubicBezTo>
                  <a:cubicBezTo>
                    <a:pt x="392" y="151"/>
                    <a:pt x="535" y="96"/>
                    <a:pt x="646" y="4"/>
                  </a:cubicBezTo>
                  <a:lnTo>
                    <a:pt x="651" y="0"/>
                  </a:lnTo>
                  <a:close/>
                </a:path>
              </a:pathLst>
            </a:custGeom>
            <a:grpFill/>
            <a:ln>
              <a:solidFill>
                <a:srgbClr val="1E4D7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7" name="任意多边形 86"/>
            <p:cNvSpPr/>
            <p:nvPr/>
          </p:nvSpPr>
          <p:spPr>
            <a:xfrm>
              <a:off x="4244" y="4069"/>
              <a:ext cx="619" cy="1512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619" h="1512">
                  <a:moveTo>
                    <a:pt x="619" y="0"/>
                  </a:moveTo>
                  <a:lnTo>
                    <a:pt x="607" y="32"/>
                  </a:lnTo>
                  <a:cubicBezTo>
                    <a:pt x="594" y="70"/>
                    <a:pt x="583" y="108"/>
                    <a:pt x="572" y="147"/>
                  </a:cubicBezTo>
                  <a:lnTo>
                    <a:pt x="571" y="150"/>
                  </a:lnTo>
                  <a:lnTo>
                    <a:pt x="555" y="155"/>
                  </a:lnTo>
                  <a:cubicBezTo>
                    <a:pt x="308" y="246"/>
                    <a:pt x="132" y="482"/>
                    <a:pt x="132" y="761"/>
                  </a:cubicBezTo>
                  <a:cubicBezTo>
                    <a:pt x="132" y="1028"/>
                    <a:pt x="295" y="1257"/>
                    <a:pt x="526" y="1354"/>
                  </a:cubicBezTo>
                  <a:lnTo>
                    <a:pt x="540" y="1360"/>
                  </a:lnTo>
                  <a:lnTo>
                    <a:pt x="542" y="1366"/>
                  </a:lnTo>
                  <a:cubicBezTo>
                    <a:pt x="551" y="1405"/>
                    <a:pt x="561" y="1445"/>
                    <a:pt x="572" y="1483"/>
                  </a:cubicBezTo>
                  <a:lnTo>
                    <a:pt x="580" y="1512"/>
                  </a:lnTo>
                  <a:lnTo>
                    <a:pt x="564" y="1508"/>
                  </a:lnTo>
                  <a:cubicBezTo>
                    <a:pt x="238" y="1415"/>
                    <a:pt x="0" y="1116"/>
                    <a:pt x="0" y="761"/>
                  </a:cubicBezTo>
                  <a:cubicBezTo>
                    <a:pt x="0" y="392"/>
                    <a:pt x="257" y="83"/>
                    <a:pt x="601" y="4"/>
                  </a:cubicBezTo>
                  <a:lnTo>
                    <a:pt x="619" y="0"/>
                  </a:lnTo>
                  <a:close/>
                </a:path>
              </a:pathLst>
            </a:custGeom>
            <a:grpFill/>
            <a:ln>
              <a:solidFill>
                <a:srgbClr val="1E4D7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任意多边形 87"/>
            <p:cNvSpPr/>
            <p:nvPr/>
          </p:nvSpPr>
          <p:spPr>
            <a:xfrm>
              <a:off x="5435" y="4224"/>
              <a:ext cx="362" cy="1235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362" h="1235">
                  <a:moveTo>
                    <a:pt x="72" y="0"/>
                  </a:moveTo>
                  <a:lnTo>
                    <a:pt x="80" y="6"/>
                  </a:lnTo>
                  <a:cubicBezTo>
                    <a:pt x="252" y="149"/>
                    <a:pt x="362" y="364"/>
                    <a:pt x="362" y="606"/>
                  </a:cubicBezTo>
                  <a:cubicBezTo>
                    <a:pt x="362" y="860"/>
                    <a:pt x="240" y="1086"/>
                    <a:pt x="50" y="1228"/>
                  </a:cubicBezTo>
                  <a:lnTo>
                    <a:pt x="40" y="1235"/>
                  </a:lnTo>
                  <a:lnTo>
                    <a:pt x="39" y="1232"/>
                  </a:lnTo>
                  <a:cubicBezTo>
                    <a:pt x="25" y="1190"/>
                    <a:pt x="13" y="1148"/>
                    <a:pt x="2" y="1106"/>
                  </a:cubicBezTo>
                  <a:lnTo>
                    <a:pt x="0" y="1099"/>
                  </a:lnTo>
                  <a:lnTo>
                    <a:pt x="19" y="1083"/>
                  </a:lnTo>
                  <a:cubicBezTo>
                    <a:pt x="148" y="965"/>
                    <a:pt x="230" y="795"/>
                    <a:pt x="230" y="606"/>
                  </a:cubicBezTo>
                  <a:cubicBezTo>
                    <a:pt x="230" y="428"/>
                    <a:pt x="158" y="266"/>
                    <a:pt x="41" y="150"/>
                  </a:cubicBezTo>
                  <a:lnTo>
                    <a:pt x="24" y="134"/>
                  </a:lnTo>
                  <a:lnTo>
                    <a:pt x="26" y="130"/>
                  </a:lnTo>
                  <a:cubicBezTo>
                    <a:pt x="39" y="88"/>
                    <a:pt x="53" y="46"/>
                    <a:pt x="69" y="6"/>
                  </a:cubicBezTo>
                  <a:lnTo>
                    <a:pt x="72" y="0"/>
                  </a:lnTo>
                  <a:close/>
                </a:path>
              </a:pathLst>
            </a:custGeom>
            <a:grpFill/>
            <a:ln>
              <a:solidFill>
                <a:srgbClr val="1E4D7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 rot="0">
            <a:off x="4920615" y="1471295"/>
            <a:ext cx="986155" cy="986155"/>
            <a:chOff x="7749" y="2317"/>
            <a:chExt cx="1553" cy="1553"/>
          </a:xfrm>
          <a:solidFill>
            <a:srgbClr val="27AE60"/>
          </a:solidFill>
        </p:grpSpPr>
        <p:sp>
          <p:nvSpPr>
            <p:cNvPr id="89" name="任意多边形 88"/>
            <p:cNvSpPr/>
            <p:nvPr/>
          </p:nvSpPr>
          <p:spPr>
            <a:xfrm>
              <a:off x="7749" y="2572"/>
              <a:ext cx="337" cy="688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337" h="688">
                  <a:moveTo>
                    <a:pt x="201" y="0"/>
                  </a:moveTo>
                  <a:lnTo>
                    <a:pt x="254" y="19"/>
                  </a:lnTo>
                  <a:cubicBezTo>
                    <a:pt x="273" y="26"/>
                    <a:pt x="292" y="33"/>
                    <a:pt x="310" y="40"/>
                  </a:cubicBezTo>
                  <a:lnTo>
                    <a:pt x="337" y="51"/>
                  </a:lnTo>
                  <a:lnTo>
                    <a:pt x="321" y="66"/>
                  </a:lnTo>
                  <a:cubicBezTo>
                    <a:pt x="204" y="182"/>
                    <a:pt x="132" y="343"/>
                    <a:pt x="132" y="521"/>
                  </a:cubicBezTo>
                  <a:cubicBezTo>
                    <a:pt x="132" y="577"/>
                    <a:pt x="139" y="631"/>
                    <a:pt x="153" y="682"/>
                  </a:cubicBezTo>
                  <a:lnTo>
                    <a:pt x="154" y="688"/>
                  </a:lnTo>
                  <a:lnTo>
                    <a:pt x="149" y="686"/>
                  </a:lnTo>
                  <a:cubicBezTo>
                    <a:pt x="109" y="668"/>
                    <a:pt x="69" y="652"/>
                    <a:pt x="28" y="637"/>
                  </a:cubicBezTo>
                  <a:lnTo>
                    <a:pt x="8" y="629"/>
                  </a:lnTo>
                  <a:lnTo>
                    <a:pt x="6" y="620"/>
                  </a:lnTo>
                  <a:cubicBezTo>
                    <a:pt x="2" y="588"/>
                    <a:pt x="0" y="555"/>
                    <a:pt x="0" y="521"/>
                  </a:cubicBezTo>
                  <a:cubicBezTo>
                    <a:pt x="0" y="334"/>
                    <a:pt x="67" y="162"/>
                    <a:pt x="177" y="27"/>
                  </a:cubicBezTo>
                  <a:lnTo>
                    <a:pt x="201" y="0"/>
                  </a:lnTo>
                  <a:close/>
                </a:path>
              </a:pathLst>
            </a:custGeom>
            <a:grpFill/>
            <a:ln>
              <a:solidFill>
                <a:srgbClr val="27AE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1" name="任意多边形 90"/>
            <p:cNvSpPr/>
            <p:nvPr/>
          </p:nvSpPr>
          <p:spPr>
            <a:xfrm>
              <a:off x="7950" y="2317"/>
              <a:ext cx="1352" cy="1193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352" h="1193">
                  <a:moveTo>
                    <a:pt x="576" y="0"/>
                  </a:moveTo>
                  <a:cubicBezTo>
                    <a:pt x="1005" y="0"/>
                    <a:pt x="1352" y="348"/>
                    <a:pt x="1352" y="777"/>
                  </a:cubicBezTo>
                  <a:cubicBezTo>
                    <a:pt x="1352" y="924"/>
                    <a:pt x="1311" y="1062"/>
                    <a:pt x="1240" y="1179"/>
                  </a:cubicBezTo>
                  <a:lnTo>
                    <a:pt x="1232" y="1193"/>
                  </a:lnTo>
                  <a:lnTo>
                    <a:pt x="1205" y="1154"/>
                  </a:lnTo>
                  <a:cubicBezTo>
                    <a:pt x="1193" y="1138"/>
                    <a:pt x="1182" y="1122"/>
                    <a:pt x="1170" y="1107"/>
                  </a:cubicBezTo>
                  <a:lnTo>
                    <a:pt x="1147" y="1076"/>
                  </a:lnTo>
                  <a:lnTo>
                    <a:pt x="1157" y="1056"/>
                  </a:lnTo>
                  <a:cubicBezTo>
                    <a:pt x="1197" y="972"/>
                    <a:pt x="1220" y="877"/>
                    <a:pt x="1220" y="777"/>
                  </a:cubicBezTo>
                  <a:cubicBezTo>
                    <a:pt x="1220" y="421"/>
                    <a:pt x="932" y="132"/>
                    <a:pt x="576" y="132"/>
                  </a:cubicBezTo>
                  <a:cubicBezTo>
                    <a:pt x="409" y="132"/>
                    <a:pt x="257" y="196"/>
                    <a:pt x="142" y="300"/>
                  </a:cubicBezTo>
                  <a:lnTo>
                    <a:pt x="136" y="306"/>
                  </a:lnTo>
                  <a:lnTo>
                    <a:pt x="109" y="295"/>
                  </a:lnTo>
                  <a:cubicBezTo>
                    <a:pt x="91" y="288"/>
                    <a:pt x="72" y="281"/>
                    <a:pt x="53" y="274"/>
                  </a:cubicBezTo>
                  <a:lnTo>
                    <a:pt x="0" y="255"/>
                  </a:lnTo>
                  <a:lnTo>
                    <a:pt x="1" y="254"/>
                  </a:lnTo>
                  <a:cubicBezTo>
                    <a:pt x="143" y="98"/>
                    <a:pt x="348" y="0"/>
                    <a:pt x="576" y="0"/>
                  </a:cubicBezTo>
                  <a:close/>
                </a:path>
              </a:pathLst>
            </a:custGeom>
            <a:grpFill/>
            <a:ln>
              <a:solidFill>
                <a:srgbClr val="27AE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任意多边形 91"/>
            <p:cNvSpPr/>
            <p:nvPr/>
          </p:nvSpPr>
          <p:spPr>
            <a:xfrm>
              <a:off x="7757" y="3202"/>
              <a:ext cx="870" cy="669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870" h="669">
                  <a:moveTo>
                    <a:pt x="0" y="0"/>
                  </a:moveTo>
                  <a:lnTo>
                    <a:pt x="21" y="7"/>
                  </a:lnTo>
                  <a:cubicBezTo>
                    <a:pt x="62" y="22"/>
                    <a:pt x="102" y="39"/>
                    <a:pt x="141" y="57"/>
                  </a:cubicBezTo>
                  <a:lnTo>
                    <a:pt x="147" y="59"/>
                  </a:lnTo>
                  <a:lnTo>
                    <a:pt x="154" y="84"/>
                  </a:lnTo>
                  <a:cubicBezTo>
                    <a:pt x="235" y="346"/>
                    <a:pt x="480" y="537"/>
                    <a:pt x="769" y="537"/>
                  </a:cubicBezTo>
                  <a:lnTo>
                    <a:pt x="774" y="536"/>
                  </a:lnTo>
                  <a:lnTo>
                    <a:pt x="784" y="548"/>
                  </a:lnTo>
                  <a:cubicBezTo>
                    <a:pt x="811" y="581"/>
                    <a:pt x="837" y="615"/>
                    <a:pt x="862" y="650"/>
                  </a:cubicBezTo>
                  <a:lnTo>
                    <a:pt x="870" y="662"/>
                  </a:lnTo>
                  <a:lnTo>
                    <a:pt x="868" y="662"/>
                  </a:lnTo>
                  <a:cubicBezTo>
                    <a:pt x="836" y="667"/>
                    <a:pt x="803" y="669"/>
                    <a:pt x="769" y="669"/>
                  </a:cubicBezTo>
                  <a:cubicBezTo>
                    <a:pt x="380" y="669"/>
                    <a:pt x="58" y="383"/>
                    <a:pt x="1" y="1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rgbClr val="27AE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 rot="0">
            <a:off x="3269615" y="1455420"/>
            <a:ext cx="984250" cy="985520"/>
            <a:chOff x="5149" y="2316"/>
            <a:chExt cx="1550" cy="1552"/>
          </a:xfrm>
          <a:solidFill>
            <a:srgbClr val="19385A"/>
          </a:solidFill>
        </p:grpSpPr>
        <p:sp>
          <p:nvSpPr>
            <p:cNvPr id="12" name="任意多边形 11"/>
            <p:cNvSpPr/>
            <p:nvPr/>
          </p:nvSpPr>
          <p:spPr>
            <a:xfrm>
              <a:off x="5717" y="3162"/>
              <a:ext cx="982" cy="707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982" h="707">
                  <a:moveTo>
                    <a:pt x="982" y="0"/>
                  </a:moveTo>
                  <a:lnTo>
                    <a:pt x="981" y="10"/>
                  </a:lnTo>
                  <a:cubicBezTo>
                    <a:pt x="941" y="402"/>
                    <a:pt x="610" y="707"/>
                    <a:pt x="208" y="707"/>
                  </a:cubicBezTo>
                  <a:cubicBezTo>
                    <a:pt x="141" y="707"/>
                    <a:pt x="76" y="699"/>
                    <a:pt x="14" y="683"/>
                  </a:cubicBezTo>
                  <a:lnTo>
                    <a:pt x="0" y="679"/>
                  </a:lnTo>
                  <a:lnTo>
                    <a:pt x="18" y="655"/>
                  </a:lnTo>
                  <a:cubicBezTo>
                    <a:pt x="35" y="632"/>
                    <a:pt x="52" y="610"/>
                    <a:pt x="70" y="588"/>
                  </a:cubicBezTo>
                  <a:lnTo>
                    <a:pt x="90" y="564"/>
                  </a:lnTo>
                  <a:lnTo>
                    <a:pt x="94" y="565"/>
                  </a:lnTo>
                  <a:cubicBezTo>
                    <a:pt x="131" y="572"/>
                    <a:pt x="169" y="575"/>
                    <a:pt x="208" y="575"/>
                  </a:cubicBezTo>
                  <a:cubicBezTo>
                    <a:pt x="525" y="575"/>
                    <a:pt x="789" y="346"/>
                    <a:pt x="843" y="45"/>
                  </a:cubicBezTo>
                  <a:lnTo>
                    <a:pt x="843" y="44"/>
                  </a:lnTo>
                  <a:lnTo>
                    <a:pt x="875" y="32"/>
                  </a:lnTo>
                  <a:cubicBezTo>
                    <a:pt x="902" y="23"/>
                    <a:pt x="930" y="14"/>
                    <a:pt x="958" y="6"/>
                  </a:cubicBezTo>
                  <a:lnTo>
                    <a:pt x="982" y="0"/>
                  </a:lnTo>
                  <a:close/>
                </a:path>
              </a:pathLst>
            </a:custGeom>
            <a:grpFill/>
            <a:ln>
              <a:solidFill>
                <a:srgbClr val="19385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任意多边形 94"/>
            <p:cNvSpPr/>
            <p:nvPr/>
          </p:nvSpPr>
          <p:spPr>
            <a:xfrm>
              <a:off x="5217" y="3293"/>
              <a:ext cx="590" cy="548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590" h="548">
                  <a:moveTo>
                    <a:pt x="96" y="0"/>
                  </a:moveTo>
                  <a:lnTo>
                    <a:pt x="103" y="22"/>
                  </a:lnTo>
                  <a:cubicBezTo>
                    <a:pt x="179" y="229"/>
                    <a:pt x="358" y="386"/>
                    <a:pt x="579" y="431"/>
                  </a:cubicBezTo>
                  <a:lnTo>
                    <a:pt x="590" y="434"/>
                  </a:lnTo>
                  <a:lnTo>
                    <a:pt x="571" y="457"/>
                  </a:lnTo>
                  <a:cubicBezTo>
                    <a:pt x="553" y="479"/>
                    <a:pt x="535" y="501"/>
                    <a:pt x="518" y="524"/>
                  </a:cubicBezTo>
                  <a:lnTo>
                    <a:pt x="500" y="548"/>
                  </a:lnTo>
                  <a:lnTo>
                    <a:pt x="496" y="547"/>
                  </a:lnTo>
                  <a:cubicBezTo>
                    <a:pt x="275" y="484"/>
                    <a:pt x="94" y="326"/>
                    <a:pt x="0" y="120"/>
                  </a:cubicBezTo>
                  <a:lnTo>
                    <a:pt x="0" y="119"/>
                  </a:lnTo>
                  <a:lnTo>
                    <a:pt x="26" y="84"/>
                  </a:lnTo>
                  <a:cubicBezTo>
                    <a:pt x="38" y="69"/>
                    <a:pt x="51" y="54"/>
                    <a:pt x="63" y="39"/>
                  </a:cubicBezTo>
                  <a:lnTo>
                    <a:pt x="96" y="0"/>
                  </a:lnTo>
                  <a:close/>
                </a:path>
              </a:pathLst>
            </a:custGeom>
            <a:grpFill/>
            <a:ln>
              <a:solidFill>
                <a:srgbClr val="19385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6" name="任意多边形 95"/>
            <p:cNvSpPr/>
            <p:nvPr/>
          </p:nvSpPr>
          <p:spPr>
            <a:xfrm>
              <a:off x="5149" y="2316"/>
              <a:ext cx="1325" cy="1095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325" h="1095">
                  <a:moveTo>
                    <a:pt x="777" y="0"/>
                  </a:moveTo>
                  <a:cubicBezTo>
                    <a:pt x="978" y="0"/>
                    <a:pt x="1161" y="76"/>
                    <a:pt x="1299" y="202"/>
                  </a:cubicBezTo>
                  <a:lnTo>
                    <a:pt x="1325" y="226"/>
                  </a:lnTo>
                  <a:lnTo>
                    <a:pt x="1289" y="237"/>
                  </a:lnTo>
                  <a:cubicBezTo>
                    <a:pt x="1270" y="243"/>
                    <a:pt x="1251" y="249"/>
                    <a:pt x="1232" y="255"/>
                  </a:cubicBezTo>
                  <a:lnTo>
                    <a:pt x="1179" y="274"/>
                  </a:lnTo>
                  <a:lnTo>
                    <a:pt x="1162" y="260"/>
                  </a:lnTo>
                  <a:cubicBezTo>
                    <a:pt x="1055" y="180"/>
                    <a:pt x="921" y="132"/>
                    <a:pt x="777" y="132"/>
                  </a:cubicBezTo>
                  <a:cubicBezTo>
                    <a:pt x="421" y="132"/>
                    <a:pt x="132" y="421"/>
                    <a:pt x="132" y="777"/>
                  </a:cubicBezTo>
                  <a:cubicBezTo>
                    <a:pt x="132" y="843"/>
                    <a:pt x="142" y="908"/>
                    <a:pt x="161" y="968"/>
                  </a:cubicBezTo>
                  <a:lnTo>
                    <a:pt x="164" y="977"/>
                  </a:lnTo>
                  <a:lnTo>
                    <a:pt x="131" y="1015"/>
                  </a:lnTo>
                  <a:cubicBezTo>
                    <a:pt x="119" y="1030"/>
                    <a:pt x="107" y="1046"/>
                    <a:pt x="95" y="1061"/>
                  </a:cubicBezTo>
                  <a:lnTo>
                    <a:pt x="68" y="1095"/>
                  </a:lnTo>
                  <a:lnTo>
                    <a:pt x="61" y="1079"/>
                  </a:lnTo>
                  <a:cubicBezTo>
                    <a:pt x="22" y="986"/>
                    <a:pt x="0" y="884"/>
                    <a:pt x="0" y="777"/>
                  </a:cubicBezTo>
                  <a:cubicBezTo>
                    <a:pt x="0" y="348"/>
                    <a:pt x="348" y="0"/>
                    <a:pt x="777" y="0"/>
                  </a:cubicBezTo>
                  <a:close/>
                </a:path>
              </a:pathLst>
            </a:custGeom>
            <a:grpFill/>
            <a:ln>
              <a:solidFill>
                <a:srgbClr val="19385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3738880" y="2316480"/>
            <a:ext cx="1600200" cy="1541780"/>
            <a:chOff x="5888" y="3648"/>
            <a:chExt cx="2520" cy="2428"/>
          </a:xfrm>
        </p:grpSpPr>
        <p:sp>
          <p:nvSpPr>
            <p:cNvPr id="3" name="椭圆 2"/>
            <p:cNvSpPr/>
            <p:nvPr/>
          </p:nvSpPr>
          <p:spPr>
            <a:xfrm>
              <a:off x="5980" y="3648"/>
              <a:ext cx="2428" cy="24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Text 12"/>
            <p:cNvSpPr/>
            <p:nvPr/>
          </p:nvSpPr>
          <p:spPr>
            <a:xfrm>
              <a:off x="5888" y="3800"/>
              <a:ext cx="2038" cy="203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600" dirty="0">
                  <a:solidFill>
                    <a:srgbClr val="000000"/>
                  </a:solidFill>
                </a:rPr>
                <a:t>📚</a:t>
              </a:r>
              <a:endParaRPr lang="en-US" sz="66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1454150" y="1405255"/>
            <a:ext cx="1209040" cy="563105"/>
            <a:chOff x="2018898" y="1311306"/>
            <a:chExt cx="8154203" cy="1217943"/>
          </a:xfrm>
        </p:grpSpPr>
        <p:grpSp>
          <p:nvGrpSpPr>
            <p:cNvPr id="116" name="组合 115"/>
            <p:cNvGrpSpPr/>
            <p:nvPr/>
          </p:nvGrpSpPr>
          <p:grpSpPr>
            <a:xfrm>
              <a:off x="2018898" y="1311306"/>
              <a:ext cx="8154203" cy="672640"/>
              <a:chOff x="2397816" y="2584278"/>
              <a:chExt cx="17589856" cy="1300923"/>
            </a:xfrm>
          </p:grpSpPr>
          <p:grpSp>
            <p:nvGrpSpPr>
              <p:cNvPr id="117" name="组合 116"/>
              <p:cNvGrpSpPr>
                <a:grpSpLocks noChangeAspect="1"/>
              </p:cNvGrpSpPr>
              <p:nvPr/>
            </p:nvGrpSpPr>
            <p:grpSpPr>
              <a:xfrm>
                <a:off x="2397816" y="2584278"/>
                <a:ext cx="17589856" cy="1197898"/>
                <a:chOff x="5330064" y="3672858"/>
                <a:chExt cx="7380110" cy="502597"/>
              </a:xfrm>
            </p:grpSpPr>
            <p:sp>
              <p:nvSpPr>
                <p:cNvPr id="118" name="缺角矩形 117"/>
                <p:cNvSpPr/>
                <p:nvPr/>
              </p:nvSpPr>
              <p:spPr>
                <a:xfrm rot="16200000">
                  <a:off x="8768820" y="234102"/>
                  <a:ext cx="502597" cy="7380110"/>
                </a:xfrm>
                <a:prstGeom prst="plaque">
                  <a:avLst>
                    <a:gd name="adj" fmla="val 8303"/>
                  </a:avLst>
                </a:prstGeom>
                <a:noFill/>
                <a:ln w="3175" cap="flat" cmpd="sng" algn="ctr">
                  <a:solidFill>
                    <a:srgbClr val="00B2C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  <p:sp>
              <p:nvSpPr>
                <p:cNvPr id="119" name="缺角矩形 118"/>
                <p:cNvSpPr>
                  <a:spLocks noChangeAspect="1"/>
                </p:cNvSpPr>
                <p:nvPr/>
              </p:nvSpPr>
              <p:spPr>
                <a:xfrm rot="16200000">
                  <a:off x="8803736" y="296321"/>
                  <a:ext cx="417804" cy="7255671"/>
                </a:xfrm>
                <a:prstGeom prst="plaque">
                  <a:avLst>
                    <a:gd name="adj" fmla="val 8303"/>
                  </a:avLst>
                </a:prstGeom>
                <a:gradFill flip="none" rotWithShape="1">
                  <a:gsLst>
                    <a:gs pos="56000">
                      <a:schemeClr val="accent3"/>
                    </a:gs>
                    <a:gs pos="0">
                      <a:srgbClr val="05B17E"/>
                    </a:gs>
                  </a:gsLst>
                  <a:lin ang="18900000" scaled="1"/>
                  <a:tileRect/>
                </a:gradFill>
                <a:ln w="3175" cap="flat" cmpd="sng" algn="ctr">
                  <a:solidFill>
                    <a:srgbClr val="05B17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</p:grpSp>
          <p:pic>
            <p:nvPicPr>
              <p:cNvPr id="120" name="康帅原创PPT设计-倒卖必究18-23" descr="黑暗中的灯光&#10;&#10;描述已自动生成"/>
              <p:cNvPicPr>
                <a:picLocks noChangeAspect="1"/>
              </p:cNvPicPr>
              <p:nvPr/>
            </p:nvPicPr>
            <p:blipFill>
              <a:blip r:embed="rId8" cstate="print">
                <a:duotone>
                  <a:srgbClr val="F4E0A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3212" y="3513381"/>
                <a:ext cx="12134621" cy="371820"/>
              </a:xfrm>
              <a:prstGeom prst="rect">
                <a:avLst/>
              </a:prstGeom>
              <a:scene3d>
                <a:camera prst="orthographicFront"/>
                <a:lightRig rig="contrasting" dir="t"/>
              </a:scene3d>
            </p:spPr>
          </p:pic>
        </p:grpSp>
        <p:sp>
          <p:nvSpPr>
            <p:cNvPr id="121" name="文本框 120"/>
            <p:cNvSpPr txBox="1"/>
            <p:nvPr/>
          </p:nvSpPr>
          <p:spPr>
            <a:xfrm>
              <a:off x="2214957" y="1354953"/>
              <a:ext cx="7620955" cy="1174296"/>
            </a:xfrm>
            <a:prstGeom prst="rect">
              <a:avLst/>
            </a:prstGeom>
            <a:noFill/>
            <a:effectLst/>
          </p:spPr>
          <p:txBody>
            <a:bodyPr wrap="square" lIns="51206" tIns="25603" rIns="51206" bIns="25603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组织准备</a:t>
              </a:r>
              <a:endParaRPr lang="en-US" sz="1600" dirty="0"/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微软雅黑" panose="020B0503020204020204" charset="-122"/>
              </a:endParaRPr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1454150" y="2543810"/>
            <a:ext cx="1209040" cy="563105"/>
            <a:chOff x="2018898" y="1311306"/>
            <a:chExt cx="8154203" cy="1217942"/>
          </a:xfrm>
        </p:grpSpPr>
        <p:grpSp>
          <p:nvGrpSpPr>
            <p:cNvPr id="123" name="组合 122"/>
            <p:cNvGrpSpPr/>
            <p:nvPr/>
          </p:nvGrpSpPr>
          <p:grpSpPr>
            <a:xfrm>
              <a:off x="2018898" y="1311306"/>
              <a:ext cx="8154203" cy="672640"/>
              <a:chOff x="2397816" y="2584278"/>
              <a:chExt cx="17589856" cy="1300923"/>
            </a:xfrm>
          </p:grpSpPr>
          <p:grpSp>
            <p:nvGrpSpPr>
              <p:cNvPr id="124" name="组合 123"/>
              <p:cNvGrpSpPr>
                <a:grpSpLocks noChangeAspect="1"/>
              </p:cNvGrpSpPr>
              <p:nvPr/>
            </p:nvGrpSpPr>
            <p:grpSpPr>
              <a:xfrm>
                <a:off x="2397816" y="2584278"/>
                <a:ext cx="17589856" cy="1197898"/>
                <a:chOff x="5330064" y="3672858"/>
                <a:chExt cx="7380110" cy="502597"/>
              </a:xfrm>
            </p:grpSpPr>
            <p:sp>
              <p:nvSpPr>
                <p:cNvPr id="125" name="缺角矩形 124"/>
                <p:cNvSpPr/>
                <p:nvPr/>
              </p:nvSpPr>
              <p:spPr>
                <a:xfrm rot="16200000">
                  <a:off x="8768820" y="234102"/>
                  <a:ext cx="502597" cy="7380110"/>
                </a:xfrm>
                <a:prstGeom prst="plaque">
                  <a:avLst>
                    <a:gd name="adj" fmla="val 8303"/>
                  </a:avLst>
                </a:prstGeom>
                <a:noFill/>
                <a:ln w="3175" cap="flat" cmpd="sng" algn="ctr">
                  <a:solidFill>
                    <a:srgbClr val="00B2C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  <p:sp>
              <p:nvSpPr>
                <p:cNvPr id="126" name="缺角矩形 125"/>
                <p:cNvSpPr>
                  <a:spLocks noChangeAspect="1"/>
                </p:cNvSpPr>
                <p:nvPr/>
              </p:nvSpPr>
              <p:spPr>
                <a:xfrm rot="16200000">
                  <a:off x="8803736" y="296321"/>
                  <a:ext cx="417804" cy="7255671"/>
                </a:xfrm>
                <a:prstGeom prst="plaque">
                  <a:avLst>
                    <a:gd name="adj" fmla="val 8303"/>
                  </a:avLst>
                </a:prstGeom>
                <a:gradFill flip="none" rotWithShape="1">
                  <a:gsLst>
                    <a:gs pos="56000">
                      <a:schemeClr val="accent3"/>
                    </a:gs>
                    <a:gs pos="0">
                      <a:srgbClr val="05B17E"/>
                    </a:gs>
                  </a:gsLst>
                  <a:lin ang="18900000" scaled="1"/>
                  <a:tileRect/>
                </a:gradFill>
                <a:ln w="3175" cap="flat" cmpd="sng" algn="ctr">
                  <a:solidFill>
                    <a:srgbClr val="05B17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</p:grpSp>
          <p:pic>
            <p:nvPicPr>
              <p:cNvPr id="127" name="康帅原创PPT设计-倒卖必究18-23" descr="黑暗中的灯光&#10;&#10;描述已自动生成"/>
              <p:cNvPicPr>
                <a:picLocks noChangeAspect="1"/>
              </p:cNvPicPr>
              <p:nvPr/>
            </p:nvPicPr>
            <p:blipFill>
              <a:blip r:embed="rId8" cstate="print">
                <a:duotone>
                  <a:srgbClr val="F4E0A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3212" y="3513381"/>
                <a:ext cx="12134621" cy="371820"/>
              </a:xfrm>
              <a:prstGeom prst="rect">
                <a:avLst/>
              </a:prstGeom>
              <a:scene3d>
                <a:camera prst="orthographicFront"/>
                <a:lightRig rig="contrasting" dir="t"/>
              </a:scene3d>
            </p:spPr>
          </p:pic>
        </p:grpSp>
        <p:sp>
          <p:nvSpPr>
            <p:cNvPr id="128" name="文本框 127"/>
            <p:cNvSpPr txBox="1"/>
            <p:nvPr/>
          </p:nvSpPr>
          <p:spPr>
            <a:xfrm>
              <a:off x="2214957" y="1354953"/>
              <a:ext cx="7620955" cy="1174295"/>
            </a:xfrm>
            <a:prstGeom prst="rect">
              <a:avLst/>
            </a:prstGeom>
            <a:noFill/>
            <a:effectLst/>
          </p:spPr>
          <p:txBody>
            <a:bodyPr wrap="square" lIns="51206" tIns="25603" rIns="51206" bIns="25603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发布项目</a:t>
              </a:r>
              <a:endParaRPr lang="en-US" sz="1600" dirty="0"/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微软雅黑" panose="020B0503020204020204" charset="-122"/>
              </a:endParaRPr>
            </a:p>
          </p:txBody>
        </p:sp>
      </p:grpSp>
      <p:grpSp>
        <p:nvGrpSpPr>
          <p:cNvPr id="131" name="组合 130"/>
          <p:cNvGrpSpPr/>
          <p:nvPr/>
        </p:nvGrpSpPr>
        <p:grpSpPr>
          <a:xfrm>
            <a:off x="1454150" y="3686810"/>
            <a:ext cx="1209040" cy="563105"/>
            <a:chOff x="2018898" y="1311306"/>
            <a:chExt cx="8154203" cy="1217942"/>
          </a:xfrm>
        </p:grpSpPr>
        <p:grpSp>
          <p:nvGrpSpPr>
            <p:cNvPr id="132" name="组合 131"/>
            <p:cNvGrpSpPr/>
            <p:nvPr/>
          </p:nvGrpSpPr>
          <p:grpSpPr>
            <a:xfrm>
              <a:off x="2018898" y="1311306"/>
              <a:ext cx="8154203" cy="672640"/>
              <a:chOff x="2397816" y="2584278"/>
              <a:chExt cx="17589856" cy="1300923"/>
            </a:xfrm>
          </p:grpSpPr>
          <p:grpSp>
            <p:nvGrpSpPr>
              <p:cNvPr id="133" name="组合 132"/>
              <p:cNvGrpSpPr>
                <a:grpSpLocks noChangeAspect="1"/>
              </p:cNvGrpSpPr>
              <p:nvPr/>
            </p:nvGrpSpPr>
            <p:grpSpPr>
              <a:xfrm>
                <a:off x="2397816" y="2584278"/>
                <a:ext cx="17589856" cy="1197898"/>
                <a:chOff x="5330064" y="3672858"/>
                <a:chExt cx="7380110" cy="502597"/>
              </a:xfrm>
            </p:grpSpPr>
            <p:sp>
              <p:nvSpPr>
                <p:cNvPr id="134" name="缺角矩形 133"/>
                <p:cNvSpPr/>
                <p:nvPr/>
              </p:nvSpPr>
              <p:spPr>
                <a:xfrm rot="16200000">
                  <a:off x="8768820" y="234102"/>
                  <a:ext cx="502597" cy="7380110"/>
                </a:xfrm>
                <a:prstGeom prst="plaque">
                  <a:avLst>
                    <a:gd name="adj" fmla="val 8303"/>
                  </a:avLst>
                </a:prstGeom>
                <a:noFill/>
                <a:ln w="3175" cap="flat" cmpd="sng" algn="ctr">
                  <a:solidFill>
                    <a:srgbClr val="00B2C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  <p:sp>
              <p:nvSpPr>
                <p:cNvPr id="135" name="缺角矩形 134"/>
                <p:cNvSpPr>
                  <a:spLocks noChangeAspect="1"/>
                </p:cNvSpPr>
                <p:nvPr/>
              </p:nvSpPr>
              <p:spPr>
                <a:xfrm rot="16200000">
                  <a:off x="8803736" y="296321"/>
                  <a:ext cx="417804" cy="7255671"/>
                </a:xfrm>
                <a:prstGeom prst="plaque">
                  <a:avLst>
                    <a:gd name="adj" fmla="val 8303"/>
                  </a:avLst>
                </a:prstGeom>
                <a:gradFill flip="none" rotWithShape="1">
                  <a:gsLst>
                    <a:gs pos="56000">
                      <a:schemeClr val="accent3"/>
                    </a:gs>
                    <a:gs pos="0">
                      <a:srgbClr val="05B17E"/>
                    </a:gs>
                  </a:gsLst>
                  <a:lin ang="18900000" scaled="1"/>
                  <a:tileRect/>
                </a:gradFill>
                <a:ln w="3175" cap="flat" cmpd="sng" algn="ctr">
                  <a:solidFill>
                    <a:srgbClr val="05B17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</p:grpSp>
          <p:pic>
            <p:nvPicPr>
              <p:cNvPr id="136" name="康帅原创PPT设计-倒卖必究18-23" descr="黑暗中的灯光&#10;&#10;描述已自动生成"/>
              <p:cNvPicPr>
                <a:picLocks noChangeAspect="1"/>
              </p:cNvPicPr>
              <p:nvPr/>
            </p:nvPicPr>
            <p:blipFill>
              <a:blip r:embed="rId8" cstate="print">
                <a:duotone>
                  <a:srgbClr val="F4E0A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3212" y="3513381"/>
                <a:ext cx="12134621" cy="371820"/>
              </a:xfrm>
              <a:prstGeom prst="rect">
                <a:avLst/>
              </a:prstGeom>
              <a:scene3d>
                <a:camera prst="orthographicFront"/>
                <a:lightRig rig="contrasting" dir="t"/>
              </a:scene3d>
            </p:spPr>
          </p:pic>
        </p:grpSp>
        <p:sp>
          <p:nvSpPr>
            <p:cNvPr id="137" name="文本框 136"/>
            <p:cNvSpPr txBox="1"/>
            <p:nvPr/>
          </p:nvSpPr>
          <p:spPr>
            <a:xfrm>
              <a:off x="2214957" y="1354953"/>
              <a:ext cx="7620955" cy="1174295"/>
            </a:xfrm>
            <a:prstGeom prst="rect">
              <a:avLst/>
            </a:prstGeom>
            <a:noFill/>
            <a:effectLst/>
          </p:spPr>
          <p:txBody>
            <a:bodyPr wrap="square" lIns="51206" tIns="25603" rIns="51206" bIns="25603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提交成果</a:t>
              </a:r>
              <a:endParaRPr lang="en-US" sz="1600" dirty="0"/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微软雅黑" panose="020B0503020204020204" charset="-122"/>
              </a:endParaRPr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6493510" y="1405255"/>
            <a:ext cx="1209040" cy="563105"/>
            <a:chOff x="2018898" y="1311306"/>
            <a:chExt cx="8154203" cy="1217942"/>
          </a:xfrm>
        </p:grpSpPr>
        <p:grpSp>
          <p:nvGrpSpPr>
            <p:cNvPr id="160" name="组合 159"/>
            <p:cNvGrpSpPr/>
            <p:nvPr/>
          </p:nvGrpSpPr>
          <p:grpSpPr>
            <a:xfrm>
              <a:off x="2018898" y="1311306"/>
              <a:ext cx="8154203" cy="672640"/>
              <a:chOff x="2397816" y="2584278"/>
              <a:chExt cx="17589856" cy="1300923"/>
            </a:xfrm>
          </p:grpSpPr>
          <p:grpSp>
            <p:nvGrpSpPr>
              <p:cNvPr id="161" name="组合 160"/>
              <p:cNvGrpSpPr>
                <a:grpSpLocks noChangeAspect="1"/>
              </p:cNvGrpSpPr>
              <p:nvPr/>
            </p:nvGrpSpPr>
            <p:grpSpPr>
              <a:xfrm>
                <a:off x="2397816" y="2584278"/>
                <a:ext cx="17589856" cy="1197898"/>
                <a:chOff x="5330064" y="3672858"/>
                <a:chExt cx="7380110" cy="502597"/>
              </a:xfrm>
            </p:grpSpPr>
            <p:sp>
              <p:nvSpPr>
                <p:cNvPr id="162" name="缺角矩形 161"/>
                <p:cNvSpPr/>
                <p:nvPr/>
              </p:nvSpPr>
              <p:spPr>
                <a:xfrm rot="16200000">
                  <a:off x="8768820" y="234102"/>
                  <a:ext cx="502597" cy="7380110"/>
                </a:xfrm>
                <a:prstGeom prst="plaque">
                  <a:avLst>
                    <a:gd name="adj" fmla="val 8303"/>
                  </a:avLst>
                </a:prstGeom>
                <a:noFill/>
                <a:ln w="3175" cap="flat" cmpd="sng" algn="ctr">
                  <a:solidFill>
                    <a:srgbClr val="00B2C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  <p:sp>
              <p:nvSpPr>
                <p:cNvPr id="163" name="缺角矩形 162"/>
                <p:cNvSpPr>
                  <a:spLocks noChangeAspect="1"/>
                </p:cNvSpPr>
                <p:nvPr/>
              </p:nvSpPr>
              <p:spPr>
                <a:xfrm rot="16200000">
                  <a:off x="8803736" y="296321"/>
                  <a:ext cx="417804" cy="7255671"/>
                </a:xfrm>
                <a:prstGeom prst="plaque">
                  <a:avLst>
                    <a:gd name="adj" fmla="val 8303"/>
                  </a:avLst>
                </a:prstGeom>
                <a:gradFill flip="none" rotWithShape="1">
                  <a:gsLst>
                    <a:gs pos="56000">
                      <a:schemeClr val="accent3"/>
                    </a:gs>
                    <a:gs pos="0">
                      <a:srgbClr val="05B17E"/>
                    </a:gs>
                  </a:gsLst>
                  <a:lin ang="18900000" scaled="1"/>
                  <a:tileRect/>
                </a:gradFill>
                <a:ln w="3175" cap="flat" cmpd="sng" algn="ctr">
                  <a:solidFill>
                    <a:srgbClr val="05B17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</p:grpSp>
          <p:pic>
            <p:nvPicPr>
              <p:cNvPr id="164" name="康帅原创PPT设计-倒卖必究18-23" descr="黑暗中的灯光&#10;&#10;描述已自动生成"/>
              <p:cNvPicPr>
                <a:picLocks noChangeAspect="1"/>
              </p:cNvPicPr>
              <p:nvPr/>
            </p:nvPicPr>
            <p:blipFill>
              <a:blip r:embed="rId8" cstate="print">
                <a:duotone>
                  <a:srgbClr val="F4E0A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3212" y="3513381"/>
                <a:ext cx="12134621" cy="371820"/>
              </a:xfrm>
              <a:prstGeom prst="rect">
                <a:avLst/>
              </a:prstGeom>
              <a:scene3d>
                <a:camera prst="orthographicFront"/>
                <a:lightRig rig="contrasting" dir="t"/>
              </a:scene3d>
            </p:spPr>
          </p:pic>
        </p:grpSp>
        <p:sp>
          <p:nvSpPr>
            <p:cNvPr id="165" name="文本框 164"/>
            <p:cNvSpPr txBox="1"/>
            <p:nvPr/>
          </p:nvSpPr>
          <p:spPr>
            <a:xfrm>
              <a:off x="2214957" y="1354953"/>
              <a:ext cx="7620955" cy="1174295"/>
            </a:xfrm>
            <a:prstGeom prst="rect">
              <a:avLst/>
            </a:prstGeom>
            <a:noFill/>
            <a:effectLst/>
          </p:spPr>
          <p:txBody>
            <a:bodyPr wrap="square" lIns="51206" tIns="25603" rIns="51206" bIns="25603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报表汇总</a:t>
              </a:r>
              <a:endParaRPr lang="en-US" sz="1600" dirty="0"/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微软雅黑" panose="020B0503020204020204" charset="-122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6493510" y="2543810"/>
            <a:ext cx="1209040" cy="563105"/>
            <a:chOff x="2018898" y="1311306"/>
            <a:chExt cx="8154203" cy="1217942"/>
          </a:xfrm>
        </p:grpSpPr>
        <p:grpSp>
          <p:nvGrpSpPr>
            <p:cNvPr id="167" name="组合 166"/>
            <p:cNvGrpSpPr/>
            <p:nvPr/>
          </p:nvGrpSpPr>
          <p:grpSpPr>
            <a:xfrm>
              <a:off x="2018898" y="1311306"/>
              <a:ext cx="8154203" cy="672640"/>
              <a:chOff x="2397816" y="2584278"/>
              <a:chExt cx="17589856" cy="1300923"/>
            </a:xfrm>
          </p:grpSpPr>
          <p:grpSp>
            <p:nvGrpSpPr>
              <p:cNvPr id="168" name="组合 167"/>
              <p:cNvGrpSpPr>
                <a:grpSpLocks noChangeAspect="1"/>
              </p:cNvGrpSpPr>
              <p:nvPr/>
            </p:nvGrpSpPr>
            <p:grpSpPr>
              <a:xfrm>
                <a:off x="2397816" y="2584278"/>
                <a:ext cx="17589856" cy="1197898"/>
                <a:chOff x="5330064" y="3672858"/>
                <a:chExt cx="7380110" cy="502597"/>
              </a:xfrm>
            </p:grpSpPr>
            <p:sp>
              <p:nvSpPr>
                <p:cNvPr id="169" name="缺角矩形 168"/>
                <p:cNvSpPr/>
                <p:nvPr/>
              </p:nvSpPr>
              <p:spPr>
                <a:xfrm rot="16200000">
                  <a:off x="8768820" y="234102"/>
                  <a:ext cx="502597" cy="7380110"/>
                </a:xfrm>
                <a:prstGeom prst="plaque">
                  <a:avLst>
                    <a:gd name="adj" fmla="val 8303"/>
                  </a:avLst>
                </a:prstGeom>
                <a:noFill/>
                <a:ln w="3175" cap="flat" cmpd="sng" algn="ctr">
                  <a:solidFill>
                    <a:srgbClr val="00B2C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  <p:sp>
              <p:nvSpPr>
                <p:cNvPr id="170" name="缺角矩形 169"/>
                <p:cNvSpPr>
                  <a:spLocks noChangeAspect="1"/>
                </p:cNvSpPr>
                <p:nvPr/>
              </p:nvSpPr>
              <p:spPr>
                <a:xfrm rot="16200000">
                  <a:off x="8803736" y="296321"/>
                  <a:ext cx="417804" cy="7255671"/>
                </a:xfrm>
                <a:prstGeom prst="plaque">
                  <a:avLst>
                    <a:gd name="adj" fmla="val 8303"/>
                  </a:avLst>
                </a:prstGeom>
                <a:gradFill flip="none" rotWithShape="1">
                  <a:gsLst>
                    <a:gs pos="56000">
                      <a:schemeClr val="accent3"/>
                    </a:gs>
                    <a:gs pos="0">
                      <a:srgbClr val="05B17E"/>
                    </a:gs>
                  </a:gsLst>
                  <a:lin ang="18900000" scaled="1"/>
                  <a:tileRect/>
                </a:gradFill>
                <a:ln w="3175" cap="flat" cmpd="sng" algn="ctr">
                  <a:solidFill>
                    <a:srgbClr val="05B17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</p:grpSp>
          <p:pic>
            <p:nvPicPr>
              <p:cNvPr id="171" name="康帅原创PPT设计-倒卖必究18-23" descr="黑暗中的灯光&#10;&#10;描述已自动生成"/>
              <p:cNvPicPr>
                <a:picLocks noChangeAspect="1"/>
              </p:cNvPicPr>
              <p:nvPr/>
            </p:nvPicPr>
            <p:blipFill>
              <a:blip r:embed="rId8" cstate="print">
                <a:duotone>
                  <a:srgbClr val="F4E0A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3212" y="3513381"/>
                <a:ext cx="12134621" cy="371820"/>
              </a:xfrm>
              <a:prstGeom prst="rect">
                <a:avLst/>
              </a:prstGeom>
              <a:scene3d>
                <a:camera prst="orthographicFront"/>
                <a:lightRig rig="contrasting" dir="t"/>
              </a:scene3d>
            </p:spPr>
          </p:pic>
        </p:grpSp>
        <p:sp>
          <p:nvSpPr>
            <p:cNvPr id="172" name="文本框 171"/>
            <p:cNvSpPr txBox="1"/>
            <p:nvPr/>
          </p:nvSpPr>
          <p:spPr>
            <a:xfrm>
              <a:off x="2214957" y="1354953"/>
              <a:ext cx="7620955" cy="1174295"/>
            </a:xfrm>
            <a:prstGeom prst="rect">
              <a:avLst/>
            </a:prstGeom>
            <a:noFill/>
            <a:effectLst/>
          </p:spPr>
          <p:txBody>
            <a:bodyPr wrap="square" lIns="51206" tIns="25603" rIns="51206" bIns="25603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复核终评</a:t>
              </a:r>
              <a:endParaRPr lang="en-US" sz="1600" dirty="0"/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微软雅黑" panose="020B0503020204020204" charset="-122"/>
              </a:endParaRPr>
            </a:p>
          </p:txBody>
        </p:sp>
      </p:grpSp>
      <p:grpSp>
        <p:nvGrpSpPr>
          <p:cNvPr id="173" name="组合 172"/>
          <p:cNvGrpSpPr/>
          <p:nvPr/>
        </p:nvGrpSpPr>
        <p:grpSpPr>
          <a:xfrm>
            <a:off x="6493510" y="3686810"/>
            <a:ext cx="1209040" cy="563105"/>
            <a:chOff x="2018898" y="1311306"/>
            <a:chExt cx="8154203" cy="1217942"/>
          </a:xfrm>
        </p:grpSpPr>
        <p:grpSp>
          <p:nvGrpSpPr>
            <p:cNvPr id="174" name="组合 173"/>
            <p:cNvGrpSpPr/>
            <p:nvPr/>
          </p:nvGrpSpPr>
          <p:grpSpPr>
            <a:xfrm>
              <a:off x="2018898" y="1311306"/>
              <a:ext cx="8154203" cy="672640"/>
              <a:chOff x="2397816" y="2584278"/>
              <a:chExt cx="17589856" cy="1300923"/>
            </a:xfrm>
          </p:grpSpPr>
          <p:grpSp>
            <p:nvGrpSpPr>
              <p:cNvPr id="175" name="组合 174"/>
              <p:cNvGrpSpPr>
                <a:grpSpLocks noChangeAspect="1"/>
              </p:cNvGrpSpPr>
              <p:nvPr/>
            </p:nvGrpSpPr>
            <p:grpSpPr>
              <a:xfrm>
                <a:off x="2397816" y="2584278"/>
                <a:ext cx="17589856" cy="1197898"/>
                <a:chOff x="5330064" y="3672858"/>
                <a:chExt cx="7380110" cy="502597"/>
              </a:xfrm>
            </p:grpSpPr>
            <p:sp>
              <p:nvSpPr>
                <p:cNvPr id="176" name="缺角矩形 175"/>
                <p:cNvSpPr/>
                <p:nvPr/>
              </p:nvSpPr>
              <p:spPr>
                <a:xfrm rot="16200000">
                  <a:off x="8768820" y="234102"/>
                  <a:ext cx="502597" cy="7380110"/>
                </a:xfrm>
                <a:prstGeom prst="plaque">
                  <a:avLst>
                    <a:gd name="adj" fmla="val 8303"/>
                  </a:avLst>
                </a:prstGeom>
                <a:noFill/>
                <a:ln w="3175" cap="flat" cmpd="sng" algn="ctr">
                  <a:solidFill>
                    <a:srgbClr val="00B2C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  <p:sp>
              <p:nvSpPr>
                <p:cNvPr id="177" name="缺角矩形 176"/>
                <p:cNvSpPr>
                  <a:spLocks noChangeAspect="1"/>
                </p:cNvSpPr>
                <p:nvPr/>
              </p:nvSpPr>
              <p:spPr>
                <a:xfrm rot="16200000">
                  <a:off x="8803736" y="296321"/>
                  <a:ext cx="417804" cy="7255671"/>
                </a:xfrm>
                <a:prstGeom prst="plaque">
                  <a:avLst>
                    <a:gd name="adj" fmla="val 8303"/>
                  </a:avLst>
                </a:prstGeom>
                <a:gradFill flip="none" rotWithShape="1">
                  <a:gsLst>
                    <a:gs pos="56000">
                      <a:schemeClr val="accent3"/>
                    </a:gs>
                    <a:gs pos="0">
                      <a:srgbClr val="05B17E"/>
                    </a:gs>
                  </a:gsLst>
                  <a:lin ang="18900000" scaled="1"/>
                  <a:tileRect/>
                </a:gradFill>
                <a:ln w="3175" cap="flat" cmpd="sng" algn="ctr">
                  <a:solidFill>
                    <a:srgbClr val="05B17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</p:grpSp>
          <p:pic>
            <p:nvPicPr>
              <p:cNvPr id="178" name="康帅原创PPT设计-倒卖必究18-23" descr="黑暗中的灯光&#10;&#10;描述已自动生成"/>
              <p:cNvPicPr>
                <a:picLocks noChangeAspect="1"/>
              </p:cNvPicPr>
              <p:nvPr/>
            </p:nvPicPr>
            <p:blipFill>
              <a:blip r:embed="rId8" cstate="print">
                <a:duotone>
                  <a:srgbClr val="F4E0A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3212" y="3513381"/>
                <a:ext cx="12134621" cy="371820"/>
              </a:xfrm>
              <a:prstGeom prst="rect">
                <a:avLst/>
              </a:prstGeom>
              <a:scene3d>
                <a:camera prst="orthographicFront"/>
                <a:lightRig rig="contrasting" dir="t"/>
              </a:scene3d>
            </p:spPr>
          </p:pic>
        </p:grpSp>
        <p:sp>
          <p:nvSpPr>
            <p:cNvPr id="179" name="文本框 178"/>
            <p:cNvSpPr txBox="1"/>
            <p:nvPr/>
          </p:nvSpPr>
          <p:spPr>
            <a:xfrm>
              <a:off x="2214957" y="1354953"/>
              <a:ext cx="7620955" cy="1174295"/>
            </a:xfrm>
            <a:prstGeom prst="rect">
              <a:avLst/>
            </a:prstGeom>
            <a:noFill/>
            <a:effectLst/>
          </p:spPr>
          <p:txBody>
            <a:bodyPr wrap="square" lIns="51206" tIns="25603" rIns="51206" bIns="25603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解析核验</a:t>
              </a:r>
              <a:endParaRPr lang="en-US" sz="1600" dirty="0"/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微软雅黑" panose="020B0503020204020204" charset="-122"/>
              </a:endParaRPr>
            </a:p>
          </p:txBody>
        </p:sp>
      </p:grpSp>
      <p:sp>
        <p:nvSpPr>
          <p:cNvPr id="180" name="Text 6"/>
          <p:cNvSpPr/>
          <p:nvPr>
            <p:custDataLst>
              <p:tags r:id="rId10"/>
            </p:custDataLst>
          </p:nvPr>
        </p:nvSpPr>
        <p:spPr>
          <a:xfrm>
            <a:off x="3535680" y="1777365"/>
            <a:ext cx="48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1" name="Text 6"/>
          <p:cNvSpPr/>
          <p:nvPr>
            <p:custDataLst>
              <p:tags r:id="rId11"/>
            </p:custDataLst>
          </p:nvPr>
        </p:nvSpPr>
        <p:spPr>
          <a:xfrm>
            <a:off x="2945130" y="2893060"/>
            <a:ext cx="48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2" name="Text 6"/>
          <p:cNvSpPr/>
          <p:nvPr>
            <p:custDataLst>
              <p:tags r:id="rId12"/>
            </p:custDataLst>
          </p:nvPr>
        </p:nvSpPr>
        <p:spPr>
          <a:xfrm>
            <a:off x="3390900" y="3949065"/>
            <a:ext cx="48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3" name="Text 6"/>
          <p:cNvSpPr/>
          <p:nvPr>
            <p:custDataLst>
              <p:tags r:id="rId13"/>
            </p:custDataLst>
          </p:nvPr>
        </p:nvSpPr>
        <p:spPr>
          <a:xfrm>
            <a:off x="5234305" y="3909060"/>
            <a:ext cx="48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4" name="Text 6"/>
          <p:cNvSpPr/>
          <p:nvPr>
            <p:custDataLst>
              <p:tags r:id="rId14"/>
            </p:custDataLst>
          </p:nvPr>
        </p:nvSpPr>
        <p:spPr>
          <a:xfrm>
            <a:off x="5650865" y="2920365"/>
            <a:ext cx="48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5" name="Text 6"/>
          <p:cNvSpPr/>
          <p:nvPr>
            <p:custDataLst>
              <p:tags r:id="rId15"/>
            </p:custDataLst>
          </p:nvPr>
        </p:nvSpPr>
        <p:spPr>
          <a:xfrm>
            <a:off x="5121275" y="1815465"/>
            <a:ext cx="48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6" name="Text 10"/>
          <p:cNvSpPr/>
          <p:nvPr>
            <p:custDataLst>
              <p:tags r:id="rId16"/>
            </p:custDataLst>
          </p:nvPr>
        </p:nvSpPr>
        <p:spPr>
          <a:xfrm>
            <a:off x="1320165" y="1639253"/>
            <a:ext cx="1469390" cy="721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管理员维护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用户/课程/班级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7" name="Text 16"/>
          <p:cNvSpPr/>
          <p:nvPr>
            <p:custDataLst>
              <p:tags r:id="rId17"/>
            </p:custDataLst>
          </p:nvPr>
        </p:nvSpPr>
        <p:spPr>
          <a:xfrm>
            <a:off x="1368044" y="269748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教师配置要求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模板与指标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8" name="Text 22"/>
          <p:cNvSpPr/>
          <p:nvPr>
            <p:custDataLst>
              <p:tags r:id="rId18"/>
            </p:custDataLst>
          </p:nvPr>
        </p:nvSpPr>
        <p:spPr>
          <a:xfrm>
            <a:off x="1412240" y="3989388"/>
            <a:ext cx="1301750" cy="619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学生上传文件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版本可追溯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9" name="Text 28"/>
          <p:cNvSpPr/>
          <p:nvPr>
            <p:custDataLst>
              <p:tags r:id="rId19"/>
            </p:custDataLst>
          </p:nvPr>
        </p:nvSpPr>
        <p:spPr>
          <a:xfrm>
            <a:off x="6520180" y="3889375"/>
            <a:ext cx="1225550" cy="819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系统静态解析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AI辅助建议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1" name="Text 34"/>
          <p:cNvSpPr/>
          <p:nvPr>
            <p:custDataLst>
              <p:tags r:id="rId20"/>
            </p:custDataLst>
          </p:nvPr>
        </p:nvSpPr>
        <p:spPr>
          <a:xfrm>
            <a:off x="6512814" y="269748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教师调分评语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发布正式成绩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2" name="Text 39"/>
          <p:cNvSpPr/>
          <p:nvPr>
            <p:custDataLst>
              <p:tags r:id="rId21"/>
            </p:custDataLst>
          </p:nvPr>
        </p:nvSpPr>
        <p:spPr>
          <a:xfrm>
            <a:off x="6477254" y="154305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班级统计报表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教学质量画像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3" name="Text 40"/>
          <p:cNvSpPr/>
          <p:nvPr/>
        </p:nvSpPr>
        <p:spPr>
          <a:xfrm>
            <a:off x="1828800" y="4709160"/>
            <a:ext cx="548640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全程数据留存，支持回溯查验</a:t>
            </a:r>
            <a:endParaRPr lang="en-US" i="1" dirty="0">
              <a:solidFill>
                <a:srgbClr val="17A58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635"/>
            <a:ext cx="9144000" cy="5145035"/>
            <a:chOff x="0" y="-1"/>
            <a:chExt cx="14400" cy="810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4400" cy="81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-1"/>
              <a:ext cx="14400" cy="8101"/>
            </a:xfrm>
            <a:prstGeom prst="rect">
              <a:avLst/>
            </a:prstGeom>
            <a:gradFill flip="none" rotWithShape="1">
              <a:gsLst>
                <a:gs pos="3000">
                  <a:srgbClr val="102A63">
                    <a:alpha val="84000"/>
                  </a:srgbClr>
                </a:gs>
                <a:gs pos="85000">
                  <a:srgbClr val="070D31">
                    <a:alpha val="69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0" y="0"/>
              <a:ext cx="14400" cy="8101"/>
            </a:xfrm>
            <a:prstGeom prst="rect">
              <a:avLst/>
            </a:prstGeom>
            <a:gradFill flip="none" rotWithShape="1">
              <a:gsLst>
                <a:gs pos="17000">
                  <a:srgbClr val="00275C">
                    <a:alpha val="51000"/>
                  </a:srgbClr>
                </a:gs>
                <a:gs pos="100000">
                  <a:srgbClr val="00275C">
                    <a:alpha val="32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rot="0">
            <a:off x="-446405" y="-650240"/>
            <a:ext cx="11323320" cy="7840345"/>
            <a:chOff x="-431" y="-4043"/>
            <a:chExt cx="17832" cy="12347"/>
          </a:xfrm>
        </p:grpSpPr>
        <p:sp>
          <p:nvSpPr>
            <p:cNvPr id="13" name="矩形 12"/>
            <p:cNvSpPr/>
            <p:nvPr/>
          </p:nvSpPr>
          <p:spPr>
            <a:xfrm>
              <a:off x="-431" y="-262"/>
              <a:ext cx="14901" cy="8566"/>
            </a:xfrm>
            <a:prstGeom prst="rect">
              <a:avLst/>
            </a:prstGeom>
            <a:blipFill dpi="0" rotWithShape="1">
              <a:blip r:embed="rId2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7" y="-4043"/>
              <a:ext cx="11484" cy="11484"/>
            </a:xfrm>
            <a:prstGeom prst="rect">
              <a:avLst/>
            </a:prstGeom>
          </p:spPr>
        </p:pic>
      </p:grp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系统架构与角色体系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技术如何支撑业务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系统技术架构概览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前后端分离 · 分层清晰 · 支持国产化部署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389888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389888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浏览器 / PC 客户端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1847088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47672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47672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17320" y="1965960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1965960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Vue 3 + Element Plus　　前端路由隔离（角色）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2423160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523744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523744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接入层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17320" y="2542032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2542032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Nginx 反向代理 · HTTPS · 静态资源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2999232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099816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99816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417320" y="3118104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3118104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 3.2.5 / Java 17　　RESTful API · JWT · RBAC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3575304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675888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675888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17320" y="3694176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08760" y="3694176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/ MariaDB　　Redis（状态缓存）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" y="4151376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25196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51960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存储层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417320" y="4270248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08760" y="4270248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MinIO / 本地文件存储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49440" y="219456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EF9E7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219456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（外部服务·可配置）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0840" y="2542032"/>
            <a:ext cx="2286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2432304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</a:t>
            </a:r>
            <a:endParaRPr lang="en-US" sz="1300" dirty="0"/>
          </a:p>
        </p:txBody>
      </p:sp>
      <p:grpSp>
        <p:nvGrpSpPr>
          <p:cNvPr id="42" name="组合 41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43" name="直接连接符 42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4" name="组合 43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45" name="组合 44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二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架构与角色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三类角色与工作台入口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登录后按角色自动跳转专属工作台 — 权限数据双重隔离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724785" cy="3359785"/>
          </a:xfrm>
          <a:prstGeom prst="roundRect">
            <a:avLst>
              <a:gd name="adj" fmla="val 3356"/>
            </a:avLst>
          </a:prstGeom>
          <a:solidFill>
            <a:srgbClr val="EAF2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2724912" cy="68580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171907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2212848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217627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用户账号管理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" y="2871216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283464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课程与班级维护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1208" y="3529584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349300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角色权限分配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" y="4187952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415137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系统全局设置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27705" y="1371600"/>
            <a:ext cx="2724785" cy="3359785"/>
          </a:xfrm>
          <a:prstGeom prst="roundRect">
            <a:avLst>
              <a:gd name="adj" fmla="val 3356"/>
            </a:avLst>
          </a:prstGeom>
          <a:solidFill>
            <a:srgbClr val="E8FAF5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27832" y="1371600"/>
            <a:ext cx="2724912" cy="685800"/>
          </a:xfrm>
          <a:prstGeom prst="roundRect">
            <a:avLst>
              <a:gd name="adj" fmla="val 1333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141732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27832" y="171907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29000" y="2212848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217627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发布实训项目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29000" y="2871216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48456" y="283464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配置评价模板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29000" y="3529584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349300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复核终评发布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29000" y="4187952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48456" y="415137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查看报表画像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35370" y="1371600"/>
            <a:ext cx="2724785" cy="3374390"/>
          </a:xfrm>
          <a:prstGeom prst="roundRect">
            <a:avLst>
              <a:gd name="adj" fmla="val 3356"/>
            </a:avLst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35624" y="1371600"/>
            <a:ext cx="2724912" cy="685800"/>
          </a:xfrm>
          <a:prstGeom prst="roundRect">
            <a:avLst>
              <a:gd name="adj" fmla="val 1333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5624" y="141732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135624" y="171907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36792" y="2212848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56248" y="217627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查看课程任务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36792" y="2871216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56248" y="283464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提交成果文件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36792" y="3529584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56248" y="349300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追踪处理状态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336792" y="4187952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56248" y="415137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查看评价结果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371600" y="4773168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前端路由隔离 · 后端 JWT + RBAC 鉴权 · 业务数据范围双重校验</a:t>
            </a:r>
            <a:endParaRPr lang="en-US" sz="1000" dirty="0"/>
          </a:p>
        </p:txBody>
      </p:sp>
      <p:grpSp>
        <p:nvGrpSpPr>
          <p:cNvPr id="46" name="组合 4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47" name="直接连接符 4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8" name="组合 4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49" name="组合 4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二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架构与角色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635"/>
            <a:ext cx="9144000" cy="5145035"/>
            <a:chOff x="0" y="-1"/>
            <a:chExt cx="14400" cy="810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4400" cy="81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-1"/>
              <a:ext cx="14400" cy="8101"/>
            </a:xfrm>
            <a:prstGeom prst="rect">
              <a:avLst/>
            </a:prstGeom>
            <a:gradFill flip="none" rotWithShape="1">
              <a:gsLst>
                <a:gs pos="3000">
                  <a:srgbClr val="102A63">
                    <a:alpha val="84000"/>
                  </a:srgbClr>
                </a:gs>
                <a:gs pos="85000">
                  <a:srgbClr val="070D31">
                    <a:alpha val="69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0" y="0"/>
              <a:ext cx="14400" cy="8101"/>
            </a:xfrm>
            <a:prstGeom prst="rect">
              <a:avLst/>
            </a:prstGeom>
            <a:gradFill flip="none" rotWithShape="1">
              <a:gsLst>
                <a:gs pos="17000">
                  <a:srgbClr val="00275C">
                    <a:alpha val="51000"/>
                  </a:srgbClr>
                </a:gs>
                <a:gs pos="100000">
                  <a:srgbClr val="00275C">
                    <a:alpha val="32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rot="0">
            <a:off x="-447675" y="-626745"/>
            <a:ext cx="11125200" cy="7815580"/>
            <a:chOff x="-431" y="-4004"/>
            <a:chExt cx="17520" cy="12308"/>
          </a:xfrm>
        </p:grpSpPr>
        <p:sp>
          <p:nvSpPr>
            <p:cNvPr id="13" name="矩形 12"/>
            <p:cNvSpPr/>
            <p:nvPr/>
          </p:nvSpPr>
          <p:spPr>
            <a:xfrm>
              <a:off x="-431" y="-262"/>
              <a:ext cx="14901" cy="8566"/>
            </a:xfrm>
            <a:prstGeom prst="rect">
              <a:avLst/>
            </a:prstGeom>
            <a:blipFill dpi="0" rotWithShape="1">
              <a:blip r:embed="rId2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5" y="-4004"/>
              <a:ext cx="11484" cy="11484"/>
            </a:xfrm>
            <a:prstGeom prst="rect">
              <a:avLst/>
            </a:prstGeom>
          </p:spPr>
        </p:pic>
      </p:grp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核心功能演示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跟随业务流程，逐环节展示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管理员功能：教学组织准备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一次性配置好组织架构，后续评价全程有据可查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9047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100" y="149047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15568" y="149047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用户管理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174650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新增账号、角色分配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密码重置、状态管理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134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134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15568" y="231343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课程管理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256946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创建课程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绑定教师与班级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3639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363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🏫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15568" y="3136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班级管理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339242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创建班级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维护学生名单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88620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5935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8160" y="39745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15568" y="39593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系统设置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5568" y="421538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全局参数配置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大模型服务设置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417320"/>
            <a:ext cx="4114800" cy="3337560"/>
          </a:xfrm>
          <a:prstGeom prst="roundRect">
            <a:avLst>
              <a:gd name="adj" fmla="val 2740"/>
            </a:avLst>
          </a:prstGeom>
          <a:solidFill>
            <a:srgbClr val="F0F8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141732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用户管理界面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417320"/>
            <a:ext cx="411480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41732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用户管理界面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姓名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87568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角色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20256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0256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52944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52944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操作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张老师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87568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20256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0256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启用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552944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52944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编辑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李同学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87568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87568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20256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0256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启用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552944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52944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编辑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0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王同学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87568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87568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620256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0256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停用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552944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52944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重置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754880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687568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87568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620256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20256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启用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552944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52944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754880" y="342900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班级-学生维护界面 ]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754880" y="3401568"/>
            <a:ext cx="3840480" cy="1234440"/>
          </a:xfrm>
          <a:prstGeom prst="rect">
            <a:avLst/>
          </a:prstGeom>
          <a:solidFill>
            <a:srgbClr val="EEF6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46320" y="3456432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  软工2301  ▶  学生名单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张三  李四  王五  赵六  ……</a:t>
            </a:r>
            <a:endParaRPr lang="en-US" sz="11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教师功能：实训项目与评价规则配置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灵活的评价模板与评分指标 — 系统核心差异化能力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创建项目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9164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配置要求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绑定班级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设置模板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配置指标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6092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发布项目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89120" y="1810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核心亮点</a:t>
            </a:r>
            <a:endParaRPr lang="en-US" sz="950" dirty="0"/>
          </a:p>
        </p:txBody>
      </p:sp>
      <p:grpSp>
        <p:nvGrpSpPr>
          <p:cNvPr id="84" name="组合 83"/>
          <p:cNvGrpSpPr/>
          <p:nvPr/>
        </p:nvGrpSpPr>
        <p:grpSpPr>
          <a:xfrm>
            <a:off x="320040" y="2065020"/>
            <a:ext cx="4160520" cy="2560320"/>
            <a:chOff x="504" y="3384"/>
            <a:chExt cx="6552" cy="4032"/>
          </a:xfrm>
        </p:grpSpPr>
        <p:grpSp>
          <p:nvGrpSpPr>
            <p:cNvPr id="69" name="组合 68"/>
            <p:cNvGrpSpPr/>
            <p:nvPr/>
          </p:nvGrpSpPr>
          <p:grpSpPr>
            <a:xfrm>
              <a:off x="504" y="3384"/>
              <a:ext cx="6552" cy="4032"/>
              <a:chOff x="504" y="3384"/>
              <a:chExt cx="6552" cy="4032"/>
            </a:xfrm>
          </p:grpSpPr>
          <p:sp>
            <p:nvSpPr>
              <p:cNvPr id="25" name="Shape 23"/>
              <p:cNvSpPr/>
              <p:nvPr/>
            </p:nvSpPr>
            <p:spPr>
              <a:xfrm>
                <a:off x="504" y="3384"/>
                <a:ext cx="6552" cy="4032"/>
              </a:xfrm>
              <a:prstGeom prst="roundRect">
                <a:avLst>
                  <a:gd name="adj" fmla="val 3571"/>
                </a:avLst>
              </a:prstGeom>
              <a:solidFill>
                <a:srgbClr val="FFFFFF"/>
              </a:solidFill>
              <a:ln w="12700">
                <a:solidFill>
                  <a:srgbClr val="D5E8F3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grpSp>
            <p:nvGrpSpPr>
              <p:cNvPr id="68" name="组合 67"/>
              <p:cNvGrpSpPr/>
              <p:nvPr/>
            </p:nvGrpSpPr>
            <p:grpSpPr>
              <a:xfrm>
                <a:off x="504" y="3384"/>
                <a:ext cx="6552" cy="546"/>
                <a:chOff x="504" y="3384"/>
                <a:chExt cx="6552" cy="546"/>
              </a:xfrm>
            </p:grpSpPr>
            <p:sp>
              <p:nvSpPr>
                <p:cNvPr id="26" name="Shape 24"/>
                <p:cNvSpPr/>
                <p:nvPr/>
              </p:nvSpPr>
              <p:spPr>
                <a:xfrm>
                  <a:off x="504" y="3384"/>
                  <a:ext cx="6552" cy="547"/>
                </a:xfrm>
                <a:prstGeom prst="roundRect">
                  <a:avLst>
                    <a:gd name="adj" fmla="val 21053"/>
                  </a:avLst>
                </a:prstGeom>
                <a:solidFill>
                  <a:srgbClr val="1A3A5C"/>
                </a:solidFill>
                <a:ln w="12700">
                  <a:solidFill>
                    <a:srgbClr val="1A3A5C"/>
                  </a:solidFill>
                  <a:prstDash val="solid"/>
                </a:ln>
              </p:spPr>
            </p:sp>
            <p:sp>
              <p:nvSpPr>
                <p:cNvPr id="27" name="Text 25"/>
                <p:cNvSpPr/>
                <p:nvPr/>
              </p:nvSpPr>
              <p:spPr>
                <a:xfrm>
                  <a:off x="1368" y="3384"/>
                  <a:ext cx="4824" cy="54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评价模板配置</a:t>
                  </a:r>
                  <a:endParaRPr lang="en-US" sz="1300" dirty="0"/>
                </a:p>
              </p:txBody>
            </p:sp>
          </p:grpSp>
        </p:grpSp>
        <p:grpSp>
          <p:nvGrpSpPr>
            <p:cNvPr id="83" name="组合 82"/>
            <p:cNvGrpSpPr/>
            <p:nvPr/>
          </p:nvGrpSpPr>
          <p:grpSpPr>
            <a:xfrm>
              <a:off x="648" y="4061"/>
              <a:ext cx="4752" cy="2649"/>
              <a:chOff x="648" y="4061"/>
              <a:chExt cx="4752" cy="2649"/>
            </a:xfrm>
          </p:grpSpPr>
          <p:grpSp>
            <p:nvGrpSpPr>
              <p:cNvPr id="75" name="组合 74"/>
              <p:cNvGrpSpPr/>
              <p:nvPr/>
            </p:nvGrpSpPr>
            <p:grpSpPr>
              <a:xfrm>
                <a:off x="648" y="4061"/>
                <a:ext cx="4320" cy="576"/>
                <a:chOff x="648" y="4061"/>
                <a:chExt cx="4320" cy="576"/>
              </a:xfrm>
            </p:grpSpPr>
            <p:sp>
              <p:nvSpPr>
                <p:cNvPr id="28" name="Shape 26"/>
                <p:cNvSpPr/>
                <p:nvPr/>
              </p:nvSpPr>
              <p:spPr>
                <a:xfrm>
                  <a:off x="648" y="4061"/>
                  <a:ext cx="4320" cy="576"/>
                </a:xfrm>
                <a:prstGeom prst="rect">
                  <a:avLst/>
                </a:prstGeom>
                <a:solidFill>
                  <a:srgbClr val="F8FBFF"/>
                </a:solidFill>
                <a:ln w="6350">
                  <a:solidFill>
                    <a:srgbClr val="D5E8F3"/>
                  </a:solidFill>
                  <a:prstDash val="solid"/>
                </a:ln>
              </p:spPr>
            </p:sp>
            <p:sp>
              <p:nvSpPr>
                <p:cNvPr id="29" name="Text 27"/>
                <p:cNvSpPr/>
                <p:nvPr/>
              </p:nvSpPr>
              <p:spPr>
                <a:xfrm>
                  <a:off x="792" y="4061"/>
                  <a:ext cx="3024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代码结构完整性</a:t>
                  </a:r>
                  <a:endParaRPr lang="en-US" sz="1100" dirty="0"/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648" y="4752"/>
                <a:ext cx="4320" cy="576"/>
                <a:chOff x="648" y="4752"/>
                <a:chExt cx="4320" cy="576"/>
              </a:xfrm>
            </p:grpSpPr>
            <p:sp>
              <p:nvSpPr>
                <p:cNvPr id="32" name="Shape 30"/>
                <p:cNvSpPr/>
                <p:nvPr/>
              </p:nvSpPr>
              <p:spPr>
                <a:xfrm>
                  <a:off x="648" y="4752"/>
                  <a:ext cx="4320" cy="576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solidFill>
                    <a:srgbClr val="D5E8F3"/>
                  </a:solidFill>
                  <a:prstDash val="solid"/>
                </a:ln>
              </p:spPr>
            </p:sp>
            <p:sp>
              <p:nvSpPr>
                <p:cNvPr id="33" name="Text 31"/>
                <p:cNvSpPr/>
                <p:nvPr/>
              </p:nvSpPr>
              <p:spPr>
                <a:xfrm>
                  <a:off x="792" y="4752"/>
                  <a:ext cx="3024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功能需求覆盖度</a:t>
                  </a:r>
                  <a:endParaRPr lang="en-US" sz="1100" dirty="0"/>
                </a:p>
              </p:txBody>
            </p:sp>
          </p:grpSp>
          <p:grpSp>
            <p:nvGrpSpPr>
              <p:cNvPr id="81" name="组合 80"/>
              <p:cNvGrpSpPr/>
              <p:nvPr/>
            </p:nvGrpSpPr>
            <p:grpSpPr>
              <a:xfrm>
                <a:off x="648" y="5443"/>
                <a:ext cx="4320" cy="576"/>
                <a:chOff x="648" y="5443"/>
                <a:chExt cx="4320" cy="576"/>
              </a:xfrm>
            </p:grpSpPr>
            <p:sp>
              <p:nvSpPr>
                <p:cNvPr id="36" name="Shape 34"/>
                <p:cNvSpPr/>
                <p:nvPr/>
              </p:nvSpPr>
              <p:spPr>
                <a:xfrm>
                  <a:off x="648" y="5443"/>
                  <a:ext cx="4320" cy="576"/>
                </a:xfrm>
                <a:prstGeom prst="rect">
                  <a:avLst/>
                </a:prstGeom>
                <a:solidFill>
                  <a:srgbClr val="F8FBFF"/>
                </a:solidFill>
                <a:ln w="6350">
                  <a:solidFill>
                    <a:srgbClr val="D5E8F3"/>
                  </a:solidFill>
                  <a:prstDash val="solid"/>
                </a:ln>
              </p:spPr>
            </p:sp>
            <p:sp>
              <p:nvSpPr>
                <p:cNvPr id="37" name="Text 35"/>
                <p:cNvSpPr/>
                <p:nvPr/>
              </p:nvSpPr>
              <p:spPr>
                <a:xfrm>
                  <a:off x="792" y="5443"/>
                  <a:ext cx="3024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文档规范程度</a:t>
                  </a:r>
                  <a:endParaRPr lang="en-US" sz="1100" dirty="0"/>
                </a:p>
              </p:txBody>
            </p:sp>
          </p:grpSp>
          <p:grpSp>
            <p:nvGrpSpPr>
              <p:cNvPr id="82" name="组合 81"/>
              <p:cNvGrpSpPr/>
              <p:nvPr/>
            </p:nvGrpSpPr>
            <p:grpSpPr>
              <a:xfrm>
                <a:off x="648" y="6134"/>
                <a:ext cx="4320" cy="576"/>
                <a:chOff x="648" y="6134"/>
                <a:chExt cx="4320" cy="576"/>
              </a:xfrm>
            </p:grpSpPr>
            <p:sp>
              <p:nvSpPr>
                <p:cNvPr id="40" name="Shape 38"/>
                <p:cNvSpPr/>
                <p:nvPr/>
              </p:nvSpPr>
              <p:spPr>
                <a:xfrm>
                  <a:off x="648" y="6134"/>
                  <a:ext cx="4320" cy="576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solidFill>
                    <a:srgbClr val="D5E8F3"/>
                  </a:solidFill>
                  <a:prstDash val="solid"/>
                </a:ln>
              </p:spPr>
            </p:sp>
            <p:sp>
              <p:nvSpPr>
                <p:cNvPr id="41" name="Text 39"/>
                <p:cNvSpPr/>
                <p:nvPr/>
              </p:nvSpPr>
              <p:spPr>
                <a:xfrm>
                  <a:off x="792" y="6134"/>
                  <a:ext cx="3024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代码可读性</a:t>
                  </a:r>
                  <a:endParaRPr lang="en-US" sz="1100" dirty="0"/>
                </a:p>
              </p:txBody>
            </p:sp>
          </p:grpSp>
          <p:grpSp>
            <p:nvGrpSpPr>
              <p:cNvPr id="74" name="组合 73"/>
              <p:cNvGrpSpPr/>
              <p:nvPr/>
            </p:nvGrpSpPr>
            <p:grpSpPr>
              <a:xfrm>
                <a:off x="4392" y="4147"/>
                <a:ext cx="1008" cy="2476"/>
                <a:chOff x="4392" y="4147"/>
                <a:chExt cx="1008" cy="2476"/>
              </a:xfrm>
            </p:grpSpPr>
            <p:grpSp>
              <p:nvGrpSpPr>
                <p:cNvPr id="70" name="组合 69"/>
                <p:cNvGrpSpPr/>
                <p:nvPr/>
              </p:nvGrpSpPr>
              <p:grpSpPr>
                <a:xfrm>
                  <a:off x="4392" y="4147"/>
                  <a:ext cx="1008" cy="402"/>
                  <a:chOff x="4392" y="4147"/>
                  <a:chExt cx="1008" cy="402"/>
                </a:xfrm>
              </p:grpSpPr>
              <p:sp>
                <p:nvSpPr>
                  <p:cNvPr id="30" name="Shape 28"/>
                  <p:cNvSpPr/>
                  <p:nvPr/>
                </p:nvSpPr>
                <p:spPr>
                  <a:xfrm>
                    <a:off x="4392" y="4147"/>
                    <a:ext cx="1008" cy="403"/>
                  </a:xfrm>
                  <a:prstGeom prst="roundRect">
                    <a:avLst>
                      <a:gd name="adj" fmla="val 21429"/>
                    </a:avLst>
                  </a:prstGeom>
                  <a:solidFill>
                    <a:srgbClr val="E67E22"/>
                  </a:solidFill>
                  <a:ln w="12700">
                    <a:solidFill>
                      <a:srgbClr val="E67E22"/>
                    </a:solidFill>
                    <a:prstDash val="solid"/>
                  </a:ln>
                </p:spPr>
              </p:sp>
              <p:sp>
                <p:nvSpPr>
                  <p:cNvPr id="31" name="Text 29"/>
                  <p:cNvSpPr/>
                  <p:nvPr/>
                </p:nvSpPr>
                <p:spPr>
                  <a:xfrm>
                    <a:off x="4512" y="4147"/>
                    <a:ext cx="768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20分</a:t>
                    </a:r>
                    <a:endParaRPr lang="en-US" sz="1000" dirty="0"/>
                  </a:p>
                </p:txBody>
              </p:sp>
            </p:grpSp>
            <p:grpSp>
              <p:nvGrpSpPr>
                <p:cNvPr id="71" name="组合 70"/>
                <p:cNvGrpSpPr/>
                <p:nvPr/>
              </p:nvGrpSpPr>
              <p:grpSpPr>
                <a:xfrm>
                  <a:off x="4392" y="4838"/>
                  <a:ext cx="1008" cy="402"/>
                  <a:chOff x="4392" y="4838"/>
                  <a:chExt cx="1008" cy="402"/>
                </a:xfrm>
              </p:grpSpPr>
              <p:sp>
                <p:nvSpPr>
                  <p:cNvPr id="34" name="Shape 32"/>
                  <p:cNvSpPr/>
                  <p:nvPr/>
                </p:nvSpPr>
                <p:spPr>
                  <a:xfrm>
                    <a:off x="4392" y="4838"/>
                    <a:ext cx="1008" cy="403"/>
                  </a:xfrm>
                  <a:prstGeom prst="roundRect">
                    <a:avLst>
                      <a:gd name="adj" fmla="val 21429"/>
                    </a:avLst>
                  </a:prstGeom>
                  <a:solidFill>
                    <a:srgbClr val="E67E22"/>
                  </a:solidFill>
                  <a:ln w="12700">
                    <a:solidFill>
                      <a:srgbClr val="E67E22"/>
                    </a:solidFill>
                    <a:prstDash val="solid"/>
                  </a:ln>
                </p:spPr>
              </p:sp>
              <p:sp>
                <p:nvSpPr>
                  <p:cNvPr id="35" name="Text 33"/>
                  <p:cNvSpPr/>
                  <p:nvPr/>
                </p:nvSpPr>
                <p:spPr>
                  <a:xfrm>
                    <a:off x="4488" y="4838"/>
                    <a:ext cx="816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35分</a:t>
                    </a:r>
                    <a:endParaRPr lang="en-US" sz="1000" dirty="0"/>
                  </a:p>
                </p:txBody>
              </p:sp>
            </p:grpSp>
            <p:grpSp>
              <p:nvGrpSpPr>
                <p:cNvPr id="72" name="组合 71"/>
                <p:cNvGrpSpPr/>
                <p:nvPr/>
              </p:nvGrpSpPr>
              <p:grpSpPr>
                <a:xfrm>
                  <a:off x="4392" y="5530"/>
                  <a:ext cx="1008" cy="402"/>
                  <a:chOff x="4392" y="5530"/>
                  <a:chExt cx="1008" cy="402"/>
                </a:xfrm>
              </p:grpSpPr>
              <p:sp>
                <p:nvSpPr>
                  <p:cNvPr id="38" name="Shape 36"/>
                  <p:cNvSpPr/>
                  <p:nvPr/>
                </p:nvSpPr>
                <p:spPr>
                  <a:xfrm>
                    <a:off x="4392" y="5530"/>
                    <a:ext cx="1008" cy="403"/>
                  </a:xfrm>
                  <a:prstGeom prst="roundRect">
                    <a:avLst>
                      <a:gd name="adj" fmla="val 21429"/>
                    </a:avLst>
                  </a:prstGeom>
                  <a:solidFill>
                    <a:srgbClr val="E67E22"/>
                  </a:solidFill>
                  <a:ln w="12700">
                    <a:solidFill>
                      <a:srgbClr val="E67E22"/>
                    </a:solidFill>
                    <a:prstDash val="solid"/>
                  </a:ln>
                </p:spPr>
              </p:sp>
              <p:sp>
                <p:nvSpPr>
                  <p:cNvPr id="39" name="Text 37"/>
                  <p:cNvSpPr/>
                  <p:nvPr/>
                </p:nvSpPr>
                <p:spPr>
                  <a:xfrm>
                    <a:off x="4440" y="5530"/>
                    <a:ext cx="912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25分</a:t>
                    </a:r>
                    <a:endParaRPr lang="en-US" sz="1000" dirty="0"/>
                  </a:p>
                </p:txBody>
              </p:sp>
            </p:grpSp>
            <p:grpSp>
              <p:nvGrpSpPr>
                <p:cNvPr id="73" name="组合 72"/>
                <p:cNvGrpSpPr/>
                <p:nvPr/>
              </p:nvGrpSpPr>
              <p:grpSpPr>
                <a:xfrm>
                  <a:off x="4392" y="6221"/>
                  <a:ext cx="1008" cy="402"/>
                  <a:chOff x="4392" y="6221"/>
                  <a:chExt cx="1008" cy="402"/>
                </a:xfrm>
              </p:grpSpPr>
              <p:sp>
                <p:nvSpPr>
                  <p:cNvPr id="42" name="Shape 40"/>
                  <p:cNvSpPr/>
                  <p:nvPr/>
                </p:nvSpPr>
                <p:spPr>
                  <a:xfrm>
                    <a:off x="4392" y="6221"/>
                    <a:ext cx="1008" cy="403"/>
                  </a:xfrm>
                  <a:prstGeom prst="roundRect">
                    <a:avLst>
                      <a:gd name="adj" fmla="val 21429"/>
                    </a:avLst>
                  </a:prstGeom>
                  <a:solidFill>
                    <a:srgbClr val="E67E22"/>
                  </a:solidFill>
                  <a:ln w="12700">
                    <a:solidFill>
                      <a:srgbClr val="E67E22"/>
                    </a:solidFill>
                    <a:prstDash val="solid"/>
                  </a:ln>
                </p:spPr>
              </p:sp>
              <p:sp>
                <p:nvSpPr>
                  <p:cNvPr id="43" name="Text 41"/>
                  <p:cNvSpPr/>
                  <p:nvPr/>
                </p:nvSpPr>
                <p:spPr>
                  <a:xfrm>
                    <a:off x="4440" y="6221"/>
                    <a:ext cx="960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20分</a:t>
                    </a:r>
                    <a:endParaRPr lang="en-US" sz="1000" dirty="0"/>
                  </a:p>
                </p:txBody>
              </p:sp>
            </p:grpSp>
          </p:grpSp>
        </p:grpSp>
      </p:grpSp>
      <p:sp>
        <p:nvSpPr>
          <p:cNvPr id="2" name="Shape 58"/>
          <p:cNvSpPr/>
          <p:nvPr/>
        </p:nvSpPr>
        <p:spPr>
          <a:xfrm>
            <a:off x="1508760" y="4553585"/>
            <a:ext cx="164592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rgbClr val="27AE60"/>
            </a:solidFill>
            <a:prstDash val="solid"/>
          </a:ln>
        </p:spPr>
      </p:sp>
      <p:grpSp>
        <p:nvGrpSpPr>
          <p:cNvPr id="67" name="组合 66"/>
          <p:cNvGrpSpPr/>
          <p:nvPr/>
        </p:nvGrpSpPr>
        <p:grpSpPr>
          <a:xfrm>
            <a:off x="4663440" y="2058035"/>
            <a:ext cx="4114800" cy="2715260"/>
            <a:chOff x="7344" y="3384"/>
            <a:chExt cx="6480" cy="4276"/>
          </a:xfrm>
        </p:grpSpPr>
        <p:sp>
          <p:nvSpPr>
            <p:cNvPr id="45" name="Shape 43"/>
            <p:cNvSpPr/>
            <p:nvPr/>
          </p:nvSpPr>
          <p:spPr>
            <a:xfrm>
              <a:off x="7344" y="3384"/>
              <a:ext cx="6480" cy="4032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65" name="组合 64"/>
            <p:cNvGrpSpPr/>
            <p:nvPr/>
          </p:nvGrpSpPr>
          <p:grpSpPr>
            <a:xfrm>
              <a:off x="7344" y="3384"/>
              <a:ext cx="6480" cy="3498"/>
              <a:chOff x="7344" y="3384"/>
              <a:chExt cx="6480" cy="3498"/>
            </a:xfrm>
          </p:grpSpPr>
          <p:grpSp>
            <p:nvGrpSpPr>
              <p:cNvPr id="64" name="组合 63"/>
              <p:cNvGrpSpPr/>
              <p:nvPr/>
            </p:nvGrpSpPr>
            <p:grpSpPr>
              <a:xfrm>
                <a:off x="7344" y="3384"/>
                <a:ext cx="6480" cy="546"/>
                <a:chOff x="7344" y="3384"/>
                <a:chExt cx="6480" cy="546"/>
              </a:xfrm>
            </p:grpSpPr>
            <p:sp>
              <p:nvSpPr>
                <p:cNvPr id="46" name="Shape 44"/>
                <p:cNvSpPr/>
                <p:nvPr/>
              </p:nvSpPr>
              <p:spPr>
                <a:xfrm>
                  <a:off x="7344" y="3384"/>
                  <a:ext cx="6480" cy="547"/>
                </a:xfrm>
                <a:prstGeom prst="roundRect">
                  <a:avLst>
                    <a:gd name="adj" fmla="val 21053"/>
                  </a:avLst>
                </a:prstGeom>
                <a:solidFill>
                  <a:srgbClr val="17A589"/>
                </a:solidFill>
                <a:ln w="12700">
                  <a:solidFill>
                    <a:srgbClr val="17A589"/>
                  </a:solidFill>
                  <a:prstDash val="solid"/>
                </a:ln>
              </p:spPr>
            </p:sp>
            <p:sp>
              <p:nvSpPr>
                <p:cNvPr id="47" name="Text 45"/>
                <p:cNvSpPr/>
                <p:nvPr/>
              </p:nvSpPr>
              <p:spPr>
                <a:xfrm>
                  <a:off x="7344" y="3384"/>
                  <a:ext cx="6480" cy="54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创建实训项目</a:t>
                  </a:r>
                  <a:endParaRPr lang="en-US" sz="1300" dirty="0"/>
                </a:p>
              </p:txBody>
            </p:sp>
          </p:grpSp>
          <p:sp>
            <p:nvSpPr>
              <p:cNvPr id="48" name="Text 46"/>
              <p:cNvSpPr/>
              <p:nvPr/>
            </p:nvSpPr>
            <p:spPr>
              <a:xfrm>
                <a:off x="7488" y="4104"/>
                <a:ext cx="1584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000" b="1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项目名称：</a:t>
                </a:r>
                <a:endParaRPr lang="en-US" sz="1000" dirty="0"/>
              </a:p>
            </p:txBody>
          </p:sp>
          <p:sp>
            <p:nvSpPr>
              <p:cNvPr id="49" name="Shape 47"/>
              <p:cNvSpPr/>
              <p:nvPr/>
            </p:nvSpPr>
            <p:spPr>
              <a:xfrm>
                <a:off x="9144" y="4104"/>
                <a:ext cx="4320" cy="403"/>
              </a:xfrm>
              <a:prstGeom prst="roundRect">
                <a:avLst>
                  <a:gd name="adj" fmla="val 17857"/>
                </a:avLst>
              </a:prstGeom>
              <a:solidFill>
                <a:srgbClr val="F5F9FF"/>
              </a:solidFill>
              <a:ln w="1270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50" name="Text 48"/>
              <p:cNvSpPr/>
              <p:nvPr/>
            </p:nvSpPr>
            <p:spPr>
              <a:xfrm>
                <a:off x="9288" y="4104"/>
                <a:ext cx="2748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Java 后端综合实训 2025</a:t>
                </a:r>
                <a:endParaRPr lang="en-US" sz="1000" dirty="0"/>
              </a:p>
            </p:txBody>
          </p:sp>
          <p:sp>
            <p:nvSpPr>
              <p:cNvPr id="51" name="Text 49"/>
              <p:cNvSpPr/>
              <p:nvPr/>
            </p:nvSpPr>
            <p:spPr>
              <a:xfrm>
                <a:off x="7488" y="4896"/>
                <a:ext cx="1584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000" b="1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所属课程：</a:t>
                </a:r>
                <a:endParaRPr lang="en-US" sz="1000" dirty="0"/>
              </a:p>
            </p:txBody>
          </p:sp>
          <p:sp>
            <p:nvSpPr>
              <p:cNvPr id="52" name="Shape 50"/>
              <p:cNvSpPr/>
              <p:nvPr/>
            </p:nvSpPr>
            <p:spPr>
              <a:xfrm>
                <a:off x="9144" y="4896"/>
                <a:ext cx="4320" cy="403"/>
              </a:xfrm>
              <a:prstGeom prst="roundRect">
                <a:avLst>
                  <a:gd name="adj" fmla="val 17857"/>
                </a:avLst>
              </a:prstGeom>
              <a:solidFill>
                <a:srgbClr val="F5F9FF"/>
              </a:solidFill>
              <a:ln w="1270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53" name="Text 51"/>
              <p:cNvSpPr/>
              <p:nvPr/>
            </p:nvSpPr>
            <p:spPr>
              <a:xfrm>
                <a:off x="9288" y="4896"/>
                <a:ext cx="2065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软件工程实训</a:t>
                </a:r>
                <a:endParaRPr lang="en-US" sz="1000" dirty="0"/>
              </a:p>
            </p:txBody>
          </p:sp>
          <p:sp>
            <p:nvSpPr>
              <p:cNvPr id="54" name="Text 52"/>
              <p:cNvSpPr/>
              <p:nvPr/>
            </p:nvSpPr>
            <p:spPr>
              <a:xfrm>
                <a:off x="7488" y="5688"/>
                <a:ext cx="1584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000" b="1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截止时间：</a:t>
                </a:r>
                <a:endParaRPr lang="en-US" sz="1000" dirty="0"/>
              </a:p>
            </p:txBody>
          </p:sp>
          <p:sp>
            <p:nvSpPr>
              <p:cNvPr id="55" name="Shape 53"/>
              <p:cNvSpPr/>
              <p:nvPr/>
            </p:nvSpPr>
            <p:spPr>
              <a:xfrm>
                <a:off x="9144" y="5688"/>
                <a:ext cx="4320" cy="403"/>
              </a:xfrm>
              <a:prstGeom prst="roundRect">
                <a:avLst>
                  <a:gd name="adj" fmla="val 17857"/>
                </a:avLst>
              </a:prstGeom>
              <a:solidFill>
                <a:srgbClr val="F5F9FF"/>
              </a:solidFill>
              <a:ln w="1270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56" name="Text 54"/>
              <p:cNvSpPr/>
              <p:nvPr/>
            </p:nvSpPr>
            <p:spPr>
              <a:xfrm>
                <a:off x="9288" y="5688"/>
                <a:ext cx="2230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2025-12-20 23:59</a:t>
                </a:r>
                <a:endParaRPr lang="en-US" sz="1000" dirty="0"/>
              </a:p>
            </p:txBody>
          </p:sp>
          <p:sp>
            <p:nvSpPr>
              <p:cNvPr id="57" name="Text 55"/>
              <p:cNvSpPr/>
              <p:nvPr/>
            </p:nvSpPr>
            <p:spPr>
              <a:xfrm>
                <a:off x="7488" y="6480"/>
                <a:ext cx="1584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000" b="1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关联班级：</a:t>
                </a:r>
                <a:endParaRPr lang="en-US" sz="1000" dirty="0"/>
              </a:p>
            </p:txBody>
          </p:sp>
          <p:sp>
            <p:nvSpPr>
              <p:cNvPr id="58" name="Shape 56"/>
              <p:cNvSpPr/>
              <p:nvPr/>
            </p:nvSpPr>
            <p:spPr>
              <a:xfrm>
                <a:off x="9144" y="6480"/>
                <a:ext cx="4320" cy="403"/>
              </a:xfrm>
              <a:prstGeom prst="roundRect">
                <a:avLst>
                  <a:gd name="adj" fmla="val 17857"/>
                </a:avLst>
              </a:prstGeom>
              <a:solidFill>
                <a:srgbClr val="F5F9FF"/>
              </a:solidFill>
              <a:ln w="1270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59" name="Text 57"/>
              <p:cNvSpPr/>
              <p:nvPr/>
            </p:nvSpPr>
            <p:spPr>
              <a:xfrm>
                <a:off x="9288" y="6480"/>
                <a:ext cx="2230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软工2301、软工2302</a:t>
                </a:r>
                <a:endParaRPr lang="en-US" sz="1000" dirty="0"/>
              </a:p>
            </p:txBody>
          </p:sp>
        </p:grpSp>
        <p:sp>
          <p:nvSpPr>
            <p:cNvPr id="60" name="Shape 58"/>
            <p:cNvSpPr/>
            <p:nvPr/>
          </p:nvSpPr>
          <p:spPr>
            <a:xfrm>
              <a:off x="10224" y="7200"/>
              <a:ext cx="2592" cy="461"/>
            </a:xfrm>
            <a:prstGeom prst="roundRect">
              <a:avLst>
                <a:gd name="adj" fmla="val 25000"/>
              </a:avLst>
            </a:prstGeom>
            <a:solidFill>
              <a:srgbClr val="27AE60"/>
            </a:solidFill>
            <a:ln w="12700">
              <a:solidFill>
                <a:srgbClr val="27AE60"/>
              </a:solidFill>
              <a:prstDash val="solid"/>
            </a:ln>
          </p:spPr>
        </p:sp>
      </p:grpSp>
      <p:sp>
        <p:nvSpPr>
          <p:cNvPr id="61" name="Text 59"/>
          <p:cNvSpPr/>
          <p:nvPr/>
        </p:nvSpPr>
        <p:spPr>
          <a:xfrm>
            <a:off x="6492240" y="4481195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 布</a:t>
            </a:r>
            <a:endParaRPr lang="en-US" sz="12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554480" y="4572000"/>
            <a:ext cx="155448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可复用 · 支持跨项目引用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1554480" y="4446905"/>
            <a:ext cx="155448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学生功能：任务查看与成果提交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一站式查看任务、提交成果、追踪状态 — 版本历史全程可查</a:t>
            </a:r>
            <a:endParaRPr lang="en-US" sz="1300" dirty="0"/>
          </a:p>
        </p:txBody>
      </p:sp>
      <p:grpSp>
        <p:nvGrpSpPr>
          <p:cNvPr id="62" name="组合 61"/>
          <p:cNvGrpSpPr/>
          <p:nvPr/>
        </p:nvGrpSpPr>
        <p:grpSpPr>
          <a:xfrm>
            <a:off x="320040" y="1318260"/>
            <a:ext cx="4023360" cy="1005840"/>
            <a:chOff x="504" y="2232"/>
            <a:chExt cx="6336" cy="1584"/>
          </a:xfrm>
        </p:grpSpPr>
        <p:sp>
          <p:nvSpPr>
            <p:cNvPr id="7" name="Shape 5"/>
            <p:cNvSpPr/>
            <p:nvPr/>
          </p:nvSpPr>
          <p:spPr>
            <a:xfrm>
              <a:off x="504" y="2232"/>
              <a:ext cx="6336" cy="1584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2700">
              <a:solidFill>
                <a:srgbClr val="1A3A5C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59" name="组合 58"/>
            <p:cNvGrpSpPr/>
            <p:nvPr/>
          </p:nvGrpSpPr>
          <p:grpSpPr>
            <a:xfrm>
              <a:off x="720" y="2549"/>
              <a:ext cx="892" cy="892"/>
              <a:chOff x="720" y="2549"/>
              <a:chExt cx="892" cy="892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720" y="2549"/>
                <a:ext cx="893" cy="893"/>
              </a:xfrm>
              <a:prstGeom prst="ellipse">
                <a:avLst/>
              </a:prstGeom>
              <a:solidFill>
                <a:srgbClr val="1A3A5C"/>
              </a:solidFill>
              <a:ln w="12700">
                <a:solidFill>
                  <a:srgbClr val="1A3A5C"/>
                </a:solidFill>
                <a:prstDash val="solid"/>
              </a:ln>
            </p:spPr>
          </p:sp>
          <p:sp>
            <p:nvSpPr>
              <p:cNvPr id="9" name="Text 7"/>
              <p:cNvSpPr/>
              <p:nvPr/>
            </p:nvSpPr>
            <p:spPr>
              <a:xfrm>
                <a:off x="921" y="2549"/>
                <a:ext cx="492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01</a:t>
                </a:r>
                <a:endParaRPr lang="en-US" sz="1600" dirty="0"/>
              </a:p>
            </p:txBody>
          </p:sp>
        </p:grpSp>
        <p:sp>
          <p:nvSpPr>
            <p:cNvPr id="10" name="Text 8"/>
            <p:cNvSpPr/>
            <p:nvPr/>
          </p:nvSpPr>
          <p:spPr>
            <a:xfrm>
              <a:off x="1800" y="2405"/>
              <a:ext cx="4824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查看课程任务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800" y="2894"/>
              <a:ext cx="4824" cy="749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显示项目名称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截止时间与提交状态</a:t>
              </a:r>
              <a:endParaRPr lang="en-US" sz="11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694944" y="2423160"/>
            <a:ext cx="73152" cy="16459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grpSp>
        <p:nvGrpSpPr>
          <p:cNvPr id="63" name="组合 62"/>
          <p:cNvGrpSpPr/>
          <p:nvPr/>
        </p:nvGrpSpPr>
        <p:grpSpPr>
          <a:xfrm>
            <a:off x="320040" y="2488565"/>
            <a:ext cx="4023360" cy="1005840"/>
            <a:chOff x="504" y="4075"/>
            <a:chExt cx="6336" cy="1584"/>
          </a:xfrm>
        </p:grpSpPr>
        <p:sp>
          <p:nvSpPr>
            <p:cNvPr id="13" name="Shape 11"/>
            <p:cNvSpPr/>
            <p:nvPr/>
          </p:nvSpPr>
          <p:spPr>
            <a:xfrm>
              <a:off x="504" y="4075"/>
              <a:ext cx="6336" cy="1584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2700">
              <a:solidFill>
                <a:srgbClr val="2E86C1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60" name="组合 59"/>
            <p:cNvGrpSpPr/>
            <p:nvPr/>
          </p:nvGrpSpPr>
          <p:grpSpPr>
            <a:xfrm>
              <a:off x="720" y="4392"/>
              <a:ext cx="892" cy="892"/>
              <a:chOff x="720" y="4392"/>
              <a:chExt cx="892" cy="892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720" y="4392"/>
                <a:ext cx="893" cy="893"/>
              </a:xfrm>
              <a:prstGeom prst="ellipse">
                <a:avLst/>
              </a:prstGeom>
              <a:solidFill>
                <a:srgbClr val="2E86C1"/>
              </a:solidFill>
              <a:ln w="12700">
                <a:solidFill>
                  <a:srgbClr val="2E86C1"/>
                </a:solidFill>
                <a:prstDash val="solid"/>
              </a:ln>
            </p:spPr>
          </p:sp>
          <p:sp>
            <p:nvSpPr>
              <p:cNvPr id="15" name="Text 13"/>
              <p:cNvSpPr/>
              <p:nvPr/>
            </p:nvSpPr>
            <p:spPr>
              <a:xfrm>
                <a:off x="921" y="4392"/>
                <a:ext cx="492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02</a:t>
                </a:r>
                <a:endParaRPr lang="en-US" sz="1600" dirty="0"/>
              </a:p>
            </p:txBody>
          </p:sp>
        </p:grpSp>
        <p:sp>
          <p:nvSpPr>
            <p:cNvPr id="16" name="Text 14"/>
            <p:cNvSpPr/>
            <p:nvPr/>
          </p:nvSpPr>
          <p:spPr>
            <a:xfrm>
              <a:off x="1800" y="4248"/>
              <a:ext cx="4824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提交成果文件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800" y="4738"/>
              <a:ext cx="4824" cy="749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上传源码包/文档/截图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填写提交说明</a:t>
              </a:r>
              <a:endParaRPr lang="en-US" sz="1100" dirty="0"/>
            </a:p>
          </p:txBody>
        </p:sp>
      </p:grpSp>
      <p:sp>
        <p:nvSpPr>
          <p:cNvPr id="18" name="Shape 16"/>
          <p:cNvSpPr/>
          <p:nvPr/>
        </p:nvSpPr>
        <p:spPr>
          <a:xfrm>
            <a:off x="694944" y="3494532"/>
            <a:ext cx="73152" cy="16459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grpSp>
        <p:nvGrpSpPr>
          <p:cNvPr id="64" name="组合 63"/>
          <p:cNvGrpSpPr/>
          <p:nvPr/>
        </p:nvGrpSpPr>
        <p:grpSpPr>
          <a:xfrm>
            <a:off x="320040" y="3658870"/>
            <a:ext cx="4023360" cy="1005840"/>
            <a:chOff x="504" y="5918"/>
            <a:chExt cx="6336" cy="1584"/>
          </a:xfrm>
        </p:grpSpPr>
        <p:sp>
          <p:nvSpPr>
            <p:cNvPr id="19" name="Shape 17"/>
            <p:cNvSpPr/>
            <p:nvPr/>
          </p:nvSpPr>
          <p:spPr>
            <a:xfrm>
              <a:off x="504" y="5918"/>
              <a:ext cx="6336" cy="1584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2700">
              <a:solidFill>
                <a:srgbClr val="17A589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61" name="组合 60"/>
            <p:cNvGrpSpPr/>
            <p:nvPr/>
          </p:nvGrpSpPr>
          <p:grpSpPr>
            <a:xfrm>
              <a:off x="720" y="6235"/>
              <a:ext cx="892" cy="892"/>
              <a:chOff x="720" y="6235"/>
              <a:chExt cx="892" cy="892"/>
            </a:xfrm>
          </p:grpSpPr>
          <p:sp>
            <p:nvSpPr>
              <p:cNvPr id="20" name="Shape 18"/>
              <p:cNvSpPr/>
              <p:nvPr/>
            </p:nvSpPr>
            <p:spPr>
              <a:xfrm>
                <a:off x="720" y="6235"/>
                <a:ext cx="893" cy="893"/>
              </a:xfrm>
              <a:prstGeom prst="ellipse">
                <a:avLst/>
              </a:prstGeom>
              <a:solidFill>
                <a:srgbClr val="17A589"/>
              </a:solidFill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21" name="Text 19"/>
              <p:cNvSpPr/>
              <p:nvPr/>
            </p:nvSpPr>
            <p:spPr>
              <a:xfrm>
                <a:off x="921" y="6235"/>
                <a:ext cx="492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03</a:t>
                </a:r>
                <a:endParaRPr lang="en-US" sz="1600" dirty="0"/>
              </a:p>
            </p:txBody>
          </p:sp>
        </p:grpSp>
        <p:sp>
          <p:nvSpPr>
            <p:cNvPr id="22" name="Text 20"/>
            <p:cNvSpPr/>
            <p:nvPr/>
          </p:nvSpPr>
          <p:spPr>
            <a:xfrm>
              <a:off x="1800" y="6091"/>
              <a:ext cx="4824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追踪处理状态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800" y="6581"/>
              <a:ext cx="4824" cy="749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待处理→解析中→已评价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版本批次可回溯</a:t>
              </a:r>
              <a:endParaRPr lang="en-US" sz="1100" dirty="0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4617720" y="1314450"/>
            <a:ext cx="4160520" cy="3383280"/>
            <a:chOff x="7272" y="2232"/>
            <a:chExt cx="6552" cy="5328"/>
          </a:xfrm>
        </p:grpSpPr>
        <p:sp>
          <p:nvSpPr>
            <p:cNvPr id="24" name="Shape 22"/>
            <p:cNvSpPr/>
            <p:nvPr/>
          </p:nvSpPr>
          <p:spPr>
            <a:xfrm>
              <a:off x="7272" y="2232"/>
              <a:ext cx="6552" cy="5328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45" name="组合 44"/>
            <p:cNvGrpSpPr/>
            <p:nvPr/>
          </p:nvGrpSpPr>
          <p:grpSpPr>
            <a:xfrm>
              <a:off x="7272" y="2232"/>
              <a:ext cx="6552" cy="576"/>
              <a:chOff x="7272" y="2232"/>
              <a:chExt cx="6552" cy="576"/>
            </a:xfrm>
          </p:grpSpPr>
          <p:sp>
            <p:nvSpPr>
              <p:cNvPr id="25" name="Shape 23"/>
              <p:cNvSpPr/>
              <p:nvPr/>
            </p:nvSpPr>
            <p:spPr>
              <a:xfrm>
                <a:off x="7272" y="2232"/>
                <a:ext cx="6552" cy="576"/>
              </a:xfrm>
              <a:prstGeom prst="roundRect">
                <a:avLst>
                  <a:gd name="adj" fmla="val 20000"/>
                </a:avLst>
              </a:prstGeom>
              <a:solidFill>
                <a:srgbClr val="2E86C1"/>
              </a:solidFill>
              <a:ln w="12700">
                <a:solidFill>
                  <a:srgbClr val="2E86C1"/>
                </a:solidFill>
                <a:prstDash val="solid"/>
              </a:ln>
            </p:spPr>
          </p:sp>
          <p:sp>
            <p:nvSpPr>
              <p:cNvPr id="26" name="Text 24"/>
              <p:cNvSpPr/>
              <p:nvPr/>
            </p:nvSpPr>
            <p:spPr>
              <a:xfrm>
                <a:off x="8828" y="2232"/>
                <a:ext cx="3440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提交批次记录</a:t>
                </a:r>
                <a:endParaRPr lang="en-US" sz="1300" dirty="0"/>
              </a:p>
            </p:txBody>
          </p:sp>
        </p:grpSp>
      </p:grpSp>
      <p:grpSp>
        <p:nvGrpSpPr>
          <p:cNvPr id="55" name="组合 54"/>
          <p:cNvGrpSpPr/>
          <p:nvPr/>
        </p:nvGrpSpPr>
        <p:grpSpPr>
          <a:xfrm>
            <a:off x="4754880" y="1901825"/>
            <a:ext cx="3840480" cy="594360"/>
            <a:chOff x="7488" y="2995"/>
            <a:chExt cx="6048" cy="936"/>
          </a:xfrm>
        </p:grpSpPr>
        <p:grpSp>
          <p:nvGrpSpPr>
            <p:cNvPr id="52" name="组合 51"/>
            <p:cNvGrpSpPr/>
            <p:nvPr/>
          </p:nvGrpSpPr>
          <p:grpSpPr>
            <a:xfrm>
              <a:off x="7488" y="2995"/>
              <a:ext cx="6048" cy="936"/>
              <a:chOff x="7488" y="2995"/>
              <a:chExt cx="6048" cy="936"/>
            </a:xfrm>
          </p:grpSpPr>
          <p:sp>
            <p:nvSpPr>
              <p:cNvPr id="27" name="Shape 25"/>
              <p:cNvSpPr/>
              <p:nvPr/>
            </p:nvSpPr>
            <p:spPr>
              <a:xfrm>
                <a:off x="7488" y="2995"/>
                <a:ext cx="6048" cy="936"/>
              </a:xfrm>
              <a:prstGeom prst="roundRect">
                <a:avLst>
                  <a:gd name="adj" fmla="val 12308"/>
                </a:avLst>
              </a:prstGeom>
              <a:solidFill>
                <a:srgbClr val="EAFAF1"/>
              </a:solidFill>
              <a:ln w="19050">
                <a:solidFill>
                  <a:srgbClr val="27AE60"/>
                </a:solidFill>
                <a:prstDash val="solid"/>
              </a:ln>
            </p:spPr>
          </p:sp>
          <p:sp>
            <p:nvSpPr>
              <p:cNvPr id="28" name="Text 26"/>
              <p:cNvSpPr/>
              <p:nvPr/>
            </p:nvSpPr>
            <p:spPr>
              <a:xfrm>
                <a:off x="7704" y="3110"/>
                <a:ext cx="1440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批次 #3</a:t>
                </a:r>
                <a:endParaRPr lang="en-US" sz="1200" dirty="0"/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7704" y="3499"/>
                <a:ext cx="2592" cy="2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50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12-19 22:31</a:t>
                </a:r>
                <a:endParaRPr lang="en-US" sz="950" dirty="0"/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10800" y="3211"/>
              <a:ext cx="2160" cy="402"/>
              <a:chOff x="10800" y="3211"/>
              <a:chExt cx="2160" cy="402"/>
            </a:xfrm>
          </p:grpSpPr>
          <p:sp>
            <p:nvSpPr>
              <p:cNvPr id="30" name="Shape 28"/>
              <p:cNvSpPr/>
              <p:nvPr/>
            </p:nvSpPr>
            <p:spPr>
              <a:xfrm>
                <a:off x="10800" y="3211"/>
                <a:ext cx="2160" cy="403"/>
              </a:xfrm>
              <a:prstGeom prst="roundRect">
                <a:avLst>
                  <a:gd name="adj" fmla="val 21429"/>
                </a:avLst>
              </a:prstGeom>
              <a:solidFill>
                <a:srgbClr val="27AE60"/>
              </a:solidFill>
              <a:ln w="12700">
                <a:solidFill>
                  <a:srgbClr val="27AE60"/>
                </a:solidFill>
                <a:prstDash val="solid"/>
              </a:ln>
            </p:spPr>
          </p:sp>
          <p:sp>
            <p:nvSpPr>
              <p:cNvPr id="31" name="Text 29"/>
              <p:cNvSpPr/>
              <p:nvPr/>
            </p:nvSpPr>
            <p:spPr>
              <a:xfrm>
                <a:off x="11177" y="3211"/>
                <a:ext cx="1406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已评价</a:t>
                </a:r>
                <a:endParaRPr lang="en-US" sz="950" dirty="0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9360" y="3226"/>
              <a:ext cx="1152" cy="360"/>
              <a:chOff x="9360" y="3226"/>
              <a:chExt cx="1152" cy="360"/>
            </a:xfrm>
          </p:grpSpPr>
          <p:sp>
            <p:nvSpPr>
              <p:cNvPr id="32" name="Shape 30"/>
              <p:cNvSpPr/>
              <p:nvPr/>
            </p:nvSpPr>
            <p:spPr>
              <a:xfrm>
                <a:off x="9360" y="3226"/>
                <a:ext cx="1152" cy="360"/>
              </a:xfrm>
              <a:prstGeom prst="roundRect">
                <a:avLst>
                  <a:gd name="adj" fmla="val 24000"/>
                </a:avLst>
              </a:prstGeom>
              <a:solidFill>
                <a:srgbClr val="E67E22"/>
              </a:solidFill>
              <a:ln w="12700">
                <a:solidFill>
                  <a:srgbClr val="E67E22"/>
                </a:solidFill>
                <a:prstDash val="solid"/>
              </a:ln>
            </p:spPr>
          </p:sp>
          <p:sp>
            <p:nvSpPr>
              <p:cNvPr id="33" name="Text 31"/>
              <p:cNvSpPr/>
              <p:nvPr/>
            </p:nvSpPr>
            <p:spPr>
              <a:xfrm>
                <a:off x="9513" y="3226"/>
                <a:ext cx="846" cy="36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5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评价依据</a:t>
                </a:r>
                <a:endParaRPr lang="en-US" sz="850" dirty="0"/>
              </a:p>
            </p:txBody>
          </p:sp>
        </p:grpSp>
      </p:grpSp>
      <p:grpSp>
        <p:nvGrpSpPr>
          <p:cNvPr id="49" name="组合 48"/>
          <p:cNvGrpSpPr/>
          <p:nvPr/>
        </p:nvGrpSpPr>
        <p:grpSpPr>
          <a:xfrm>
            <a:off x="4754880" y="2633345"/>
            <a:ext cx="3840480" cy="594360"/>
            <a:chOff x="7488" y="4147"/>
            <a:chExt cx="6048" cy="936"/>
          </a:xfrm>
        </p:grpSpPr>
        <p:grpSp>
          <p:nvGrpSpPr>
            <p:cNvPr id="47" name="组合 46"/>
            <p:cNvGrpSpPr/>
            <p:nvPr/>
          </p:nvGrpSpPr>
          <p:grpSpPr>
            <a:xfrm>
              <a:off x="7488" y="4147"/>
              <a:ext cx="6048" cy="936"/>
              <a:chOff x="7488" y="4147"/>
              <a:chExt cx="6048" cy="936"/>
            </a:xfrm>
          </p:grpSpPr>
          <p:sp>
            <p:nvSpPr>
              <p:cNvPr id="34" name="Shape 32"/>
              <p:cNvSpPr/>
              <p:nvPr/>
            </p:nvSpPr>
            <p:spPr>
              <a:xfrm>
                <a:off x="7488" y="4147"/>
                <a:ext cx="6048" cy="936"/>
              </a:xfrm>
              <a:prstGeom prst="roundRect">
                <a:avLst>
                  <a:gd name="adj" fmla="val 12308"/>
                </a:avLst>
              </a:prstGeom>
              <a:solidFill>
                <a:srgbClr val="F8FBFF"/>
              </a:solidFill>
              <a:ln w="6350">
                <a:solidFill>
                  <a:srgbClr val="8FA8C0"/>
                </a:solidFill>
                <a:prstDash val="solid"/>
              </a:ln>
            </p:spPr>
          </p:sp>
          <p:sp>
            <p:nvSpPr>
              <p:cNvPr id="35" name="Text 33"/>
              <p:cNvSpPr/>
              <p:nvPr/>
            </p:nvSpPr>
            <p:spPr>
              <a:xfrm>
                <a:off x="7704" y="4262"/>
                <a:ext cx="1440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批次 #2</a:t>
                </a:r>
                <a:endParaRPr lang="en-US" sz="1200" dirty="0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7704" y="4651"/>
                <a:ext cx="2592" cy="2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50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12-18 15:42</a:t>
                </a:r>
                <a:endParaRPr lang="en-US" sz="950" dirty="0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10800" y="4363"/>
              <a:ext cx="2160" cy="402"/>
              <a:chOff x="10800" y="4363"/>
              <a:chExt cx="2160" cy="402"/>
            </a:xfrm>
          </p:grpSpPr>
          <p:sp>
            <p:nvSpPr>
              <p:cNvPr id="37" name="Shape 35"/>
              <p:cNvSpPr/>
              <p:nvPr/>
            </p:nvSpPr>
            <p:spPr>
              <a:xfrm>
                <a:off x="10800" y="4363"/>
                <a:ext cx="2160" cy="403"/>
              </a:xfrm>
              <a:prstGeom prst="roundRect">
                <a:avLst>
                  <a:gd name="adj" fmla="val 21429"/>
                </a:avLst>
              </a:prstGeom>
              <a:solidFill>
                <a:srgbClr val="E8E8E8"/>
              </a:solidFill>
              <a:ln w="12700">
                <a:solidFill>
                  <a:srgbClr val="E0E0E0"/>
                </a:solidFill>
                <a:prstDash val="solid"/>
              </a:ln>
            </p:spPr>
          </p:sp>
          <p:sp>
            <p:nvSpPr>
              <p:cNvPr id="38" name="Text 36"/>
              <p:cNvSpPr/>
              <p:nvPr/>
            </p:nvSpPr>
            <p:spPr>
              <a:xfrm>
                <a:off x="11177" y="4363"/>
                <a:ext cx="1406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b="1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历史版本</a:t>
                </a:r>
                <a:endParaRPr lang="en-US" sz="950" dirty="0"/>
              </a:p>
            </p:txBody>
          </p:sp>
        </p:grpSp>
      </p:grpSp>
      <p:grpSp>
        <p:nvGrpSpPr>
          <p:cNvPr id="51" name="组合 50"/>
          <p:cNvGrpSpPr/>
          <p:nvPr/>
        </p:nvGrpSpPr>
        <p:grpSpPr>
          <a:xfrm>
            <a:off x="4754880" y="3364865"/>
            <a:ext cx="3840480" cy="594360"/>
            <a:chOff x="7488" y="5299"/>
            <a:chExt cx="6048" cy="936"/>
          </a:xfrm>
        </p:grpSpPr>
        <p:sp>
          <p:nvSpPr>
            <p:cNvPr id="39" name="Shape 37"/>
            <p:cNvSpPr/>
            <p:nvPr/>
          </p:nvSpPr>
          <p:spPr>
            <a:xfrm>
              <a:off x="7488" y="5299"/>
              <a:ext cx="6048" cy="936"/>
            </a:xfrm>
            <a:prstGeom prst="roundRect">
              <a:avLst>
                <a:gd name="adj" fmla="val 12308"/>
              </a:avLst>
            </a:prstGeom>
            <a:solidFill>
              <a:srgbClr val="F8FBFF"/>
            </a:solidFill>
            <a:ln w="6350">
              <a:solidFill>
                <a:srgbClr val="8FA8C0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7704" y="5414"/>
              <a:ext cx="1440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批次 #1</a:t>
              </a:r>
              <a:endParaRPr lang="en-US" sz="12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7704" y="5803"/>
              <a:ext cx="25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12-15 09:10</a:t>
              </a:r>
              <a:endParaRPr lang="en-US" sz="950" dirty="0"/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10800" y="5515"/>
              <a:ext cx="2160" cy="402"/>
              <a:chOff x="10800" y="5515"/>
              <a:chExt cx="2160" cy="402"/>
            </a:xfrm>
          </p:grpSpPr>
          <p:sp>
            <p:nvSpPr>
              <p:cNvPr id="42" name="Shape 40"/>
              <p:cNvSpPr/>
              <p:nvPr/>
            </p:nvSpPr>
            <p:spPr>
              <a:xfrm>
                <a:off x="10800" y="5515"/>
                <a:ext cx="2160" cy="403"/>
              </a:xfrm>
              <a:prstGeom prst="roundRect">
                <a:avLst>
                  <a:gd name="adj" fmla="val 21429"/>
                </a:avLst>
              </a:prstGeom>
              <a:solidFill>
                <a:srgbClr val="E8E8E8"/>
              </a:solidFill>
              <a:ln w="12700">
                <a:solidFill>
                  <a:srgbClr val="E0E0E0"/>
                </a:solidFill>
                <a:prstDash val="solid"/>
              </a:ln>
            </p:spPr>
          </p:sp>
          <p:sp>
            <p:nvSpPr>
              <p:cNvPr id="43" name="Text 41"/>
              <p:cNvSpPr/>
              <p:nvPr/>
            </p:nvSpPr>
            <p:spPr>
              <a:xfrm>
                <a:off x="11177" y="5515"/>
                <a:ext cx="1406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b="1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历史版本</a:t>
                </a:r>
                <a:endParaRPr lang="en-US" sz="950" dirty="0"/>
              </a:p>
            </p:txBody>
          </p:sp>
        </p:grpSp>
      </p:grp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grpSp>
        <p:nvGrpSpPr>
          <p:cNvPr id="58" name="组合 57"/>
          <p:cNvGrpSpPr/>
          <p:nvPr/>
        </p:nvGrpSpPr>
        <p:grpSpPr>
          <a:xfrm>
            <a:off x="5308600" y="4515485"/>
            <a:ext cx="2733040" cy="292100"/>
            <a:chOff x="8360" y="7273"/>
            <a:chExt cx="4304" cy="460"/>
          </a:xfrm>
        </p:grpSpPr>
        <p:sp>
          <p:nvSpPr>
            <p:cNvPr id="2" name="Shape 58"/>
            <p:cNvSpPr/>
            <p:nvPr/>
          </p:nvSpPr>
          <p:spPr>
            <a:xfrm>
              <a:off x="8449" y="7273"/>
              <a:ext cx="4193" cy="461"/>
            </a:xfrm>
            <a:prstGeom prst="roundRect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rgbClr val="27AE60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8360" y="7315"/>
              <a:ext cx="4304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17A589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以最新批次为评价依据，历史版本可查不可改</a:t>
              </a:r>
              <a:endParaRPr lang="en-US" sz="1000" dirty="0"/>
            </a:p>
          </p:txBody>
        </p: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698119" y="2324100"/>
            <a:ext cx="73152" cy="16459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成果处理流水线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教师一键触发 · 系统后台异步执行 · 失败可重试</a:t>
            </a:r>
            <a:endParaRPr lang="en-US" sz="1300" dirty="0"/>
          </a:p>
        </p:txBody>
      </p:sp>
      <p:grpSp>
        <p:nvGrpSpPr>
          <p:cNvPr id="82" name="组合 81"/>
          <p:cNvGrpSpPr/>
          <p:nvPr/>
        </p:nvGrpSpPr>
        <p:grpSpPr>
          <a:xfrm>
            <a:off x="320040" y="1280160"/>
            <a:ext cx="2743200" cy="3389630"/>
            <a:chOff x="504" y="2232"/>
            <a:chExt cx="4320" cy="5256"/>
          </a:xfrm>
        </p:grpSpPr>
        <p:sp>
          <p:nvSpPr>
            <p:cNvPr id="7" name="Shape 5"/>
            <p:cNvSpPr/>
            <p:nvPr/>
          </p:nvSpPr>
          <p:spPr>
            <a:xfrm>
              <a:off x="504" y="2232"/>
              <a:ext cx="4320" cy="5256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70" name="组合 69"/>
            <p:cNvGrpSpPr/>
            <p:nvPr/>
          </p:nvGrpSpPr>
          <p:grpSpPr>
            <a:xfrm>
              <a:off x="504" y="2232"/>
              <a:ext cx="4320" cy="576"/>
              <a:chOff x="504" y="2232"/>
              <a:chExt cx="4320" cy="576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504" y="2232"/>
                <a:ext cx="4320" cy="576"/>
              </a:xfrm>
              <a:prstGeom prst="roundRect">
                <a:avLst>
                  <a:gd name="adj" fmla="val 20000"/>
                </a:avLst>
              </a:prstGeom>
              <a:solidFill>
                <a:srgbClr val="1A3A5C"/>
              </a:solidFill>
              <a:ln w="12700">
                <a:solidFill>
                  <a:srgbClr val="1A3A5C"/>
                </a:solidFill>
                <a:prstDash val="solid"/>
              </a:ln>
            </p:spPr>
          </p:sp>
          <p:sp>
            <p:nvSpPr>
              <p:cNvPr id="9" name="Text 7"/>
              <p:cNvSpPr/>
              <p:nvPr/>
            </p:nvSpPr>
            <p:spPr>
              <a:xfrm>
                <a:off x="1000" y="2232"/>
                <a:ext cx="332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教师操作界面</a:t>
                </a:r>
                <a:endParaRPr lang="en-US" sz="1200" dirty="0"/>
              </a:p>
            </p:txBody>
          </p:sp>
        </p:grpSp>
        <p:sp>
          <p:nvSpPr>
            <p:cNvPr id="10" name="Text 8"/>
            <p:cNvSpPr/>
            <p:nvPr/>
          </p:nvSpPr>
          <p:spPr>
            <a:xfrm>
              <a:off x="720" y="2995"/>
              <a:ext cx="3888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成果管理</a:t>
              </a:r>
              <a:endParaRPr lang="en-US" sz="1100" dirty="0"/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648" y="3485"/>
              <a:ext cx="3960" cy="490"/>
              <a:chOff x="648" y="3485"/>
              <a:chExt cx="3960" cy="490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648" y="3485"/>
                <a:ext cx="3960" cy="490"/>
              </a:xfrm>
              <a:prstGeom prst="rect">
                <a:avLst/>
              </a:prstGeom>
              <a:solidFill>
                <a:srgbClr val="F5F9FF"/>
              </a:solidFill>
              <a:ln w="635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12" name="Text 10"/>
              <p:cNvSpPr/>
              <p:nvPr/>
            </p:nvSpPr>
            <p:spPr>
              <a:xfrm>
                <a:off x="749" y="3485"/>
                <a:ext cx="1008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张三</a:t>
                </a:r>
                <a:endParaRPr lang="en-US" sz="10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1800" y="3485"/>
                <a:ext cx="144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软工2301</a:t>
                </a:r>
                <a:endParaRPr lang="en-US" sz="1000" dirty="0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3456" y="3571"/>
                <a:ext cx="1008" cy="316"/>
                <a:chOff x="3456" y="3571"/>
                <a:chExt cx="1008" cy="316"/>
              </a:xfrm>
            </p:grpSpPr>
            <p:sp>
              <p:nvSpPr>
                <p:cNvPr id="14" name="Shape 12"/>
                <p:cNvSpPr/>
                <p:nvPr/>
              </p:nvSpPr>
              <p:spPr>
                <a:xfrm>
                  <a:off x="3456" y="3571"/>
                  <a:ext cx="1008" cy="317"/>
                </a:xfrm>
                <a:prstGeom prst="roundRect">
                  <a:avLst>
                    <a:gd name="adj" fmla="val 22727"/>
                  </a:avLst>
                </a:prstGeom>
                <a:solidFill>
                  <a:srgbClr val="27AE60"/>
                </a:solidFill>
                <a:ln w="12700">
                  <a:solidFill>
                    <a:srgbClr val="27AE60"/>
                  </a:solidFill>
                  <a:prstDash val="solid"/>
                </a:ln>
              </p:spPr>
            </p:sp>
            <p:sp>
              <p:nvSpPr>
                <p:cNvPr id="15" name="Text 13"/>
                <p:cNvSpPr/>
                <p:nvPr/>
              </p:nvSpPr>
              <p:spPr>
                <a:xfrm>
                  <a:off x="3584" y="3571"/>
                  <a:ext cx="7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已提交</a:t>
                  </a:r>
                  <a:endParaRPr lang="en-US" sz="850" dirty="0"/>
                </a:p>
              </p:txBody>
            </p:sp>
          </p:grpSp>
        </p:grpSp>
        <p:grpSp>
          <p:nvGrpSpPr>
            <p:cNvPr id="75" name="组合 74"/>
            <p:cNvGrpSpPr/>
            <p:nvPr/>
          </p:nvGrpSpPr>
          <p:grpSpPr>
            <a:xfrm>
              <a:off x="648" y="4032"/>
              <a:ext cx="3960" cy="490"/>
              <a:chOff x="648" y="4032"/>
              <a:chExt cx="3960" cy="490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648" y="4032"/>
                <a:ext cx="3960" cy="49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17" name="Text 15"/>
              <p:cNvSpPr/>
              <p:nvPr/>
            </p:nvSpPr>
            <p:spPr>
              <a:xfrm>
                <a:off x="749" y="4032"/>
                <a:ext cx="1008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李四</a:t>
                </a:r>
                <a:endParaRPr lang="en-US" sz="1000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1800" y="4032"/>
                <a:ext cx="144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软工2301</a:t>
                </a:r>
                <a:endParaRPr lang="en-US" sz="1000" dirty="0"/>
              </a:p>
            </p:txBody>
          </p:sp>
          <p:grpSp>
            <p:nvGrpSpPr>
              <p:cNvPr id="72" name="组合 71"/>
              <p:cNvGrpSpPr/>
              <p:nvPr/>
            </p:nvGrpSpPr>
            <p:grpSpPr>
              <a:xfrm>
                <a:off x="3456" y="4118"/>
                <a:ext cx="1008" cy="316"/>
                <a:chOff x="3456" y="4118"/>
                <a:chExt cx="1008" cy="316"/>
              </a:xfrm>
            </p:grpSpPr>
            <p:sp>
              <p:nvSpPr>
                <p:cNvPr id="19" name="Shape 17"/>
                <p:cNvSpPr/>
                <p:nvPr/>
              </p:nvSpPr>
              <p:spPr>
                <a:xfrm>
                  <a:off x="3456" y="4118"/>
                  <a:ext cx="1008" cy="317"/>
                </a:xfrm>
                <a:prstGeom prst="roundRect">
                  <a:avLst>
                    <a:gd name="adj" fmla="val 22727"/>
                  </a:avLst>
                </a:prstGeom>
                <a:solidFill>
                  <a:srgbClr val="27AE60"/>
                </a:solidFill>
                <a:ln w="12700">
                  <a:solidFill>
                    <a:srgbClr val="27AE60"/>
                  </a:solidFill>
                  <a:prstDash val="solid"/>
                </a:ln>
              </p:spPr>
            </p:sp>
            <p:sp>
              <p:nvSpPr>
                <p:cNvPr id="20" name="Text 18"/>
                <p:cNvSpPr/>
                <p:nvPr/>
              </p:nvSpPr>
              <p:spPr>
                <a:xfrm>
                  <a:off x="3560" y="4118"/>
                  <a:ext cx="800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已提交</a:t>
                  </a:r>
                  <a:endParaRPr lang="en-US" sz="850" dirty="0"/>
                </a:p>
              </p:txBody>
            </p:sp>
          </p:grpSp>
        </p:grpSp>
        <p:grpSp>
          <p:nvGrpSpPr>
            <p:cNvPr id="80" name="组合 79"/>
            <p:cNvGrpSpPr/>
            <p:nvPr/>
          </p:nvGrpSpPr>
          <p:grpSpPr>
            <a:xfrm>
              <a:off x="648" y="4579"/>
              <a:ext cx="3960" cy="490"/>
              <a:chOff x="648" y="4579"/>
              <a:chExt cx="3960" cy="490"/>
            </a:xfrm>
          </p:grpSpPr>
          <p:sp>
            <p:nvSpPr>
              <p:cNvPr id="21" name="Shape 19"/>
              <p:cNvSpPr/>
              <p:nvPr/>
            </p:nvSpPr>
            <p:spPr>
              <a:xfrm>
                <a:off x="648" y="4579"/>
                <a:ext cx="3960" cy="490"/>
              </a:xfrm>
              <a:prstGeom prst="rect">
                <a:avLst/>
              </a:prstGeom>
              <a:solidFill>
                <a:srgbClr val="F5F9FF"/>
              </a:solidFill>
              <a:ln w="635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22" name="Text 20"/>
              <p:cNvSpPr/>
              <p:nvPr/>
            </p:nvSpPr>
            <p:spPr>
              <a:xfrm>
                <a:off x="749" y="4579"/>
                <a:ext cx="1008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王五</a:t>
                </a:r>
                <a:endParaRPr lang="en-US" sz="1000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1800" y="4579"/>
                <a:ext cx="144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软工2302</a:t>
                </a:r>
                <a:endParaRPr lang="en-US" sz="1000" dirty="0"/>
              </a:p>
            </p:txBody>
          </p:sp>
          <p:grpSp>
            <p:nvGrpSpPr>
              <p:cNvPr id="73" name="组合 72"/>
              <p:cNvGrpSpPr/>
              <p:nvPr/>
            </p:nvGrpSpPr>
            <p:grpSpPr>
              <a:xfrm>
                <a:off x="3456" y="4666"/>
                <a:ext cx="1008" cy="316"/>
                <a:chOff x="3456" y="4666"/>
                <a:chExt cx="1008" cy="316"/>
              </a:xfrm>
            </p:grpSpPr>
            <p:sp>
              <p:nvSpPr>
                <p:cNvPr id="24" name="Shape 22"/>
                <p:cNvSpPr/>
                <p:nvPr/>
              </p:nvSpPr>
              <p:spPr>
                <a:xfrm>
                  <a:off x="3456" y="4666"/>
                  <a:ext cx="1008" cy="317"/>
                </a:xfrm>
                <a:prstGeom prst="roundRect">
                  <a:avLst>
                    <a:gd name="adj" fmla="val 22727"/>
                  </a:avLst>
                </a:prstGeom>
                <a:solidFill>
                  <a:srgbClr val="8FA8C0"/>
                </a:solidFill>
                <a:ln w="12700">
                  <a:solidFill>
                    <a:srgbClr val="8FA8C0"/>
                  </a:solidFill>
                  <a:prstDash val="solid"/>
                </a:ln>
              </p:spPr>
            </p:sp>
            <p:sp>
              <p:nvSpPr>
                <p:cNvPr id="25" name="Text 23"/>
                <p:cNvSpPr/>
                <p:nvPr/>
              </p:nvSpPr>
              <p:spPr>
                <a:xfrm>
                  <a:off x="3664" y="4666"/>
                  <a:ext cx="59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待提交</a:t>
                  </a:r>
                  <a:endParaRPr lang="en-US" sz="850" dirty="0"/>
                </a:p>
              </p:txBody>
            </p:sp>
          </p:grpSp>
        </p:grpSp>
        <p:sp>
          <p:nvSpPr>
            <p:cNvPr id="26" name="Shape 24"/>
            <p:cNvSpPr/>
            <p:nvPr/>
          </p:nvSpPr>
          <p:spPr>
            <a:xfrm>
              <a:off x="792" y="5443"/>
              <a:ext cx="3744" cy="605"/>
            </a:xfrm>
            <a:prstGeom prst="roundRect">
              <a:avLst>
                <a:gd name="adj" fmla="val 23810"/>
              </a:avLst>
            </a:prstGeom>
            <a:solidFill>
              <a:srgbClr val="E67E22"/>
            </a:solidFill>
            <a:ln w="12700">
              <a:solidFill>
                <a:srgbClr val="E67E22"/>
              </a:solidFill>
              <a:prstDash val="solid"/>
            </a:ln>
            <a:effectLst>
              <a:outerShdw blurRad="76200" dist="25400" dir="5400000" algn="bl" rotWithShape="0">
                <a:srgbClr val="D35400">
                  <a:alpha val="40000"/>
                </a:srgbClr>
              </a:outerShdw>
            </a:effectLst>
          </p:spPr>
        </p:sp>
        <p:sp>
          <p:nvSpPr>
            <p:cNvPr id="27" name="Text 25"/>
            <p:cNvSpPr/>
            <p:nvPr/>
          </p:nvSpPr>
          <p:spPr>
            <a:xfrm>
              <a:off x="1184" y="5443"/>
              <a:ext cx="2960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▶  一键开始处理</a:t>
              </a:r>
              <a:endParaRPr lang="en-US" sz="1300" dirty="0"/>
            </a:p>
          </p:txBody>
        </p:sp>
      </p:grpSp>
      <p:sp>
        <p:nvSpPr>
          <p:cNvPr id="28" name="Shape 26"/>
          <p:cNvSpPr/>
          <p:nvPr/>
        </p:nvSpPr>
        <p:spPr>
          <a:xfrm>
            <a:off x="3063240" y="3108960"/>
            <a:ext cx="32004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9992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840480" y="2255520"/>
            <a:ext cx="73152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grpSp>
        <p:nvGrpSpPr>
          <p:cNvPr id="60" name="组合 59"/>
          <p:cNvGrpSpPr/>
          <p:nvPr/>
        </p:nvGrpSpPr>
        <p:grpSpPr>
          <a:xfrm>
            <a:off x="3520440" y="1249680"/>
            <a:ext cx="5257800" cy="1005840"/>
            <a:chOff x="5544" y="2232"/>
            <a:chExt cx="8280" cy="1584"/>
          </a:xfrm>
        </p:grpSpPr>
        <p:grpSp>
          <p:nvGrpSpPr>
            <p:cNvPr id="59" name="组合 58"/>
            <p:cNvGrpSpPr/>
            <p:nvPr/>
          </p:nvGrpSpPr>
          <p:grpSpPr>
            <a:xfrm>
              <a:off x="5544" y="2232"/>
              <a:ext cx="8280" cy="1584"/>
              <a:chOff x="5544" y="2232"/>
              <a:chExt cx="8280" cy="1584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5544" y="2232"/>
                <a:ext cx="8280" cy="1584"/>
                <a:chOff x="5544" y="2232"/>
                <a:chExt cx="8280" cy="1584"/>
              </a:xfrm>
            </p:grpSpPr>
            <p:sp>
              <p:nvSpPr>
                <p:cNvPr id="30" name="Shape 28"/>
                <p:cNvSpPr/>
                <p:nvPr/>
              </p:nvSpPr>
              <p:spPr>
                <a:xfrm>
                  <a:off x="5544" y="2232"/>
                  <a:ext cx="8280" cy="1584"/>
                </a:xfrm>
                <a:prstGeom prst="roundRect">
                  <a:avLst>
                    <a:gd name="adj" fmla="val 9091"/>
                  </a:avLst>
                </a:prstGeom>
                <a:solidFill>
                  <a:srgbClr val="FFFFFF"/>
                </a:solidFill>
                <a:ln w="12700">
                  <a:solidFill>
                    <a:srgbClr val="2E86C1"/>
                  </a:solidFill>
                  <a:prstDash val="solid"/>
                </a:ln>
                <a:effectLst>
                  <a:outerShdw blurRad="63500" dist="25400" dir="5400000" algn="bl" rotWithShape="0">
                    <a:srgbClr val="C0D0E0">
                      <a:alpha val="25000"/>
                    </a:srgbClr>
                  </a:outerShdw>
                </a:effectLst>
              </p:spPr>
            </p:sp>
            <p:grpSp>
              <p:nvGrpSpPr>
                <p:cNvPr id="56" name="组合 55"/>
                <p:cNvGrpSpPr/>
                <p:nvPr/>
              </p:nvGrpSpPr>
              <p:grpSpPr>
                <a:xfrm>
                  <a:off x="5635" y="2520"/>
                  <a:ext cx="1132" cy="1036"/>
                  <a:chOff x="5635" y="2520"/>
                  <a:chExt cx="1132" cy="1036"/>
                </a:xfrm>
              </p:grpSpPr>
              <p:sp>
                <p:nvSpPr>
                  <p:cNvPr id="31" name="Shape 29"/>
                  <p:cNvSpPr/>
                  <p:nvPr/>
                </p:nvSpPr>
                <p:spPr>
                  <a:xfrm>
                    <a:off x="5731" y="2520"/>
                    <a:ext cx="1037" cy="1037"/>
                  </a:xfrm>
                  <a:prstGeom prst="ellipse">
                    <a:avLst/>
                  </a:prstGeom>
                  <a:solidFill>
                    <a:srgbClr val="2E86C1"/>
                  </a:solidFill>
                  <a:ln w="12700">
                    <a:solidFill>
                      <a:srgbClr val="2E86C1"/>
                    </a:solidFill>
                    <a:prstDash val="solid"/>
                  </a:ln>
                </p:spPr>
              </p:sp>
              <p:sp>
                <p:nvSpPr>
                  <p:cNvPr id="32" name="Text 30"/>
                  <p:cNvSpPr/>
                  <p:nvPr/>
                </p:nvSpPr>
                <p:spPr>
                  <a:xfrm>
                    <a:off x="5635" y="2520"/>
                    <a:ext cx="1037" cy="103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2200" dirty="0">
                        <a:solidFill>
                          <a:srgbClr val="000000"/>
                        </a:solidFill>
                      </a:rPr>
                      <a:t>📄</a:t>
                    </a:r>
                    <a:endParaRPr lang="en-US" sz="2200" dirty="0"/>
                  </a:p>
                </p:txBody>
              </p:sp>
            </p:grpSp>
            <p:sp>
              <p:nvSpPr>
                <p:cNvPr id="33" name="Text 31"/>
                <p:cNvSpPr/>
                <p:nvPr/>
              </p:nvSpPr>
              <p:spPr>
                <a:xfrm>
                  <a:off x="6941" y="2376"/>
                  <a:ext cx="6480" cy="49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400" b="1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01 解析任务</a:t>
                  </a:r>
                  <a:endParaRPr lang="en-US" sz="1400" dirty="0"/>
                </a:p>
              </p:txBody>
            </p:sp>
            <p:sp>
              <p:nvSpPr>
                <p:cNvPr id="34" name="Text 32"/>
                <p:cNvSpPr/>
                <p:nvPr/>
              </p:nvSpPr>
              <p:spPr>
                <a:xfrm>
                  <a:off x="6941" y="2866"/>
                  <a:ext cx="6480" cy="7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文档结构提取</a:t>
                  </a:r>
                  <a:endParaRPr lang="en-US" sz="1100" dirty="0"/>
                </a:p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ZIP目录分析</a:t>
                  </a:r>
                  <a:endParaRPr lang="en-US" sz="1100" dirty="0"/>
                </a:p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完整性检查</a:t>
                  </a:r>
                  <a:endParaRPr lang="en-US" sz="1100" dirty="0"/>
                </a:p>
              </p:txBody>
            </p:sp>
          </p:grpSp>
          <p:sp>
            <p:nvSpPr>
              <p:cNvPr id="36" name="Shape 34"/>
              <p:cNvSpPr/>
              <p:nvPr/>
            </p:nvSpPr>
            <p:spPr>
              <a:xfrm>
                <a:off x="12384" y="2736"/>
                <a:ext cx="1296" cy="374"/>
              </a:xfrm>
              <a:prstGeom prst="roundRect">
                <a:avLst>
                  <a:gd name="adj" fmla="val 23077"/>
                </a:avLst>
              </a:prstGeom>
              <a:solidFill>
                <a:srgbClr val="27AE60"/>
              </a:solidFill>
              <a:ln w="12700">
                <a:solidFill>
                  <a:srgbClr val="27AE60"/>
                </a:solidFill>
                <a:prstDash val="soli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7" name="Text 35"/>
            <p:cNvSpPr/>
            <p:nvPr/>
          </p:nvSpPr>
          <p:spPr>
            <a:xfrm>
              <a:off x="12705" y="2736"/>
              <a:ext cx="654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完成</a:t>
              </a:r>
              <a:endParaRPr lang="en-US" sz="900" dirty="0"/>
            </a:p>
          </p:txBody>
        </p:sp>
      </p:grpSp>
      <p:sp>
        <p:nvSpPr>
          <p:cNvPr id="43" name="Shape 41"/>
          <p:cNvSpPr/>
          <p:nvPr/>
        </p:nvSpPr>
        <p:spPr>
          <a:xfrm>
            <a:off x="3840480" y="3462528"/>
            <a:ext cx="73152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grpSp>
        <p:nvGrpSpPr>
          <p:cNvPr id="64" name="组合 63"/>
          <p:cNvGrpSpPr/>
          <p:nvPr/>
        </p:nvGrpSpPr>
        <p:grpSpPr>
          <a:xfrm>
            <a:off x="3520440" y="2456815"/>
            <a:ext cx="5257800" cy="1005840"/>
            <a:chOff x="5544" y="4133"/>
            <a:chExt cx="8280" cy="1584"/>
          </a:xfrm>
        </p:grpSpPr>
        <p:grpSp>
          <p:nvGrpSpPr>
            <p:cNvPr id="62" name="组合 61"/>
            <p:cNvGrpSpPr/>
            <p:nvPr/>
          </p:nvGrpSpPr>
          <p:grpSpPr>
            <a:xfrm>
              <a:off x="5544" y="4133"/>
              <a:ext cx="8280" cy="1584"/>
              <a:chOff x="5544" y="4133"/>
              <a:chExt cx="8280" cy="1584"/>
            </a:xfrm>
          </p:grpSpPr>
          <p:sp>
            <p:nvSpPr>
              <p:cNvPr id="38" name="Shape 36"/>
              <p:cNvSpPr/>
              <p:nvPr/>
            </p:nvSpPr>
            <p:spPr>
              <a:xfrm>
                <a:off x="5544" y="4133"/>
                <a:ext cx="8280" cy="1584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12700">
                <a:solidFill>
                  <a:srgbClr val="17A589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grpSp>
            <p:nvGrpSpPr>
              <p:cNvPr id="61" name="组合 60"/>
              <p:cNvGrpSpPr/>
              <p:nvPr/>
            </p:nvGrpSpPr>
            <p:grpSpPr>
              <a:xfrm>
                <a:off x="5635" y="4421"/>
                <a:ext cx="1132" cy="1036"/>
                <a:chOff x="5635" y="4421"/>
                <a:chExt cx="1132" cy="1036"/>
              </a:xfrm>
            </p:grpSpPr>
            <p:sp>
              <p:nvSpPr>
                <p:cNvPr id="39" name="Shape 37"/>
                <p:cNvSpPr/>
                <p:nvPr/>
              </p:nvSpPr>
              <p:spPr>
                <a:xfrm>
                  <a:off x="5731" y="4421"/>
                  <a:ext cx="1037" cy="1037"/>
                </a:xfrm>
                <a:prstGeom prst="ellipse">
                  <a:avLst/>
                </a:prstGeom>
                <a:solidFill>
                  <a:srgbClr val="17A589"/>
                </a:solidFill>
                <a:ln w="12700">
                  <a:solidFill>
                    <a:srgbClr val="17A589"/>
                  </a:solidFill>
                  <a:prstDash val="solid"/>
                </a:ln>
              </p:spPr>
            </p:sp>
            <p:sp>
              <p:nvSpPr>
                <p:cNvPr id="40" name="Text 38"/>
                <p:cNvSpPr/>
                <p:nvPr/>
              </p:nvSpPr>
              <p:spPr>
                <a:xfrm>
                  <a:off x="5635" y="4421"/>
                  <a:ext cx="1037" cy="10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🤖</a:t>
                  </a:r>
                  <a:endParaRPr lang="en-US" sz="2200" dirty="0"/>
                </a:p>
              </p:txBody>
            </p:sp>
          </p:grpSp>
          <p:sp>
            <p:nvSpPr>
              <p:cNvPr id="41" name="Text 39"/>
              <p:cNvSpPr/>
              <p:nvPr/>
            </p:nvSpPr>
            <p:spPr>
              <a:xfrm>
                <a:off x="6941" y="4277"/>
                <a:ext cx="648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02 核验任务</a:t>
                </a:r>
                <a:endParaRPr lang="en-US" sz="1400" dirty="0"/>
              </a:p>
            </p:txBody>
          </p:sp>
          <p:sp>
            <p:nvSpPr>
              <p:cNvPr id="42" name="Text 40"/>
              <p:cNvSpPr/>
              <p:nvPr/>
            </p:nvSpPr>
            <p:spPr>
              <a:xfrm>
                <a:off x="6941" y="4766"/>
                <a:ext cx="6480" cy="7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大模型语义分析</a:t>
                </a:r>
                <a:endParaRPr lang="en-US" sz="1100" dirty="0"/>
              </a:p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完成度评估</a:t>
                </a:r>
                <a:endParaRPr lang="en-US" sz="1100" dirty="0"/>
              </a:p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建议生成</a:t>
                </a:r>
                <a:endParaRPr lang="en-US" sz="1100" dirty="0"/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12384" y="4637"/>
              <a:ext cx="1296" cy="374"/>
              <a:chOff x="12384" y="4637"/>
              <a:chExt cx="1296" cy="374"/>
            </a:xfrm>
          </p:grpSpPr>
          <p:sp>
            <p:nvSpPr>
              <p:cNvPr id="44" name="Shape 42"/>
              <p:cNvSpPr/>
              <p:nvPr/>
            </p:nvSpPr>
            <p:spPr>
              <a:xfrm>
                <a:off x="12384" y="4637"/>
                <a:ext cx="1296" cy="374"/>
              </a:xfrm>
              <a:prstGeom prst="roundRect">
                <a:avLst>
                  <a:gd name="adj" fmla="val 23077"/>
                </a:avLst>
              </a:prstGeom>
              <a:solidFill>
                <a:srgbClr val="27AE60"/>
              </a:solidFill>
              <a:ln w="12700">
                <a:solidFill>
                  <a:srgbClr val="27AE60"/>
                </a:solidFill>
                <a:prstDash val="solid"/>
              </a:ln>
            </p:spPr>
          </p:sp>
          <p:sp>
            <p:nvSpPr>
              <p:cNvPr id="45" name="Text 43"/>
              <p:cNvSpPr/>
              <p:nvPr/>
            </p:nvSpPr>
            <p:spPr>
              <a:xfrm>
                <a:off x="12564" y="4637"/>
                <a:ext cx="936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完成</a:t>
                </a:r>
                <a:endParaRPr lang="en-US" sz="900" dirty="0"/>
              </a:p>
            </p:txBody>
          </p:sp>
        </p:grpSp>
      </p:grpSp>
      <p:grpSp>
        <p:nvGrpSpPr>
          <p:cNvPr id="68" name="组合 67"/>
          <p:cNvGrpSpPr/>
          <p:nvPr/>
        </p:nvGrpSpPr>
        <p:grpSpPr>
          <a:xfrm>
            <a:off x="3520440" y="3663696"/>
            <a:ext cx="5257800" cy="1005840"/>
            <a:chOff x="5544" y="6034"/>
            <a:chExt cx="8280" cy="1584"/>
          </a:xfrm>
        </p:grpSpPr>
        <p:grpSp>
          <p:nvGrpSpPr>
            <p:cNvPr id="66" name="组合 65"/>
            <p:cNvGrpSpPr/>
            <p:nvPr/>
          </p:nvGrpSpPr>
          <p:grpSpPr>
            <a:xfrm>
              <a:off x="5544" y="6034"/>
              <a:ext cx="8280" cy="1584"/>
              <a:chOff x="5544" y="6034"/>
              <a:chExt cx="8280" cy="1584"/>
            </a:xfrm>
          </p:grpSpPr>
          <p:sp>
            <p:nvSpPr>
              <p:cNvPr id="46" name="Shape 44"/>
              <p:cNvSpPr/>
              <p:nvPr/>
            </p:nvSpPr>
            <p:spPr>
              <a:xfrm>
                <a:off x="5544" y="6034"/>
                <a:ext cx="8280" cy="1584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12700">
                <a:solidFill>
                  <a:srgbClr val="E67E22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grpSp>
            <p:nvGrpSpPr>
              <p:cNvPr id="65" name="组合 64"/>
              <p:cNvGrpSpPr/>
              <p:nvPr/>
            </p:nvGrpSpPr>
            <p:grpSpPr>
              <a:xfrm>
                <a:off x="5647" y="6322"/>
                <a:ext cx="1120" cy="1048"/>
                <a:chOff x="5647" y="6322"/>
                <a:chExt cx="1120" cy="1048"/>
              </a:xfrm>
            </p:grpSpPr>
            <p:sp>
              <p:nvSpPr>
                <p:cNvPr id="47" name="Shape 45"/>
                <p:cNvSpPr/>
                <p:nvPr/>
              </p:nvSpPr>
              <p:spPr>
                <a:xfrm>
                  <a:off x="5731" y="6322"/>
                  <a:ext cx="1037" cy="1037"/>
                </a:xfrm>
                <a:prstGeom prst="ellipse">
                  <a:avLst/>
                </a:prstGeom>
                <a:solidFill>
                  <a:srgbClr val="E67E22"/>
                </a:solidFill>
                <a:ln w="12700">
                  <a:solidFill>
                    <a:srgbClr val="E67E22"/>
                  </a:solidFill>
                  <a:prstDash val="solid"/>
                </a:ln>
              </p:spPr>
            </p:sp>
            <p:sp>
              <p:nvSpPr>
                <p:cNvPr id="48" name="Text 46"/>
                <p:cNvSpPr/>
                <p:nvPr/>
              </p:nvSpPr>
              <p:spPr>
                <a:xfrm>
                  <a:off x="5647" y="6334"/>
                  <a:ext cx="1037" cy="10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📊</a:t>
                  </a:r>
                  <a:endParaRPr lang="en-US" sz="2200" dirty="0"/>
                </a:p>
              </p:txBody>
            </p:sp>
          </p:grpSp>
          <p:sp>
            <p:nvSpPr>
              <p:cNvPr id="49" name="Text 47"/>
              <p:cNvSpPr/>
              <p:nvPr/>
            </p:nvSpPr>
            <p:spPr>
              <a:xfrm>
                <a:off x="6941" y="6094"/>
                <a:ext cx="648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03 评分任务</a:t>
                </a:r>
                <a:endParaRPr lang="en-US" sz="1400" dirty="0"/>
              </a:p>
            </p:txBody>
          </p:sp>
          <p:sp>
            <p:nvSpPr>
              <p:cNvPr id="50" name="Text 48"/>
              <p:cNvSpPr/>
              <p:nvPr/>
            </p:nvSpPr>
            <p:spPr>
              <a:xfrm>
                <a:off x="6941" y="6583"/>
                <a:ext cx="6480" cy="7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规则计算初评</a:t>
                </a:r>
                <a:endParaRPr lang="en-US" sz="1100" dirty="0"/>
              </a:p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指标分值生成</a:t>
                </a:r>
                <a:endParaRPr lang="en-US" sz="1100" dirty="0"/>
              </a:p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写入评分草稿</a:t>
                </a:r>
                <a:endParaRPr lang="en-US" sz="1100" dirty="0"/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12384" y="6538"/>
              <a:ext cx="1296" cy="374"/>
              <a:chOff x="12384" y="6538"/>
              <a:chExt cx="1296" cy="374"/>
            </a:xfrm>
          </p:grpSpPr>
          <p:sp>
            <p:nvSpPr>
              <p:cNvPr id="51" name="Shape 49"/>
              <p:cNvSpPr/>
              <p:nvPr/>
            </p:nvSpPr>
            <p:spPr>
              <a:xfrm>
                <a:off x="12384" y="6538"/>
                <a:ext cx="1296" cy="374"/>
              </a:xfrm>
              <a:prstGeom prst="roundRect">
                <a:avLst>
                  <a:gd name="adj" fmla="val 23077"/>
                </a:avLst>
              </a:prstGeom>
              <a:solidFill>
                <a:srgbClr val="27AE60"/>
              </a:solidFill>
              <a:ln w="12700">
                <a:solidFill>
                  <a:srgbClr val="27AE60"/>
                </a:solidFill>
                <a:prstDash val="solid"/>
              </a:ln>
            </p:spPr>
          </p:sp>
          <p:sp>
            <p:nvSpPr>
              <p:cNvPr id="52" name="Text 50"/>
              <p:cNvSpPr/>
              <p:nvPr/>
            </p:nvSpPr>
            <p:spPr>
              <a:xfrm>
                <a:off x="12492" y="6538"/>
                <a:ext cx="1080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完成</a:t>
                </a:r>
                <a:endParaRPr lang="en-US" sz="900" dirty="0"/>
              </a:p>
            </p:txBody>
          </p:sp>
        </p:grpSp>
      </p:grp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4653915" y="4535805"/>
            <a:ext cx="3536950" cy="292735"/>
            <a:chOff x="7671" y="7273"/>
            <a:chExt cx="5750" cy="461"/>
          </a:xfrm>
        </p:grpSpPr>
        <p:sp>
          <p:nvSpPr>
            <p:cNvPr id="2" name="Shape 58"/>
            <p:cNvSpPr/>
            <p:nvPr/>
          </p:nvSpPr>
          <p:spPr>
            <a:xfrm>
              <a:off x="7671" y="7273"/>
              <a:ext cx="5750" cy="461"/>
            </a:xfrm>
            <a:prstGeom prst="roundRect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rgbClr val="27AE60"/>
              </a:solidFill>
              <a:prstDash val="soli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Text 42"/>
            <p:cNvSpPr/>
            <p:nvPr/>
          </p:nvSpPr>
          <p:spPr>
            <a:xfrm>
              <a:off x="7803" y="7315"/>
              <a:ext cx="5418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失败时记录原因，支持单任务重试，不影响其他批次</a:t>
              </a:r>
              <a:endParaRPr lang="en-US" sz="1000" dirty="0"/>
            </a:p>
          </p:txBody>
        </p:sp>
      </p:grp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静态解析能力：结构化提取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读取结构与文本 — 不编译、不运行代码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78408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文档解析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提取文字内容、标题层级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段落结构与摘要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96312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87752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代码包解析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87752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解压ZIP · 提取目录树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读取代码文本（不运行）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72584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30952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🖼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64024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图片处理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64024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可选OCR文字识别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图片列表与缩略信息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48856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07224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7224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940296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完整性检查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0296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对照提交物要求核查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文件类型与数量是否齐全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200400"/>
            <a:ext cx="8503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200400"/>
            <a:ext cx="8503920" cy="329184"/>
          </a:xfrm>
          <a:prstGeom prst="roundRect">
            <a:avLst>
              <a:gd name="adj" fmla="val 22222"/>
            </a:avLst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200400"/>
            <a:ext cx="8503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解析结果示例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61188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目录结构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822192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📁 project-root/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📁 src/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📄 Main.java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📄 Service.java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📄 README.md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📄 design.docx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46120" y="361188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文档摘要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46120" y="3822192"/>
            <a:ext cx="2560320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标题层级：3级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段落数：12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字数：2,847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关键词：登录模块、数据库设计、接口文档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89320" y="361188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完整性检查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3822192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源码包 (.zip)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402336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设计文档 (.docx)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4224528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运行截图 (≥3张)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4425696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缺失 测试报告</a:t>
            </a:r>
            <a:endParaRPr lang="en-US" sz="1000" dirty="0"/>
          </a:p>
        </p:txBody>
      </p: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58953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大模型辅助核验：语义理解与评价建议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建议仅供参考 — 教师复核为准，建议有据可查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 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65376"/>
            <a:ext cx="109728" cy="10972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288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项目要求（教师配置）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109728" cy="10972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762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解析结果（文档+目录）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80360" y="2048256"/>
            <a:ext cx="13716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5224" y="195681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5468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41732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大模型分析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1865376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18288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完成度评估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37560" y="2212848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1762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关键要求覆盖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37560" y="2560320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252374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逻辑问题提示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715000" y="2048256"/>
            <a:ext cx="13716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195681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8932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141732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 出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1865376"/>
            <a:ext cx="109728" cy="1097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8288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结构化评价建议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2212848"/>
            <a:ext cx="109728" cy="1097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1762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可追溯依据引用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72200" y="2560320"/>
            <a:ext cx="109728" cy="1097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252374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初始评分建议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0040" y="2971800"/>
            <a:ext cx="8503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2971800"/>
            <a:ext cx="8503920" cy="329184"/>
          </a:xfrm>
          <a:prstGeom prst="roundRect">
            <a:avLst>
              <a:gd name="adj" fmla="val 22222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971800"/>
            <a:ext cx="8503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核验结果示例  —  大模型评价建议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11480" y="3383280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AFC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383280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" y="3383280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功能需求覆盖度：文档中明确描述了登录、查询、导出三项核心功能，基本满足项目要求。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11480" y="3776472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776472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2960" y="3776472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代码结构：目录中未发现独立的 service 层文件，业务逻辑可能集中在 controller，建议关注分层架构。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11480" y="4169664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AFC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169664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22960" y="4169664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测试报告缺失：提交物要求中包含测试报告，当前批次未检测到对应文件。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以上为 AI 辅助建议，教师可接受、修改或忽略，不影响最终成绩</a:t>
            </a:r>
            <a:endParaRPr lang="en-US" sz="95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325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教师复核与终评发布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自动评分不是成绩 — 教师复核后发布，全程留有评分历史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45336"/>
            <a:ext cx="438912" cy="43891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4533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47218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查看评价依据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6479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 + AI核验建议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逐条可查、有据可依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130552"/>
            <a:ext cx="54864" cy="15544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8600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14016"/>
            <a:ext cx="438912" cy="43891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1401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34086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调整指标得分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63347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逐项修改分值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实时显示总分变化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999232"/>
            <a:ext cx="54864" cy="15544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15468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82696"/>
            <a:ext cx="438912" cy="43891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8269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20954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填写教师评语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50215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整体评价 + 改进建议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保存草稿不立即生效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867912"/>
            <a:ext cx="54864" cy="15544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02336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151376"/>
            <a:ext cx="438912" cy="43891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5137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07822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发布终评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37083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确认后发布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学生方可查看正式结果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43400" y="1417320"/>
            <a:ext cx="44348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43400" y="1417320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141732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评分管理  —  张三 · 批次#3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62272" y="184708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760720" y="184708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满分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27648" y="184708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AI建议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40880" y="184708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教师分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07408" y="2103120"/>
            <a:ext cx="3337560" cy="329184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2103120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代码结构完整性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42432" y="2103120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20分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27648" y="2103120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022592" y="2148840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22592" y="214884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407408" y="2487168"/>
            <a:ext cx="3337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2487168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功能需求覆盖度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742432" y="2487168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35分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27648" y="2487168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022592" y="2532888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22592" y="2532888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407408" y="2871216"/>
            <a:ext cx="3337560" cy="329184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0" y="2871216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文档规范程度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742432" y="2871216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25分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327648" y="2871216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022592" y="2916936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22592" y="2916936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407408" y="3255264"/>
            <a:ext cx="3337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80560" y="3255264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代码可读性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742432" y="3255264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20分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327648" y="3255264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022592" y="3300984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22592" y="3300984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407408" y="3657600"/>
            <a:ext cx="33375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365760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合计总分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236208" y="3657600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 / 100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029200" y="4160520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1E8449">
                <a:alpha val="3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029200" y="416052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发布终评</a:t>
            </a:r>
            <a:endParaRPr lang="en-US" sz="13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29165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学生查看评价结果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教师发布后方可查看 — 有总分、有依据、有改进方向</a:t>
            </a:r>
            <a:endParaRPr lang="en-US" sz="1300" dirty="0"/>
          </a:p>
        </p:txBody>
      </p:sp>
      <p:grpSp>
        <p:nvGrpSpPr>
          <p:cNvPr id="53" name="组合 52"/>
          <p:cNvGrpSpPr/>
          <p:nvPr/>
        </p:nvGrpSpPr>
        <p:grpSpPr>
          <a:xfrm>
            <a:off x="320040" y="1363980"/>
            <a:ext cx="3291840" cy="749300"/>
            <a:chOff x="504" y="2232"/>
            <a:chExt cx="5184" cy="1180"/>
          </a:xfrm>
        </p:grpSpPr>
        <p:sp>
          <p:nvSpPr>
            <p:cNvPr id="7" name="Shape 5"/>
            <p:cNvSpPr/>
            <p:nvPr/>
          </p:nvSpPr>
          <p:spPr>
            <a:xfrm>
              <a:off x="504" y="2232"/>
              <a:ext cx="5184" cy="1181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48" name="组合 47"/>
            <p:cNvGrpSpPr/>
            <p:nvPr/>
          </p:nvGrpSpPr>
          <p:grpSpPr>
            <a:xfrm>
              <a:off x="632" y="2347"/>
              <a:ext cx="981" cy="893"/>
              <a:chOff x="632" y="2347"/>
              <a:chExt cx="981" cy="893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720" y="2347"/>
                <a:ext cx="893" cy="893"/>
              </a:xfrm>
              <a:prstGeom prst="roundRect">
                <a:avLst>
                  <a:gd name="adj" fmla="val 16129"/>
                </a:avLst>
              </a:prstGeom>
              <a:solidFill>
                <a:srgbClr val="1A3A5C"/>
              </a:solidFill>
              <a:ln w="12700">
                <a:solidFill>
                  <a:srgbClr val="1A3A5C"/>
                </a:solidFill>
                <a:prstDash val="solid"/>
              </a:ln>
            </p:spPr>
          </p:sp>
          <p:sp>
            <p:nvSpPr>
              <p:cNvPr id="9" name="Text 7"/>
              <p:cNvSpPr/>
              <p:nvPr/>
            </p:nvSpPr>
            <p:spPr>
              <a:xfrm>
                <a:off x="632" y="2347"/>
                <a:ext cx="893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🔒</a:t>
                </a:r>
                <a:endParaRPr lang="en-US" sz="2000" dirty="0"/>
              </a:p>
            </p:txBody>
          </p:sp>
        </p:grpSp>
        <p:sp>
          <p:nvSpPr>
            <p:cNvPr id="10" name="Text 8"/>
            <p:cNvSpPr/>
            <p:nvPr/>
          </p:nvSpPr>
          <p:spPr>
            <a:xfrm>
              <a:off x="1800" y="2347"/>
              <a:ext cx="374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仅发布后可见</a:t>
              </a:r>
              <a:endParaRPr lang="en-US" sz="13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800" y="2765"/>
              <a:ext cx="374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教师未发布前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结果对学生不可见</a:t>
              </a:r>
              <a:endParaRPr lang="en-US" sz="1050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20040" y="2259965"/>
            <a:ext cx="3291840" cy="749300"/>
            <a:chOff x="504" y="3643"/>
            <a:chExt cx="5184" cy="1180"/>
          </a:xfrm>
        </p:grpSpPr>
        <p:sp>
          <p:nvSpPr>
            <p:cNvPr id="12" name="Shape 10"/>
            <p:cNvSpPr/>
            <p:nvPr/>
          </p:nvSpPr>
          <p:spPr>
            <a:xfrm>
              <a:off x="504" y="3643"/>
              <a:ext cx="5184" cy="1181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50" name="组合 49"/>
            <p:cNvGrpSpPr/>
            <p:nvPr/>
          </p:nvGrpSpPr>
          <p:grpSpPr>
            <a:xfrm>
              <a:off x="632" y="3758"/>
              <a:ext cx="980" cy="892"/>
              <a:chOff x="632" y="3758"/>
              <a:chExt cx="980" cy="892"/>
            </a:xfrm>
          </p:grpSpPr>
          <p:sp>
            <p:nvSpPr>
              <p:cNvPr id="13" name="Shape 11"/>
              <p:cNvSpPr/>
              <p:nvPr/>
            </p:nvSpPr>
            <p:spPr>
              <a:xfrm>
                <a:off x="720" y="3758"/>
                <a:ext cx="893" cy="893"/>
              </a:xfrm>
              <a:prstGeom prst="roundRect">
                <a:avLst>
                  <a:gd name="adj" fmla="val 16129"/>
                </a:avLst>
              </a:prstGeom>
              <a:solidFill>
                <a:srgbClr val="2E86C1"/>
              </a:solidFill>
              <a:ln w="12700">
                <a:solidFill>
                  <a:srgbClr val="2E86C1"/>
                </a:solidFill>
                <a:prstDash val="solid"/>
              </a:ln>
            </p:spPr>
          </p:sp>
          <p:sp>
            <p:nvSpPr>
              <p:cNvPr id="14" name="Text 12"/>
              <p:cNvSpPr/>
              <p:nvPr/>
            </p:nvSpPr>
            <p:spPr>
              <a:xfrm>
                <a:off x="632" y="3758"/>
                <a:ext cx="893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📊</a:t>
                </a:r>
                <a:endParaRPr lang="en-US" sz="2000" dirty="0"/>
              </a:p>
            </p:txBody>
          </p:sp>
        </p:grpSp>
        <p:sp>
          <p:nvSpPr>
            <p:cNvPr id="15" name="Text 13"/>
            <p:cNvSpPr/>
            <p:nvPr/>
          </p:nvSpPr>
          <p:spPr>
            <a:xfrm>
              <a:off x="1800" y="3758"/>
              <a:ext cx="374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总分与指标分</a:t>
              </a:r>
              <a:endParaRPr lang="en-US" sz="13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800" y="4176"/>
              <a:ext cx="374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总分 + 各维度得分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清晰呈现评分结构</a:t>
              </a:r>
              <a:endParaRPr lang="en-US" sz="1050" dirty="0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20040" y="3155950"/>
            <a:ext cx="3291840" cy="749300"/>
            <a:chOff x="504" y="5054"/>
            <a:chExt cx="5184" cy="1180"/>
          </a:xfrm>
        </p:grpSpPr>
        <p:sp>
          <p:nvSpPr>
            <p:cNvPr id="17" name="Shape 15"/>
            <p:cNvSpPr/>
            <p:nvPr/>
          </p:nvSpPr>
          <p:spPr>
            <a:xfrm>
              <a:off x="504" y="5054"/>
              <a:ext cx="5184" cy="1181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51" name="组合 50"/>
            <p:cNvGrpSpPr/>
            <p:nvPr/>
          </p:nvGrpSpPr>
          <p:grpSpPr>
            <a:xfrm>
              <a:off x="640" y="5170"/>
              <a:ext cx="972" cy="892"/>
              <a:chOff x="640" y="5170"/>
              <a:chExt cx="972" cy="892"/>
            </a:xfrm>
          </p:grpSpPr>
          <p:sp>
            <p:nvSpPr>
              <p:cNvPr id="18" name="Shape 16"/>
              <p:cNvSpPr/>
              <p:nvPr/>
            </p:nvSpPr>
            <p:spPr>
              <a:xfrm>
                <a:off x="720" y="5170"/>
                <a:ext cx="893" cy="893"/>
              </a:xfrm>
              <a:prstGeom prst="roundRect">
                <a:avLst>
                  <a:gd name="adj" fmla="val 16129"/>
                </a:avLst>
              </a:prstGeom>
              <a:solidFill>
                <a:srgbClr val="17A589"/>
              </a:solidFill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19" name="Text 17"/>
              <p:cNvSpPr/>
              <p:nvPr/>
            </p:nvSpPr>
            <p:spPr>
              <a:xfrm>
                <a:off x="640" y="5170"/>
                <a:ext cx="893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💬</a:t>
                </a:r>
                <a:endParaRPr lang="en-US" sz="2000" dirty="0"/>
              </a:p>
            </p:txBody>
          </p:sp>
        </p:grpSp>
        <p:sp>
          <p:nvSpPr>
            <p:cNvPr id="20" name="Text 18"/>
            <p:cNvSpPr/>
            <p:nvPr/>
          </p:nvSpPr>
          <p:spPr>
            <a:xfrm>
              <a:off x="1800" y="5170"/>
              <a:ext cx="374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教师评语</a:t>
              </a:r>
              <a:endParaRPr lang="en-US" sz="13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1800" y="5587"/>
              <a:ext cx="374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整体评价与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改进方向建议</a:t>
              </a:r>
              <a:endParaRPr lang="en-US" sz="1050" dirty="0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320040" y="4052570"/>
            <a:ext cx="3291840" cy="749300"/>
            <a:chOff x="504" y="6466"/>
            <a:chExt cx="5184" cy="1180"/>
          </a:xfrm>
        </p:grpSpPr>
        <p:sp>
          <p:nvSpPr>
            <p:cNvPr id="22" name="Shape 20"/>
            <p:cNvSpPr/>
            <p:nvPr/>
          </p:nvSpPr>
          <p:spPr>
            <a:xfrm>
              <a:off x="504" y="6466"/>
              <a:ext cx="5184" cy="1181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52" name="组合 51"/>
            <p:cNvGrpSpPr/>
            <p:nvPr/>
          </p:nvGrpSpPr>
          <p:grpSpPr>
            <a:xfrm>
              <a:off x="616" y="6581"/>
              <a:ext cx="996" cy="892"/>
              <a:chOff x="616" y="6581"/>
              <a:chExt cx="996" cy="892"/>
            </a:xfrm>
          </p:grpSpPr>
          <p:sp>
            <p:nvSpPr>
              <p:cNvPr id="23" name="Shape 21"/>
              <p:cNvSpPr/>
              <p:nvPr/>
            </p:nvSpPr>
            <p:spPr>
              <a:xfrm>
                <a:off x="720" y="6581"/>
                <a:ext cx="893" cy="893"/>
              </a:xfrm>
              <a:prstGeom prst="roundRect">
                <a:avLst>
                  <a:gd name="adj" fmla="val 16129"/>
                </a:avLst>
              </a:prstGeom>
              <a:solidFill>
                <a:srgbClr val="E67E22"/>
              </a:solidFill>
              <a:ln w="12700">
                <a:solidFill>
                  <a:srgbClr val="E67E22"/>
                </a:solidFill>
                <a:prstDash val="solid"/>
              </a:ln>
            </p:spPr>
          </p:sp>
          <p:sp>
            <p:nvSpPr>
              <p:cNvPr id="24" name="Text 22"/>
              <p:cNvSpPr/>
              <p:nvPr/>
            </p:nvSpPr>
            <p:spPr>
              <a:xfrm>
                <a:off x="616" y="6581"/>
                <a:ext cx="893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📎</a:t>
                </a:r>
                <a:endParaRPr lang="en-US" sz="2000" dirty="0"/>
              </a:p>
            </p:txBody>
          </p:sp>
        </p:grpSp>
        <p:sp>
          <p:nvSpPr>
            <p:cNvPr id="25" name="Text 23"/>
            <p:cNvSpPr/>
            <p:nvPr/>
          </p:nvSpPr>
          <p:spPr>
            <a:xfrm>
              <a:off x="1800" y="6581"/>
              <a:ext cx="374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评价依据可查</a:t>
              </a:r>
              <a:endParaRPr lang="en-US" sz="13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800" y="6998"/>
              <a:ext cx="374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解析摘要与AI建议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作为背景参考展示</a:t>
              </a:r>
              <a:endParaRPr lang="en-US" sz="1050" dirty="0"/>
            </a:p>
          </p:txBody>
        </p:sp>
      </p:grpSp>
      <p:sp>
        <p:nvSpPr>
          <p:cNvPr id="27" name="Shape 25"/>
          <p:cNvSpPr/>
          <p:nvPr/>
        </p:nvSpPr>
        <p:spPr>
          <a:xfrm>
            <a:off x="3794760" y="1417320"/>
            <a:ext cx="49834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94760" y="1417320"/>
            <a:ext cx="4983480" cy="365760"/>
          </a:xfrm>
          <a:prstGeom prst="roundRect">
            <a:avLst>
              <a:gd name="adj" fmla="val 20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141732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我的评价结果  —  Java后端综合实训2025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60520" y="1874520"/>
            <a:ext cx="1143000" cy="11430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1920240"/>
            <a:ext cx="1143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160520" y="2578608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 100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40680" y="1874520"/>
            <a:ext cx="3063240" cy="274320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18745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205472" y="1874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16/20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40680" y="2185416"/>
            <a:ext cx="3063240" cy="274320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218541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功能覆盖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205472" y="218541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30/35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40680" y="2496312"/>
            <a:ext cx="3063240" cy="274320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32120" y="24963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文档规范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205472" y="249631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22/25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40680" y="2807208"/>
            <a:ext cx="3063240" cy="274320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280720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可读性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205472" y="28072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15/20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86200" y="3182112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DE7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05072" y="321868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A6D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教师评语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005072" y="3456432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整体完成度较好，功能模块划分清晰。建议加强分层架构实践，service层逻辑与controller适当分离。测试覆盖补充后整体质量可进一步提升。</a:t>
            </a:r>
            <a:endParaRPr lang="en-US" sz="105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635"/>
            <a:ext cx="9144000" cy="5145035"/>
            <a:chOff x="0" y="-1"/>
            <a:chExt cx="14400" cy="810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4400" cy="81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-1"/>
              <a:ext cx="14400" cy="8101"/>
            </a:xfrm>
            <a:prstGeom prst="rect">
              <a:avLst/>
            </a:prstGeom>
            <a:gradFill flip="none" rotWithShape="1">
              <a:gsLst>
                <a:gs pos="3000">
                  <a:srgbClr val="102A63">
                    <a:alpha val="84000"/>
                  </a:srgbClr>
                </a:gs>
                <a:gs pos="85000">
                  <a:srgbClr val="070D31">
                    <a:alpha val="69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0" y="0"/>
              <a:ext cx="14400" cy="8101"/>
            </a:xfrm>
            <a:prstGeom prst="rect">
              <a:avLst/>
            </a:prstGeom>
            <a:gradFill flip="none" rotWithShape="1">
              <a:gsLst>
                <a:gs pos="17000">
                  <a:srgbClr val="00275C">
                    <a:alpha val="51000"/>
                  </a:srgbClr>
                </a:gs>
                <a:gs pos="100000">
                  <a:srgbClr val="00275C">
                    <a:alpha val="32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rot="0">
            <a:off x="-445135" y="-760730"/>
            <a:ext cx="11322050" cy="7949565"/>
            <a:chOff x="-431" y="-4215"/>
            <a:chExt cx="17830" cy="12519"/>
          </a:xfrm>
        </p:grpSpPr>
        <p:sp>
          <p:nvSpPr>
            <p:cNvPr id="13" name="矩形 12"/>
            <p:cNvSpPr/>
            <p:nvPr/>
          </p:nvSpPr>
          <p:spPr>
            <a:xfrm>
              <a:off x="-431" y="-262"/>
              <a:ext cx="14901" cy="8566"/>
            </a:xfrm>
            <a:prstGeom prst="rect">
              <a:avLst/>
            </a:prstGeom>
            <a:blipFill dpi="0" rotWithShape="1">
              <a:blip r:embed="rId2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5" y="-4215"/>
              <a:ext cx="11484" cy="11484"/>
            </a:xfrm>
            <a:prstGeom prst="rect">
              <a:avLst/>
            </a:prstGeom>
          </p:spPr>
        </p:pic>
      </p:grp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报表、监控与部署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数据沉淀，持续可见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407352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报表中心与教学质量画像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评价数据自动汇聚 — 无需手工整理，支持导出归档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7249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447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615" y="1444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88720" y="148132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个人评价报告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773936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单学生成绩单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含各指标得分明细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27832" y="1371600"/>
            <a:ext cx="27249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14447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0692" y="1444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096512" y="148132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班级统计报表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96512" y="1773936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分数分布 · 均值 · 极值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各指标平均分对比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35624" y="1371600"/>
            <a:ext cx="27249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27064" y="14447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444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004304" y="148132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教学质量画像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04304" y="1773936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雷达图展示班级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整体完成质量</a:t>
            </a:r>
            <a:endParaRPr lang="en-US" sz="1050" dirty="0"/>
          </a:p>
        </p:txBody>
      </p:sp>
      <p:grpSp>
        <p:nvGrpSpPr>
          <p:cNvPr id="70" name="组合 69"/>
          <p:cNvGrpSpPr/>
          <p:nvPr/>
        </p:nvGrpSpPr>
        <p:grpSpPr>
          <a:xfrm>
            <a:off x="5598160" y="2560320"/>
            <a:ext cx="3246120" cy="2194560"/>
            <a:chOff x="13155" y="4104"/>
            <a:chExt cx="5112" cy="3456"/>
          </a:xfrm>
        </p:grpSpPr>
        <p:grpSp>
          <p:nvGrpSpPr>
            <p:cNvPr id="67" name="组合 66"/>
            <p:cNvGrpSpPr/>
            <p:nvPr/>
          </p:nvGrpSpPr>
          <p:grpSpPr>
            <a:xfrm>
              <a:off x="13155" y="4104"/>
              <a:ext cx="5112" cy="3456"/>
              <a:chOff x="8712" y="4104"/>
              <a:chExt cx="5112" cy="3456"/>
            </a:xfrm>
          </p:grpSpPr>
          <p:grpSp>
            <p:nvGrpSpPr>
              <p:cNvPr id="66" name="组合 65"/>
              <p:cNvGrpSpPr/>
              <p:nvPr/>
            </p:nvGrpSpPr>
            <p:grpSpPr>
              <a:xfrm>
                <a:off x="8712" y="4104"/>
                <a:ext cx="5112" cy="3456"/>
                <a:chOff x="8712" y="4104"/>
                <a:chExt cx="5112" cy="3456"/>
              </a:xfrm>
            </p:grpSpPr>
            <p:sp>
              <p:nvSpPr>
                <p:cNvPr id="49" name="Shape 47"/>
                <p:cNvSpPr/>
                <p:nvPr/>
              </p:nvSpPr>
              <p:spPr>
                <a:xfrm>
                  <a:off x="8712" y="4104"/>
                  <a:ext cx="5112" cy="3456"/>
                </a:xfrm>
                <a:prstGeom prst="roundRect">
                  <a:avLst>
                    <a:gd name="adj" fmla="val 4167"/>
                  </a:avLst>
                </a:prstGeom>
                <a:solidFill>
                  <a:srgbClr val="FFFFFF"/>
                </a:solidFill>
                <a:ln w="12700">
                  <a:solidFill>
                    <a:srgbClr val="D5E8F3"/>
                  </a:solidFill>
                  <a:prstDash val="solid"/>
                </a:ln>
                <a:effectLst>
                  <a:outerShdw blurRad="63500" dist="25400" dir="5400000" algn="bl" rotWithShape="0">
                    <a:srgbClr val="C0D0E0">
                      <a:alpha val="25000"/>
                    </a:srgbClr>
                  </a:outerShdw>
                </a:effectLst>
              </p:spPr>
            </p:sp>
            <p:grpSp>
              <p:nvGrpSpPr>
                <p:cNvPr id="64" name="组合 63"/>
                <p:cNvGrpSpPr/>
                <p:nvPr/>
              </p:nvGrpSpPr>
              <p:grpSpPr>
                <a:xfrm>
                  <a:off x="8712" y="4104"/>
                  <a:ext cx="5112" cy="504"/>
                  <a:chOff x="8712" y="4104"/>
                  <a:chExt cx="5112" cy="504"/>
                </a:xfrm>
              </p:grpSpPr>
              <p:sp>
                <p:nvSpPr>
                  <p:cNvPr id="50" name="Shape 48"/>
                  <p:cNvSpPr/>
                  <p:nvPr/>
                </p:nvSpPr>
                <p:spPr>
                  <a:xfrm>
                    <a:off x="8712" y="4104"/>
                    <a:ext cx="5112" cy="504"/>
                  </a:xfrm>
                  <a:prstGeom prst="roundRect">
                    <a:avLst>
                      <a:gd name="adj" fmla="val 22857"/>
                    </a:avLst>
                  </a:prstGeom>
                  <a:solidFill>
                    <a:srgbClr val="17A589"/>
                  </a:solidFill>
                  <a:ln w="12700">
                    <a:solidFill>
                      <a:srgbClr val="17A589"/>
                    </a:solidFill>
                    <a:prstDash val="solid"/>
                  </a:ln>
                </p:spPr>
              </p:sp>
              <p:sp>
                <p:nvSpPr>
                  <p:cNvPr id="51" name="Text 49"/>
                  <p:cNvSpPr/>
                  <p:nvPr/>
                </p:nvSpPr>
                <p:spPr>
                  <a:xfrm>
                    <a:off x="9381" y="4104"/>
                    <a:ext cx="3774" cy="50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1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质量画像  雷达图</a:t>
                    </a:r>
                    <a:endParaRPr lang="en-US" sz="1100" dirty="0"/>
                  </a:p>
                </p:txBody>
              </p:sp>
            </p:grpSp>
          </p:grpSp>
          <p:grpSp>
            <p:nvGrpSpPr>
              <p:cNvPr id="2" name="组合 1"/>
              <p:cNvGrpSpPr/>
              <p:nvPr/>
            </p:nvGrpSpPr>
            <p:grpSpPr>
              <a:xfrm>
                <a:off x="9713" y="4840"/>
                <a:ext cx="3096" cy="2341"/>
                <a:chOff x="9260" y="4234"/>
                <a:chExt cx="4001" cy="3025"/>
              </a:xfrm>
            </p:grpSpPr>
            <p:sp>
              <p:nvSpPr>
                <p:cNvPr id="57" name="Text 55"/>
                <p:cNvSpPr/>
                <p:nvPr/>
              </p:nvSpPr>
              <p:spPr>
                <a:xfrm>
                  <a:off x="10685" y="4234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代码结构</a:t>
                  </a:r>
                  <a:endParaRPr lang="en-US" sz="850" dirty="0"/>
                </a:p>
              </p:txBody>
            </p:sp>
            <p:sp>
              <p:nvSpPr>
                <p:cNvPr id="58" name="Text 56"/>
                <p:cNvSpPr/>
                <p:nvPr/>
              </p:nvSpPr>
              <p:spPr>
                <a:xfrm>
                  <a:off x="12109" y="5268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功能覆盖</a:t>
                  </a:r>
                  <a:endParaRPr lang="en-US" sz="850" dirty="0"/>
                </a:p>
              </p:txBody>
            </p:sp>
            <p:sp>
              <p:nvSpPr>
                <p:cNvPr id="59" name="Text 57"/>
                <p:cNvSpPr/>
                <p:nvPr/>
              </p:nvSpPr>
              <p:spPr>
                <a:xfrm>
                  <a:off x="11565" y="6943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文档规范</a:t>
                  </a:r>
                  <a:endParaRPr lang="en-US" sz="850" dirty="0"/>
                </a:p>
              </p:txBody>
            </p:sp>
            <p:sp>
              <p:nvSpPr>
                <p:cNvPr id="60" name="Text 58"/>
                <p:cNvSpPr/>
                <p:nvPr/>
              </p:nvSpPr>
              <p:spPr>
                <a:xfrm>
                  <a:off x="9805" y="6943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可读性</a:t>
                  </a:r>
                  <a:endParaRPr lang="en-US" sz="850" dirty="0"/>
                </a:p>
              </p:txBody>
            </p:sp>
            <p:sp>
              <p:nvSpPr>
                <p:cNvPr id="61" name="Text 59"/>
                <p:cNvSpPr/>
                <p:nvPr/>
              </p:nvSpPr>
              <p:spPr>
                <a:xfrm>
                  <a:off x="9260" y="5268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完整性</a:t>
                  </a:r>
                  <a:endParaRPr lang="en-US" sz="850" dirty="0"/>
                </a:p>
              </p:txBody>
            </p:sp>
          </p:grpSp>
        </p:grpSp>
        <p:grpSp>
          <p:nvGrpSpPr>
            <p:cNvPr id="69" name="组合 68"/>
            <p:cNvGrpSpPr/>
            <p:nvPr/>
          </p:nvGrpSpPr>
          <p:grpSpPr>
            <a:xfrm>
              <a:off x="14897" y="5237"/>
              <a:ext cx="1614" cy="1537"/>
              <a:chOff x="10109" y="4694"/>
              <a:chExt cx="2304" cy="2194"/>
            </a:xfrm>
          </p:grpSpPr>
          <p:sp>
            <p:nvSpPr>
              <p:cNvPr id="52" name="Shape 50"/>
              <p:cNvSpPr/>
              <p:nvPr/>
            </p:nvSpPr>
            <p:spPr>
              <a:xfrm>
                <a:off x="11232" y="4694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53" name="Shape 51"/>
              <p:cNvSpPr/>
              <p:nvPr/>
            </p:nvSpPr>
            <p:spPr>
              <a:xfrm>
                <a:off x="12355" y="5510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54" name="Shape 52"/>
              <p:cNvSpPr/>
              <p:nvPr/>
            </p:nvSpPr>
            <p:spPr>
              <a:xfrm>
                <a:off x="11926" y="6830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55" name="Shape 53"/>
              <p:cNvSpPr/>
              <p:nvPr/>
            </p:nvSpPr>
            <p:spPr>
              <a:xfrm>
                <a:off x="10538" y="6830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56" name="Shape 54"/>
              <p:cNvSpPr/>
              <p:nvPr/>
            </p:nvSpPr>
            <p:spPr>
              <a:xfrm>
                <a:off x="10109" y="5510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</p:grpSp>
      </p:grpSp>
      <p:sp>
        <p:nvSpPr>
          <p:cNvPr id="22" name="Shape 20"/>
          <p:cNvSpPr/>
          <p:nvPr/>
        </p:nvSpPr>
        <p:spPr>
          <a:xfrm>
            <a:off x="320040" y="2575560"/>
            <a:ext cx="5029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grpSp>
        <p:nvGrpSpPr>
          <p:cNvPr id="71" name="组合 70"/>
          <p:cNvGrpSpPr/>
          <p:nvPr/>
        </p:nvGrpSpPr>
        <p:grpSpPr>
          <a:xfrm rot="0">
            <a:off x="320040" y="2575560"/>
            <a:ext cx="5029200" cy="320040"/>
            <a:chOff x="504" y="4104"/>
            <a:chExt cx="7920" cy="504"/>
          </a:xfrm>
        </p:grpSpPr>
        <p:sp>
          <p:nvSpPr>
            <p:cNvPr id="23" name="Shape 21"/>
            <p:cNvSpPr/>
            <p:nvPr/>
          </p:nvSpPr>
          <p:spPr>
            <a:xfrm>
              <a:off x="504" y="4104"/>
              <a:ext cx="7920" cy="504"/>
            </a:xfrm>
            <a:prstGeom prst="roundRect">
              <a:avLst>
                <a:gd name="adj" fmla="val 22857"/>
              </a:avLst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1130" y="4104"/>
              <a:ext cx="6668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班级统计  —  软工2301  |  已评价 28 人</a:t>
              </a:r>
              <a:endParaRPr lang="en-US" sz="1100" dirty="0"/>
            </a:p>
          </p:txBody>
        </p:sp>
      </p:grpSp>
      <p:grpSp>
        <p:nvGrpSpPr>
          <p:cNvPr id="83" name="组合 82"/>
          <p:cNvGrpSpPr/>
          <p:nvPr/>
        </p:nvGrpSpPr>
        <p:grpSpPr>
          <a:xfrm rot="0">
            <a:off x="411480" y="2968625"/>
            <a:ext cx="4796790" cy="609600"/>
            <a:chOff x="648" y="4723"/>
            <a:chExt cx="7258" cy="960"/>
          </a:xfrm>
        </p:grpSpPr>
        <p:grpSp>
          <p:nvGrpSpPr>
            <p:cNvPr id="74" name="组合 73"/>
            <p:cNvGrpSpPr/>
            <p:nvPr/>
          </p:nvGrpSpPr>
          <p:grpSpPr>
            <a:xfrm>
              <a:off x="648" y="4723"/>
              <a:ext cx="1728" cy="960"/>
              <a:chOff x="648" y="4723"/>
              <a:chExt cx="1728" cy="960"/>
            </a:xfrm>
          </p:grpSpPr>
          <p:sp>
            <p:nvSpPr>
              <p:cNvPr id="25" name="Shape 23"/>
              <p:cNvSpPr/>
              <p:nvPr/>
            </p:nvSpPr>
            <p:spPr>
              <a:xfrm>
                <a:off x="648" y="4723"/>
                <a:ext cx="1728" cy="960"/>
              </a:xfrm>
              <a:prstGeom prst="roundRect">
                <a:avLst>
                  <a:gd name="adj" fmla="val 12500"/>
                </a:avLst>
              </a:prstGeom>
              <a:solidFill>
                <a:srgbClr val="EBF5FF"/>
              </a:solidFill>
              <a:ln w="12700">
                <a:solidFill>
                  <a:srgbClr val="2E86C1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sp>
            <p:nvSpPr>
              <p:cNvPr id="26" name="Text 24"/>
              <p:cNvSpPr/>
              <p:nvPr/>
            </p:nvSpPr>
            <p:spPr>
              <a:xfrm>
                <a:off x="648" y="4781"/>
                <a:ext cx="172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1A3A5C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78.5</a:t>
                </a:r>
                <a:endParaRPr lang="en-US" sz="2200" dirty="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648" y="5237"/>
                <a:ext cx="1728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班级均分</a:t>
                </a:r>
                <a:endParaRPr lang="en-US" sz="950" dirty="0"/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2491" y="4723"/>
              <a:ext cx="1728" cy="960"/>
              <a:chOff x="2491" y="4723"/>
              <a:chExt cx="1728" cy="960"/>
            </a:xfrm>
          </p:grpSpPr>
          <p:sp>
            <p:nvSpPr>
              <p:cNvPr id="28" name="Shape 26"/>
              <p:cNvSpPr/>
              <p:nvPr/>
            </p:nvSpPr>
            <p:spPr>
              <a:xfrm>
                <a:off x="2491" y="4723"/>
                <a:ext cx="1728" cy="960"/>
              </a:xfrm>
              <a:prstGeom prst="roundRect">
                <a:avLst>
                  <a:gd name="adj" fmla="val 12500"/>
                </a:avLst>
              </a:prstGeom>
              <a:solidFill>
                <a:srgbClr val="EBF5FF"/>
              </a:solidFill>
              <a:ln w="12700">
                <a:solidFill>
                  <a:srgbClr val="2E86C1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sp>
            <p:nvSpPr>
              <p:cNvPr id="29" name="Text 27"/>
              <p:cNvSpPr/>
              <p:nvPr/>
            </p:nvSpPr>
            <p:spPr>
              <a:xfrm>
                <a:off x="2491" y="4781"/>
                <a:ext cx="172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1A3A5C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96</a:t>
                </a:r>
                <a:endParaRPr lang="en-US" sz="2200" dirty="0"/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2491" y="5237"/>
                <a:ext cx="1728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最高分</a:t>
                </a:r>
                <a:endParaRPr lang="en-US" sz="950" dirty="0"/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4334" y="4723"/>
              <a:ext cx="1728" cy="960"/>
              <a:chOff x="4334" y="4723"/>
              <a:chExt cx="1728" cy="960"/>
            </a:xfrm>
          </p:grpSpPr>
          <p:sp>
            <p:nvSpPr>
              <p:cNvPr id="31" name="Shape 29"/>
              <p:cNvSpPr/>
              <p:nvPr/>
            </p:nvSpPr>
            <p:spPr>
              <a:xfrm>
                <a:off x="4334" y="4723"/>
                <a:ext cx="1728" cy="960"/>
              </a:xfrm>
              <a:prstGeom prst="roundRect">
                <a:avLst>
                  <a:gd name="adj" fmla="val 12500"/>
                </a:avLst>
              </a:prstGeom>
              <a:solidFill>
                <a:srgbClr val="EBF5FF"/>
              </a:solidFill>
              <a:ln w="12700">
                <a:solidFill>
                  <a:srgbClr val="2E86C1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sp>
            <p:nvSpPr>
              <p:cNvPr id="32" name="Text 30"/>
              <p:cNvSpPr/>
              <p:nvPr/>
            </p:nvSpPr>
            <p:spPr>
              <a:xfrm>
                <a:off x="4334" y="4781"/>
                <a:ext cx="172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1A3A5C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52</a:t>
                </a:r>
                <a:endParaRPr lang="en-US" sz="2200" dirty="0"/>
              </a:p>
            </p:txBody>
          </p:sp>
          <p:sp>
            <p:nvSpPr>
              <p:cNvPr id="33" name="Text 31"/>
              <p:cNvSpPr/>
              <p:nvPr/>
            </p:nvSpPr>
            <p:spPr>
              <a:xfrm>
                <a:off x="4334" y="5237"/>
                <a:ext cx="1728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最低分</a:t>
                </a:r>
                <a:endParaRPr lang="en-US" sz="950" dirty="0"/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6178" y="4723"/>
              <a:ext cx="1728" cy="960"/>
              <a:chOff x="6178" y="4723"/>
              <a:chExt cx="1728" cy="960"/>
            </a:xfrm>
          </p:grpSpPr>
          <p:sp>
            <p:nvSpPr>
              <p:cNvPr id="34" name="Shape 32"/>
              <p:cNvSpPr/>
              <p:nvPr/>
            </p:nvSpPr>
            <p:spPr>
              <a:xfrm>
                <a:off x="6178" y="4723"/>
                <a:ext cx="1728" cy="960"/>
              </a:xfrm>
              <a:prstGeom prst="roundRect">
                <a:avLst>
                  <a:gd name="adj" fmla="val 12500"/>
                </a:avLst>
              </a:prstGeom>
              <a:solidFill>
                <a:srgbClr val="EBF5FF"/>
              </a:solidFill>
              <a:ln w="12700">
                <a:solidFill>
                  <a:srgbClr val="2E86C1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sp>
            <p:nvSpPr>
              <p:cNvPr id="35" name="Text 33"/>
              <p:cNvSpPr/>
              <p:nvPr/>
            </p:nvSpPr>
            <p:spPr>
              <a:xfrm>
                <a:off x="6178" y="4781"/>
                <a:ext cx="172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1A3A5C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35.7%</a:t>
                </a:r>
                <a:endParaRPr lang="en-US" sz="2200" dirty="0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6178" y="5237"/>
                <a:ext cx="1728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优秀率</a:t>
                </a:r>
                <a:endParaRPr lang="en-US" sz="950" dirty="0"/>
              </a:p>
            </p:txBody>
          </p:sp>
        </p:grpSp>
      </p:grpSp>
      <p:grpSp>
        <p:nvGrpSpPr>
          <p:cNvPr id="82" name="组合 81"/>
          <p:cNvGrpSpPr/>
          <p:nvPr/>
        </p:nvGrpSpPr>
        <p:grpSpPr>
          <a:xfrm rot="0">
            <a:off x="502920" y="3498850"/>
            <a:ext cx="4773930" cy="1088390"/>
            <a:chOff x="792" y="5558"/>
            <a:chExt cx="6192" cy="1714"/>
          </a:xfrm>
        </p:grpSpPr>
        <p:sp>
          <p:nvSpPr>
            <p:cNvPr id="37" name="Shape 35"/>
            <p:cNvSpPr/>
            <p:nvPr/>
          </p:nvSpPr>
          <p:spPr>
            <a:xfrm>
              <a:off x="792" y="6595"/>
              <a:ext cx="792" cy="346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792" y="6984"/>
              <a:ext cx="7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&lt;60</a:t>
              </a:r>
              <a:endParaRPr lang="en-US" sz="8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1872" y="6250"/>
              <a:ext cx="792" cy="691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1872" y="6984"/>
              <a:ext cx="7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60-69</a:t>
              </a:r>
              <a:endParaRPr lang="en-US" sz="8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2952" y="5558"/>
              <a:ext cx="792" cy="1382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2952" y="6984"/>
              <a:ext cx="7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70-79</a:t>
              </a:r>
              <a:endParaRPr lang="en-US" sz="8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4032" y="5731"/>
              <a:ext cx="792" cy="1210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4032" y="6984"/>
              <a:ext cx="7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80-89</a:t>
              </a:r>
              <a:endParaRPr lang="en-US" sz="8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5112" y="6250"/>
              <a:ext cx="792" cy="691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5112" y="6984"/>
              <a:ext cx="7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90-94</a:t>
              </a:r>
              <a:endParaRPr lang="en-US" sz="8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6192" y="6422"/>
              <a:ext cx="792" cy="518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>
            <a:xfrm>
              <a:off x="6192" y="6984"/>
              <a:ext cx="7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95+</a:t>
              </a:r>
              <a:endParaRPr lang="en-US" sz="800" dirty="0"/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320040" y="4605655"/>
            <a:ext cx="8540115" cy="200660"/>
            <a:chOff x="504" y="7373"/>
            <a:chExt cx="13392" cy="316"/>
          </a:xfrm>
        </p:grpSpPr>
        <p:sp>
          <p:nvSpPr>
            <p:cNvPr id="62" name="Shape 60"/>
            <p:cNvSpPr/>
            <p:nvPr/>
          </p:nvSpPr>
          <p:spPr>
            <a:xfrm>
              <a:off x="504" y="7373"/>
              <a:ext cx="13392" cy="317"/>
            </a:xfrm>
            <a:prstGeom prst="roundRect">
              <a:avLst>
                <a:gd name="adj" fmla="val 27273"/>
              </a:avLst>
            </a:prstGeom>
            <a:solidFill>
              <a:srgbClr val="EEF8F4"/>
            </a:solidFill>
            <a:ln w="10160">
              <a:solidFill>
                <a:srgbClr val="17A589"/>
              </a:solidFill>
              <a:prstDash val="solid"/>
            </a:ln>
          </p:spPr>
        </p:sp>
        <p:sp>
          <p:nvSpPr>
            <p:cNvPr id="63" name="Text 61"/>
            <p:cNvSpPr/>
            <p:nvPr/>
          </p:nvSpPr>
          <p:spPr>
            <a:xfrm>
              <a:off x="2112" y="7373"/>
              <a:ext cx="10176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i="1" dirty="0">
                  <a:solidFill>
                    <a:srgbClr val="17A589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报表支持异步导出（Excel / PDF）· 失败可重试 · 历史报表可归档恢复</a:t>
              </a:r>
              <a:endParaRPr lang="en-US" sz="950" dirty="0"/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92D050">
                        <a:alpha val="100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92D050">
                        <a:alpha val="67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报表监控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通知、日志与系统监控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关键事件有通知 · 操作有日志 · 运行状态有监控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724912" cy="3337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724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🔔 站内通知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1208" y="2011680"/>
            <a:ext cx="128016" cy="12801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195681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未读消息数角标提示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" y="2606040"/>
            <a:ext cx="128016" cy="12801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55117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任务完成实时推送（SSE）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" y="3200400"/>
            <a:ext cx="128016" cy="12801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14553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终评发布通知学生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" y="3822192"/>
            <a:ext cx="2505456" cy="804672"/>
          </a:xfrm>
          <a:prstGeom prst="rect">
            <a:avLst/>
          </a:prstGeom>
          <a:solidFill>
            <a:srgbClr val="F5F9FF"/>
          </a:solidFill>
          <a:ln w="10160">
            <a:solidFill>
              <a:srgbClr val="D5E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85876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未读：3　今日推送：12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27832" y="1417320"/>
            <a:ext cx="2724912" cy="3337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141732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1417320"/>
            <a:ext cx="2724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📝 操作日志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429000" y="2011680"/>
            <a:ext cx="128016" cy="12801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195681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记录关键业务操作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29000" y="2606040"/>
            <a:ext cx="128016" cy="12801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0168" y="255117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操作人 + 时间 + 内容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29000" y="3200400"/>
            <a:ext cx="128016" cy="12801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0168" y="314553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支持按时间/用户查询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37560" y="3822192"/>
            <a:ext cx="2505456" cy="804672"/>
          </a:xfrm>
          <a:prstGeom prst="rect">
            <a:avLst/>
          </a:prstGeom>
          <a:solidFill>
            <a:srgbClr val="F5F9FF"/>
          </a:solidFill>
          <a:ln w="10160">
            <a:solidFill>
              <a:srgbClr val="D5E8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92424" y="385876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今日操作：47条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最近：张老师发布终评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35624" y="1417320"/>
            <a:ext cx="2724912" cy="3337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35624" y="141732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35624" y="1417320"/>
            <a:ext cx="2724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📡 系统监控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336792" y="2011680"/>
            <a:ext cx="128016" cy="128016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195681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任务队列状态总览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36792" y="2606040"/>
            <a:ext cx="128016" cy="128016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255117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大模型调用次数与耗时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36792" y="3200400"/>
            <a:ext cx="128016" cy="128016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314553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错误率与队列积压告警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45352" y="3822192"/>
            <a:ext cx="2505456" cy="804672"/>
          </a:xfrm>
          <a:prstGeom prst="rect">
            <a:avLst/>
          </a:prstGeom>
          <a:solidFill>
            <a:srgbClr val="F5F9FF"/>
          </a:solidFill>
          <a:ln w="10160">
            <a:solidFill>
              <a:srgbClr val="D5E8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385876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队列待处理：2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模型调用：18次/时</a:t>
            </a:r>
            <a:endParaRPr lang="en-US" sz="10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92D050">
                        <a:alpha val="100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92D050">
                        <a:alpha val="67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报表监控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482282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安全机制、部署方案与验证状态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交付能力矩阵 — 安全可靠 · 部署灵活 · 核心测试通过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维度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65960" y="1417320"/>
            <a:ext cx="4937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能力描述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95160" y="1417320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28800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5960" y="1828800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无状态认证，Token 有效期可配置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40880" y="1865376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865376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157984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57984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访问控制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65960" y="2157984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RBAC 角色权限 + 业务范围数据隔离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40880" y="2194560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19456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487168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487168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文件安全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65960" y="2487168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上传文件访问鉴权，禁止直接 URL 访问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0" y="2523744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52374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816352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816352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生产安全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65960" y="2816352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生产配置合规校验，启动自检机制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040880" y="2852928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85292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145536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145536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容器化部署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965960" y="3145536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镜像 + Compose 编排，一键部署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40880" y="3182112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318211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已就绪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3474720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474720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国产化适配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965960" y="3474720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龙芯架构 + 麒麟 V11 基础功能验证通过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040880" y="3511296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3511296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已验证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3803904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803904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后端测试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965960" y="3803904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核心功能路径自动化测试全覆盖（105项）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040880" y="3840480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384048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通过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4133088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133088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前端测试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965960" y="4133088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构建流水线 + 基础 E2E 用例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040880" y="4169664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416966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△ 持续完善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4462272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462272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工程规范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965960" y="4462272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代码质量检查持续收敛中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040880" y="4498848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0" y="449884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△ 进行中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△ 表示已具备基础能力，工程质量持续提升中，不影响核心功能正常使用</a:t>
            </a:r>
            <a:endParaRPr lang="en-US" sz="9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92D050">
                        <a:alpha val="100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92D050">
                        <a:alpha val="67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报表监控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56255" y="274320"/>
            <a:ext cx="303149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系统核心价值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36775" y="804545"/>
            <a:ext cx="487045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让软件实训成果验收从"经验驱动"走向"数据驱动"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2651760" cy="3383280"/>
          </a:xfrm>
          <a:prstGeom prst="roundRect">
            <a:avLst>
              <a:gd name="adj" fmla="val 6207"/>
            </a:avLst>
          </a:prstGeom>
          <a:solidFill>
            <a:srgbClr val="1A3A6C"/>
          </a:solidFill>
          <a:ln w="25400">
            <a:solidFill>
              <a:srgbClr val="2E86C1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81328" y="1444752"/>
            <a:ext cx="685800" cy="68580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1328" y="14447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提交有版本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34440" y="2688336"/>
            <a:ext cx="118872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8892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每次提交形成可追溯批次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历史清晰，杜绝争议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教师评价有据可查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55848" y="1298448"/>
            <a:ext cx="2651760" cy="3383280"/>
          </a:xfrm>
          <a:prstGeom prst="roundRect">
            <a:avLst>
              <a:gd name="adj" fmla="val 6207"/>
            </a:avLst>
          </a:prstGeom>
          <a:solidFill>
            <a:srgbClr val="0D4A3A"/>
          </a:solidFill>
          <a:ln w="25400">
            <a:solidFill>
              <a:srgbClr val="17A589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34256" y="1444752"/>
            <a:ext cx="685800" cy="6858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4256" y="14447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47288" y="22402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评价有依据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087368" y="2688336"/>
            <a:ext cx="118872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278892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解析结果·核验建议·教师评语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全程留存，评分过程透明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自动+人工双重保障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08776" y="1298448"/>
            <a:ext cx="2651760" cy="3383280"/>
          </a:xfrm>
          <a:prstGeom prst="roundRect">
            <a:avLst>
              <a:gd name="adj" fmla="val 6207"/>
            </a:avLst>
          </a:prstGeom>
          <a:solidFill>
            <a:srgbClr val="4A2810"/>
          </a:solidFill>
          <a:ln w="25400">
            <a:solidFill>
              <a:srgbClr val="E67E22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87184" y="1444752"/>
            <a:ext cx="685800" cy="6858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87184" y="14447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00216" y="22402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结果可汇总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40296" y="2688336"/>
            <a:ext cx="118872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278892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班级报表自动生成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质量画像支持教学复盘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数据沉淀持续可见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　|　软件工程实训评价系统开发团队　|　2026-07-16</a:t>
            </a:r>
            <a:endParaRPr lang="en-US" sz="950" dirty="0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857248" y="626237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-1857248" y="626237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附录</a:t>
            </a:r>
            <a:endParaRPr lang="en-US" sz="85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演示账号与备用跳转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现场备用页 — 评委提问时快速跳转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0292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演示账号信息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4846320" cy="594360"/>
          </a:xfrm>
          <a:prstGeom prst="roundRect">
            <a:avLst>
              <a:gd name="adj" fmla="val 15385"/>
            </a:avLst>
          </a:prstGeom>
          <a:solidFill>
            <a:srgbClr val="EAF2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198424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84248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1965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账号：admin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20370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密码：demo@2025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587752"/>
            <a:ext cx="4846320" cy="594360"/>
          </a:xfrm>
          <a:prstGeom prst="roundRect">
            <a:avLst>
              <a:gd name="adj" fmla="val 15385"/>
            </a:avLst>
          </a:prstGeom>
          <a:solidFill>
            <a:srgbClr val="E8FAF5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69748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697480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26791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账号：teacher01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2916936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密码：demo@2025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300984"/>
            <a:ext cx="4846320" cy="594360"/>
          </a:xfrm>
          <a:prstGeom prst="roundRect">
            <a:avLst>
              <a:gd name="adj" fmla="val 15385"/>
            </a:avLst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410712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410712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39242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账号：student01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36301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密码：demo@2025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297680"/>
            <a:ext cx="4846320" cy="365760"/>
          </a:xfrm>
          <a:prstGeom prst="roundRect">
            <a:avLst>
              <a:gd name="adj" fmla="val 20000"/>
            </a:avLst>
          </a:prstGeom>
          <a:solidFill>
            <a:srgbClr val="F5F9FF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2976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系统地址：http://[demo-server-ip]:8080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32120" y="1417320"/>
            <a:ext cx="3246120" cy="33832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32120" y="1417320"/>
            <a:ext cx="3246120" cy="347472"/>
          </a:xfrm>
          <a:prstGeom prst="roundRect">
            <a:avLst>
              <a:gd name="adj" fmla="val 2105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1417320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常见问题速查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96128" y="1874520"/>
            <a:ext cx="310896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189280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会运行代码吗？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50992" y="210312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不会，仅静态解析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589520" y="195681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195681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P03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96128" y="2423160"/>
            <a:ext cx="3108960" cy="475488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50992" y="244144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AI能自动评分？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50992" y="265176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AI仅建议，教师发布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589520" y="250545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250545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P15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96128" y="2971800"/>
            <a:ext cx="310896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50992" y="299008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测试覆盖情况？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50992" y="320040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后端105项全通过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589520" y="305409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0" y="305409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P20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96128" y="3520440"/>
            <a:ext cx="3108960" cy="475488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50992" y="3538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国产化适配？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50992" y="374904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龙芯+麒麟已验证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89520" y="360273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0" y="360273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P20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96128" y="4069080"/>
            <a:ext cx="310896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50992" y="40873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多次提交以哪版？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650992" y="429768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以最新批次为准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89520" y="415137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0" y="415137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P11</a:t>
            </a:r>
            <a:endParaRPr lang="en-US" sz="9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4A607F"/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4D637F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附录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2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3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4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5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6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7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8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9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0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1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2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3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4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5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6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7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8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9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20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21.xml><?xml version="1.0" encoding="utf-8"?>
<p:tagLst xmlns:p="http://schemas.openxmlformats.org/presentationml/2006/main">
  <p:tag name="KSO_WM_AICARD_INVALID" val="Invalid"/>
</p:tagLst>
</file>

<file path=ppt/tags/tag22.xml><?xml version="1.0" encoding="utf-8"?>
<p:tagLst xmlns:p="http://schemas.openxmlformats.org/presentationml/2006/main">
  <p:tag name="KSO_WM_AICARD_INVALID" val="Invalid"/>
</p:tagLst>
</file>

<file path=ppt/tags/tag23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24.xml><?xml version="1.0" encoding="utf-8"?>
<p:tagLst xmlns:p="http://schemas.openxmlformats.org/presentationml/2006/main">
  <p:tag name="KSO_WM_AICARD_INVALID" val="Invalid"/>
</p:tagLst>
</file>

<file path=ppt/tags/tag25.xml><?xml version="1.0" encoding="utf-8"?>
<p:tagLst xmlns:p="http://schemas.openxmlformats.org/presentationml/2006/main">
  <p:tag name="KSO_WM_AICARD_INVALID" val="Invalid"/>
</p:tagLst>
</file>

<file path=ppt/tags/tag26.xml><?xml version="1.0" encoding="utf-8"?>
<p:tagLst xmlns:p="http://schemas.openxmlformats.org/presentationml/2006/main">
  <p:tag name="KSO_WM_AICARD_INVALID" val="Invalid"/>
</p:tagLst>
</file>

<file path=ppt/tags/tag27.xml><?xml version="1.0" encoding="utf-8"?>
<p:tagLst xmlns:p="http://schemas.openxmlformats.org/presentationml/2006/main">
  <p:tag name="KSO_WM_AICARD_INVALID" val="Invalid"/>
</p:tagLst>
</file>

<file path=ppt/tags/tag28.xml><?xml version="1.0" encoding="utf-8"?>
<p:tagLst xmlns:p="http://schemas.openxmlformats.org/presentationml/2006/main">
  <p:tag name="KSO_WM_AICARD_INVALID" val="Invalid"/>
</p:tagLst>
</file>

<file path=ppt/tags/tag29.xml><?xml version="1.0" encoding="utf-8"?>
<p:tagLst xmlns:p="http://schemas.openxmlformats.org/presentationml/2006/main">
  <p:tag name="KSO_WM_AICARD_INVALID" val="Invalid"/>
</p:tagLst>
</file>

<file path=ppt/tags/tag30.xml><?xml version="1.0" encoding="utf-8"?>
<p:tagLst xmlns:p="http://schemas.openxmlformats.org/presentationml/2006/main">
  <p:tag name="KSO_WM_AICARD_INVALID" val="Invalid"/>
</p:tagLst>
</file>

<file path=ppt/tags/tag31.xml><?xml version="1.0" encoding="utf-8"?>
<p:tagLst xmlns:p="http://schemas.openxmlformats.org/presentationml/2006/main">
  <p:tag name="KSO_WM_AICARD_INVALID" val="Invalid"/>
</p:tagLst>
</file>

<file path=ppt/tags/tag32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33.xml><?xml version="1.0" encoding="utf-8"?>
<p:tagLst xmlns:p="http://schemas.openxmlformats.org/presentationml/2006/main">
  <p:tag name="KSO_WM_AICARD_INVALID" val="Invalid"/>
</p:tagLst>
</file>

<file path=ppt/tags/tag34.xml><?xml version="1.0" encoding="utf-8"?>
<p:tagLst xmlns:p="http://schemas.openxmlformats.org/presentationml/2006/main">
  <p:tag name="KSO_WM_AICARD_INVALID" val="Invalid"/>
</p:tagLst>
</file>

<file path=ppt/tags/tag35.xml><?xml version="1.0" encoding="utf-8"?>
<p:tagLst xmlns:p="http://schemas.openxmlformats.org/presentationml/2006/main">
  <p:tag name="KSO_WM_AICARD_INVALID" val="Invalid"/>
</p:tagLst>
</file>

<file path=ppt/tags/tag36.xml><?xml version="1.0" encoding="utf-8"?>
<p:tagLst xmlns:p="http://schemas.openxmlformats.org/presentationml/2006/main">
  <p:tag name="KSO_WM_AICARD_INVALID" val="Invalid"/>
</p:tagLst>
</file>

<file path=ppt/tags/tag37.xml><?xml version="1.0" encoding="utf-8"?>
<p:tagLst xmlns:p="http://schemas.openxmlformats.org/presentationml/2006/main">
  <p:tag name="KSO_WM_AICARD_INVALID" val="Invalid"/>
</p:tagLst>
</file>

<file path=ppt/tags/tag38.xml><?xml version="1.0" encoding="utf-8"?>
<p:tagLst xmlns:p="http://schemas.openxmlformats.org/presentationml/2006/main">
  <p:tag name="resource_record_key" val="{&quot;71&quot;:[76235680109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">
      <a:dk1>
        <a:srgbClr val="000000"/>
      </a:dk1>
      <a:lt1>
        <a:srgbClr val="FFFFFF"/>
      </a:lt1>
      <a:dk2>
        <a:srgbClr val="161D2D"/>
      </a:dk2>
      <a:lt2>
        <a:srgbClr val="FFFFFF"/>
      </a:lt2>
      <a:accent1>
        <a:srgbClr val="5592E6"/>
      </a:accent1>
      <a:accent2>
        <a:srgbClr val="6E559D"/>
      </a:accent2>
      <a:accent3>
        <a:srgbClr val="355FCB"/>
      </a:accent3>
      <a:accent4>
        <a:srgbClr val="72A9D9"/>
      </a:accent4>
      <a:accent5>
        <a:srgbClr val="84C6D5"/>
      </a:accent5>
      <a:accent6>
        <a:srgbClr val="5959C5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">
      <a:dk1>
        <a:srgbClr val="000000"/>
      </a:dk1>
      <a:lt1>
        <a:srgbClr val="FFFFFF"/>
      </a:lt1>
      <a:dk2>
        <a:srgbClr val="0D2639"/>
      </a:dk2>
      <a:lt2>
        <a:srgbClr val="F4F9FD"/>
      </a:lt2>
      <a:accent1>
        <a:srgbClr val="0076B9"/>
      </a:accent1>
      <a:accent2>
        <a:srgbClr val="3D505A"/>
      </a:accent2>
      <a:accent3>
        <a:srgbClr val="009FB6"/>
      </a:accent3>
      <a:accent4>
        <a:srgbClr val="D74F91"/>
      </a:accent4>
      <a:accent5>
        <a:srgbClr val="F898CB"/>
      </a:accent5>
      <a:accent6>
        <a:srgbClr val="7D287D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4536</Words>
  <Application>WPS 演示</Application>
  <PresentationFormat>On-screen Show (16:9)</PresentationFormat>
  <Paragraphs>1060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41" baseType="lpstr">
      <vt:lpstr>Arial</vt:lpstr>
      <vt:lpstr>宋体</vt:lpstr>
      <vt:lpstr>Wingdings</vt:lpstr>
      <vt:lpstr>Calibri</vt:lpstr>
      <vt:lpstr>Calibri</vt:lpstr>
      <vt:lpstr>Calibri</vt:lpstr>
      <vt:lpstr>Calibri</vt:lpstr>
      <vt:lpstr>思源宋体 CN Medium</vt:lpstr>
      <vt:lpstr>微软雅黑</vt:lpstr>
      <vt:lpstr>Arial Unicode MS</vt:lpstr>
      <vt:lpstr>等线</vt:lpstr>
      <vt:lpstr>Courier New</vt:lpstr>
      <vt:lpstr>Courier New</vt:lpstr>
      <vt:lpstr>Courier New</vt:lpstr>
      <vt:lpstr>等线 Light</vt:lpstr>
      <vt:lpstr>Calibri Light</vt:lpstr>
      <vt:lpstr>Office Theme</vt:lpstr>
      <vt:lpstr>1_Office Theme</vt:lpstr>
      <vt:lpstr>2_Office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WPS_1719677426</cp:lastModifiedBy>
  <cp:revision>66</cp:revision>
  <dcterms:created xsi:type="dcterms:W3CDTF">2026-07-17T03:22:00Z</dcterms:created>
  <dcterms:modified xsi:type="dcterms:W3CDTF">2026-08-19T08:31:40Z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75D14309B303442C98739D6B94DD9ACF_12</vt:lpwstr>
  </property>
</Properties>
</file>