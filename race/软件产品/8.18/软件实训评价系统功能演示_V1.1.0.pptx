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4" r:id="rId4"/>
  </p:sldMasterIdLst>
  <p:notesMasterIdLst>
    <p:notesMasterId r:id="rId6"/>
  </p:notesMasterIdLst>
  <p:handoutMasterIdLst>
    <p:handoutMasterId r:id="rId29"/>
  </p:handoutMasterIdLst>
  <p:sldIdLst>
    <p:sldId id="305" r:id="rId5"/>
    <p:sldId id="306" r:id="rId7"/>
    <p:sldId id="333" r:id="rId8"/>
    <p:sldId id="332" r:id="rId9"/>
    <p:sldId id="330" r:id="rId10"/>
    <p:sldId id="309" r:id="rId11"/>
    <p:sldId id="310" r:id="rId12"/>
    <p:sldId id="311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</p:sldIdLst>
  <p:sldSz cx="9144000" cy="5143500"/>
  <p:notesSz cx="5143500" cy="9144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6C1"/>
    <a:srgbClr val="1E4D7B"/>
    <a:srgbClr val="19385A"/>
    <a:srgbClr val="E67E22"/>
    <a:srgbClr val="27AE60"/>
    <a:srgbClr val="17A589"/>
    <a:srgbClr val="19385B"/>
    <a:srgbClr val="5C89B7"/>
    <a:srgbClr val="2D5F92"/>
    <a:srgbClr val="8EA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55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tags" Target="tags/tag39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9160" y="364490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8525" y="803275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25"/>
          <p:cNvSpPr/>
          <p:nvPr userDrawn="1"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5.xml"/><Relationship Id="rId7" Type="http://schemas.microsoft.com/office/2007/relationships/hdphoto" Target="../media/image6.wdp"/><Relationship Id="rId6" Type="http://schemas.openxmlformats.org/officeDocument/2006/relationships/image" Target="../media/image5.png"/><Relationship Id="rId5" Type="http://schemas.openxmlformats.org/officeDocument/2006/relationships/tags" Target="../tags/tag1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microsoft.com/office/2007/relationships/hdphoto" Target="../media/image8.wdp"/><Relationship Id="rId8" Type="http://schemas.openxmlformats.org/officeDocument/2006/relationships/image" Target="../media/image7.png"/><Relationship Id="rId7" Type="http://schemas.openxmlformats.org/officeDocument/2006/relationships/image" Target="../media/image4.png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4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2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24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6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8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9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0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33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4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5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6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38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461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4610" y="0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51765" y="-41275"/>
            <a:ext cx="7620000" cy="1074467"/>
            <a:chOff x="-239" y="-65"/>
            <a:chExt cx="12000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1257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4" name="组合 2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功能演示  ·  V1.0.0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23" name="组合 22"/>
          <p:cNvGrpSpPr/>
          <p:nvPr/>
        </p:nvGrpSpPr>
        <p:grpSpPr>
          <a:xfrm>
            <a:off x="-90805" y="-831850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3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51765" y="-41275"/>
            <a:ext cx="8930005" cy="1074467"/>
            <a:chOff x="-239" y="-65"/>
            <a:chExt cx="14063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" name="组合 1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8800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材料分散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源码、文档、截图、报告各处提交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教师需逐一收集核对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6184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重复核对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多班级同类项目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教师重复阅读耗时巨大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依据难追溯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评分依据存于脑中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同一作业标准难统一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统计滞后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成绩汇总依赖手工整理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班级质量画像缺失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-151765" y="-41275"/>
            <a:ext cx="8930005" cy="1074467"/>
            <a:chOff x="-239" y="-65"/>
            <a:chExt cx="14063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" name="组合 1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任意多边形 20"/>
          <p:cNvSpPr/>
          <p:nvPr/>
        </p:nvSpPr>
        <p:spPr>
          <a:xfrm>
            <a:off x="1008380" y="1450340"/>
            <a:ext cx="3834765" cy="3011170"/>
          </a:xfrm>
          <a:custGeom>
            <a:avLst/>
            <a:gdLst>
              <a:gd name="connsiteX0" fmla="*/ 0 w 5680"/>
              <a:gd name="connsiteY0" fmla="*/ 391 h 4083"/>
              <a:gd name="connsiteX1" fmla="*/ 276 w 5680"/>
              <a:gd name="connsiteY1" fmla="*/ 13 h 4083"/>
              <a:gd name="connsiteX2" fmla="*/ 5223 w 5680"/>
              <a:gd name="connsiteY2" fmla="*/ 0 h 4083"/>
              <a:gd name="connsiteX3" fmla="*/ 5631 w 5680"/>
              <a:gd name="connsiteY3" fmla="*/ 608 h 4083"/>
              <a:gd name="connsiteX4" fmla="*/ 4487 w 5680"/>
              <a:gd name="connsiteY4" fmla="*/ 3698 h 4083"/>
              <a:gd name="connsiteX5" fmla="*/ 4199 w 5680"/>
              <a:gd name="connsiteY5" fmla="*/ 4083 h 4083"/>
              <a:gd name="connsiteX6" fmla="*/ 276 w 5680"/>
              <a:gd name="connsiteY6" fmla="*/ 4058 h 4083"/>
              <a:gd name="connsiteX7" fmla="*/ 0 w 5680"/>
              <a:gd name="connsiteY7" fmla="*/ 3680 h 4083"/>
              <a:gd name="connsiteX8" fmla="*/ 0 w 5680"/>
              <a:gd name="connsiteY8" fmla="*/ 391 h 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0" h="4083">
                <a:moveTo>
                  <a:pt x="0" y="391"/>
                </a:moveTo>
                <a:cubicBezTo>
                  <a:pt x="0" y="182"/>
                  <a:pt x="124" y="13"/>
                  <a:pt x="276" y="13"/>
                </a:cubicBezTo>
                <a:lnTo>
                  <a:pt x="5223" y="0"/>
                </a:lnTo>
                <a:cubicBezTo>
                  <a:pt x="5567" y="16"/>
                  <a:pt x="5782" y="35"/>
                  <a:pt x="5631" y="608"/>
                </a:cubicBezTo>
                <a:lnTo>
                  <a:pt x="4487" y="3698"/>
                </a:lnTo>
                <a:cubicBezTo>
                  <a:pt x="4401" y="3915"/>
                  <a:pt x="4351" y="4083"/>
                  <a:pt x="4199" y="4083"/>
                </a:cubicBezTo>
                <a:lnTo>
                  <a:pt x="276" y="4058"/>
                </a:lnTo>
                <a:cubicBezTo>
                  <a:pt x="124" y="4058"/>
                  <a:pt x="0" y="3889"/>
                  <a:pt x="0" y="3680"/>
                </a:cubicBezTo>
                <a:lnTo>
                  <a:pt x="0" y="391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34" name="组合 3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425"/>
            <a:ext cx="4102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741680" y="1287145"/>
            <a:ext cx="3839210" cy="3011170"/>
            <a:chOff x="576" y="2267"/>
            <a:chExt cx="6046" cy="4742"/>
          </a:xfrm>
        </p:grpSpPr>
        <p:sp>
          <p:nvSpPr>
            <p:cNvPr id="17" name="任意多边形 16"/>
            <p:cNvSpPr/>
            <p:nvPr/>
          </p:nvSpPr>
          <p:spPr>
            <a:xfrm>
              <a:off x="576" y="2267"/>
              <a:ext cx="6046" cy="4742"/>
            </a:xfrm>
            <a:custGeom>
              <a:avLst/>
              <a:gdLst>
                <a:gd name="connsiteX0" fmla="*/ 0 w 5680"/>
                <a:gd name="connsiteY0" fmla="*/ 391 h 4083"/>
                <a:gd name="connsiteX1" fmla="*/ 276 w 5680"/>
                <a:gd name="connsiteY1" fmla="*/ 13 h 4083"/>
                <a:gd name="connsiteX2" fmla="*/ 5223 w 5680"/>
                <a:gd name="connsiteY2" fmla="*/ 0 h 4083"/>
                <a:gd name="connsiteX3" fmla="*/ 5631 w 5680"/>
                <a:gd name="connsiteY3" fmla="*/ 608 h 4083"/>
                <a:gd name="connsiteX4" fmla="*/ 4487 w 5680"/>
                <a:gd name="connsiteY4" fmla="*/ 3698 h 4083"/>
                <a:gd name="connsiteX5" fmla="*/ 4199 w 5680"/>
                <a:gd name="connsiteY5" fmla="*/ 4083 h 4083"/>
                <a:gd name="connsiteX6" fmla="*/ 276 w 5680"/>
                <a:gd name="connsiteY6" fmla="*/ 4058 h 4083"/>
                <a:gd name="connsiteX7" fmla="*/ 0 w 5680"/>
                <a:gd name="connsiteY7" fmla="*/ 3680 h 4083"/>
                <a:gd name="connsiteX8" fmla="*/ 0 w 5680"/>
                <a:gd name="connsiteY8" fmla="*/ 391 h 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80" h="4083">
                  <a:moveTo>
                    <a:pt x="0" y="391"/>
                  </a:moveTo>
                  <a:cubicBezTo>
                    <a:pt x="0" y="182"/>
                    <a:pt x="124" y="13"/>
                    <a:pt x="276" y="13"/>
                  </a:cubicBezTo>
                  <a:lnTo>
                    <a:pt x="5223" y="0"/>
                  </a:lnTo>
                  <a:cubicBezTo>
                    <a:pt x="5567" y="16"/>
                    <a:pt x="5782" y="35"/>
                    <a:pt x="5631" y="608"/>
                  </a:cubicBezTo>
                  <a:lnTo>
                    <a:pt x="4487" y="3698"/>
                  </a:lnTo>
                  <a:cubicBezTo>
                    <a:pt x="4401" y="3915"/>
                    <a:pt x="4351" y="4083"/>
                    <a:pt x="4199" y="4083"/>
                  </a:cubicBezTo>
                  <a:lnTo>
                    <a:pt x="276" y="4058"/>
                  </a:lnTo>
                  <a:cubicBezTo>
                    <a:pt x="124" y="4058"/>
                    <a:pt x="0" y="3889"/>
                    <a:pt x="0" y="3680"/>
                  </a:cubicBezTo>
                  <a:lnTo>
                    <a:pt x="0" y="391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8" y="2348"/>
              <a:ext cx="5798" cy="480"/>
              <a:chOff x="504" y="2160"/>
              <a:chExt cx="6336" cy="648"/>
            </a:xfrm>
          </p:grpSpPr>
          <p:sp>
            <p:nvSpPr>
              <p:cNvPr id="19" name="Shape 6"/>
              <p:cNvSpPr/>
              <p:nvPr/>
            </p:nvSpPr>
            <p:spPr>
              <a:xfrm>
                <a:off x="504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0" name="Text 7"/>
              <p:cNvSpPr/>
              <p:nvPr/>
            </p:nvSpPr>
            <p:spPr>
              <a:xfrm>
                <a:off x="1776" y="2160"/>
                <a:ext cx="3792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 系统做什么</a:t>
                </a:r>
                <a:endParaRPr lang="en-US" sz="1400" dirty="0"/>
              </a:p>
            </p:txBody>
          </p:sp>
        </p:grpSp>
        <p:sp>
          <p:nvSpPr>
            <p:cNvPr id="22" name="Text 8"/>
            <p:cNvSpPr/>
            <p:nvPr/>
          </p:nvSpPr>
          <p:spPr>
            <a:xfrm>
              <a:off x="792" y="299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接收并管理学生提交的成果文件</a:t>
              </a:r>
              <a:endParaRPr lang="en-US" sz="130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792" y="380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静态解析文档结构与代码目录</a:t>
              </a:r>
              <a:endParaRPr lang="en-US" sz="1300" dirty="0"/>
            </a:p>
          </p:txBody>
        </p:sp>
        <p:sp>
          <p:nvSpPr>
            <p:cNvPr id="24" name="Text 10"/>
            <p:cNvSpPr/>
            <p:nvPr/>
          </p:nvSpPr>
          <p:spPr>
            <a:xfrm>
              <a:off x="792" y="460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大模型辅助生成评价建议（可复核）</a:t>
              </a:r>
              <a:endParaRPr lang="en-US" sz="1300" dirty="0"/>
            </a:p>
          </p:txBody>
        </p:sp>
        <p:sp>
          <p:nvSpPr>
            <p:cNvPr id="25" name="Text 11"/>
            <p:cNvSpPr/>
            <p:nvPr/>
          </p:nvSpPr>
          <p:spPr>
            <a:xfrm>
              <a:off x="792" y="541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支持教师配置评价规则与指标模板</a:t>
              </a:r>
              <a:endParaRPr lang="en-US" sz="1300" dirty="0"/>
            </a:p>
          </p:txBody>
        </p:sp>
        <p:sp>
          <p:nvSpPr>
            <p:cNvPr id="26" name="Text 12"/>
            <p:cNvSpPr/>
            <p:nvPr/>
          </p:nvSpPr>
          <p:spPr>
            <a:xfrm>
              <a:off x="792" y="622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生成班级报表与教学质量画像</a:t>
              </a:r>
              <a:endParaRPr lang="en-US" sz="1300" dirty="0"/>
            </a:p>
          </p:txBody>
        </p:sp>
      </p:grpSp>
      <p:sp>
        <p:nvSpPr>
          <p:cNvPr id="28" name="任意多边形 27"/>
          <p:cNvSpPr/>
          <p:nvPr/>
        </p:nvSpPr>
        <p:spPr>
          <a:xfrm rot="10800000">
            <a:off x="4242480" y="1651635"/>
            <a:ext cx="3834720" cy="2992755"/>
          </a:xfrm>
          <a:custGeom>
            <a:avLst/>
            <a:gdLst>
              <a:gd name="connsiteX0" fmla="*/ 0 w 6038"/>
              <a:gd name="connsiteY0" fmla="*/ 454 h 4713"/>
              <a:gd name="connsiteX1" fmla="*/ 293 w 6038"/>
              <a:gd name="connsiteY1" fmla="*/ 15 h 4713"/>
              <a:gd name="connsiteX2" fmla="*/ 5553 w 6038"/>
              <a:gd name="connsiteY2" fmla="*/ 0 h 4713"/>
              <a:gd name="connsiteX3" fmla="*/ 5987 w 6038"/>
              <a:gd name="connsiteY3" fmla="*/ 706 h 4713"/>
              <a:gd name="connsiteX4" fmla="*/ 4771 w 6038"/>
              <a:gd name="connsiteY4" fmla="*/ 4295 h 4713"/>
              <a:gd name="connsiteX5" fmla="*/ 4427 w 6038"/>
              <a:gd name="connsiteY5" fmla="*/ 4688 h 4713"/>
              <a:gd name="connsiteX6" fmla="*/ 293 w 6038"/>
              <a:gd name="connsiteY6" fmla="*/ 4713 h 4713"/>
              <a:gd name="connsiteX7" fmla="*/ 0 w 6038"/>
              <a:gd name="connsiteY7" fmla="*/ 4274 h 4713"/>
              <a:gd name="connsiteX8" fmla="*/ 0 w 6038"/>
              <a:gd name="connsiteY8" fmla="*/ 454 h 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39" h="4713">
                <a:moveTo>
                  <a:pt x="0" y="454"/>
                </a:moveTo>
                <a:cubicBezTo>
                  <a:pt x="0" y="211"/>
                  <a:pt x="132" y="15"/>
                  <a:pt x="293" y="15"/>
                </a:cubicBezTo>
                <a:lnTo>
                  <a:pt x="5553" y="0"/>
                </a:lnTo>
                <a:cubicBezTo>
                  <a:pt x="5919" y="19"/>
                  <a:pt x="6147" y="41"/>
                  <a:pt x="5987" y="706"/>
                </a:cubicBezTo>
                <a:lnTo>
                  <a:pt x="4771" y="4295"/>
                </a:lnTo>
                <a:cubicBezTo>
                  <a:pt x="4679" y="4547"/>
                  <a:pt x="4589" y="4688"/>
                  <a:pt x="4427" y="4688"/>
                </a:cubicBezTo>
                <a:lnTo>
                  <a:pt x="293" y="4713"/>
                </a:lnTo>
                <a:cubicBezTo>
                  <a:pt x="132" y="4713"/>
                  <a:pt x="0" y="4517"/>
                  <a:pt x="0" y="4274"/>
                </a:cubicBezTo>
                <a:lnTo>
                  <a:pt x="0" y="45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4488180" y="1825625"/>
            <a:ext cx="4650740" cy="2983230"/>
            <a:chOff x="7112" y="2886"/>
            <a:chExt cx="7324" cy="4698"/>
          </a:xfrm>
        </p:grpSpPr>
        <p:sp>
          <p:nvSpPr>
            <p:cNvPr id="37" name="任意多边形 36"/>
            <p:cNvSpPr/>
            <p:nvPr/>
          </p:nvSpPr>
          <p:spPr>
            <a:xfrm rot="10800000">
              <a:off x="7112" y="2886"/>
              <a:ext cx="6011" cy="4698"/>
            </a:xfrm>
            <a:custGeom>
              <a:avLst/>
              <a:gdLst>
                <a:gd name="connsiteX0" fmla="*/ 0 w 6011"/>
                <a:gd name="connsiteY0" fmla="*/ 439 h 4698"/>
                <a:gd name="connsiteX1" fmla="*/ 299 w 6011"/>
                <a:gd name="connsiteY1" fmla="*/ 0 h 4698"/>
                <a:gd name="connsiteX2" fmla="*/ 5564 w 6011"/>
                <a:gd name="connsiteY2" fmla="*/ 25 h 4698"/>
                <a:gd name="connsiteX3" fmla="*/ 5950 w 6011"/>
                <a:gd name="connsiteY3" fmla="*/ 682 h 4698"/>
                <a:gd name="connsiteX4" fmla="*/ 4863 w 6011"/>
                <a:gd name="connsiteY4" fmla="*/ 4280 h 4698"/>
                <a:gd name="connsiteX5" fmla="*/ 4553 w 6011"/>
                <a:gd name="connsiteY5" fmla="*/ 4684 h 4698"/>
                <a:gd name="connsiteX6" fmla="*/ 299 w 6011"/>
                <a:gd name="connsiteY6" fmla="*/ 4698 h 4698"/>
                <a:gd name="connsiteX7" fmla="*/ 0 w 6011"/>
                <a:gd name="connsiteY7" fmla="*/ 4259 h 4698"/>
                <a:gd name="connsiteX8" fmla="*/ 0 w 6011"/>
                <a:gd name="connsiteY8" fmla="*/ 439 h 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1" h="4698">
                  <a:moveTo>
                    <a:pt x="0" y="439"/>
                  </a:moveTo>
                  <a:cubicBezTo>
                    <a:pt x="0" y="196"/>
                    <a:pt x="134" y="0"/>
                    <a:pt x="299" y="0"/>
                  </a:cubicBezTo>
                  <a:lnTo>
                    <a:pt x="5564" y="25"/>
                  </a:lnTo>
                  <a:cubicBezTo>
                    <a:pt x="5936" y="44"/>
                    <a:pt x="6114" y="17"/>
                    <a:pt x="5950" y="682"/>
                  </a:cubicBezTo>
                  <a:lnTo>
                    <a:pt x="4863" y="4280"/>
                  </a:lnTo>
                  <a:cubicBezTo>
                    <a:pt x="4771" y="4532"/>
                    <a:pt x="4717" y="4684"/>
                    <a:pt x="4553" y="4684"/>
                  </a:cubicBezTo>
                  <a:lnTo>
                    <a:pt x="299" y="4698"/>
                  </a:lnTo>
                  <a:cubicBezTo>
                    <a:pt x="134" y="4698"/>
                    <a:pt x="0" y="4502"/>
                    <a:pt x="0" y="4259"/>
                  </a:cubicBezTo>
                  <a:lnTo>
                    <a:pt x="0" y="439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8516" y="2976"/>
              <a:ext cx="4488" cy="648"/>
              <a:chOff x="7560" y="2160"/>
              <a:chExt cx="6336" cy="648"/>
            </a:xfrm>
          </p:grpSpPr>
          <p:sp>
            <p:nvSpPr>
              <p:cNvPr id="47" name="Shape 14"/>
              <p:cNvSpPr/>
              <p:nvPr/>
            </p:nvSpPr>
            <p:spPr>
              <a:xfrm>
                <a:off x="7560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E74C3C"/>
              </a:solidFill>
              <a:ln w="12700">
                <a:solidFill>
                  <a:srgbClr val="E74C3C"/>
                </a:solidFill>
                <a:prstDash val="solid"/>
              </a:ln>
            </p:spPr>
          </p:sp>
          <p:sp>
            <p:nvSpPr>
              <p:cNvPr id="48" name="Text 15"/>
              <p:cNvSpPr/>
              <p:nvPr/>
            </p:nvSpPr>
            <p:spPr>
              <a:xfrm>
                <a:off x="8164" y="2160"/>
                <a:ext cx="5128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 系统不做什么</a:t>
                </a:r>
                <a:endParaRPr lang="en-US" sz="1400" dirty="0"/>
              </a:p>
            </p:txBody>
          </p:sp>
        </p:grpSp>
        <p:sp>
          <p:nvSpPr>
            <p:cNvPr id="49" name="Text 16"/>
            <p:cNvSpPr/>
            <p:nvPr/>
          </p:nvSpPr>
          <p:spPr>
            <a:xfrm>
              <a:off x="8676" y="371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在线编译或运行学生代码</a:t>
              </a:r>
              <a:endParaRPr lang="en-US" sz="1300" dirty="0"/>
            </a:p>
          </p:txBody>
        </p:sp>
        <p:sp>
          <p:nvSpPr>
            <p:cNvPr id="50" name="Text 17"/>
            <p:cNvSpPr/>
            <p:nvPr/>
          </p:nvSpPr>
          <p:spPr>
            <a:xfrm>
              <a:off x="8676" y="452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执行代码功能测试用例</a:t>
              </a:r>
              <a:endParaRPr lang="en-US" sz="1300" dirty="0"/>
            </a:p>
          </p:txBody>
        </p:sp>
        <p:sp>
          <p:nvSpPr>
            <p:cNvPr id="51" name="Text 18"/>
            <p:cNvSpPr/>
            <p:nvPr/>
          </p:nvSpPr>
          <p:spPr>
            <a:xfrm>
              <a:off x="8676" y="532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自动生成并发布最终成绩</a:t>
              </a:r>
              <a:endParaRPr lang="en-US" sz="1300" dirty="0"/>
            </a:p>
          </p:txBody>
        </p:sp>
        <p:sp>
          <p:nvSpPr>
            <p:cNvPr id="52" name="Text 19"/>
            <p:cNvSpPr/>
            <p:nvPr/>
          </p:nvSpPr>
          <p:spPr>
            <a:xfrm>
              <a:off x="8676" y="613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替代教师做最终评价判断</a:t>
              </a:r>
              <a:endParaRPr lang="en-US" sz="1300" dirty="0"/>
            </a:p>
          </p:txBody>
        </p:sp>
        <p:sp>
          <p:nvSpPr>
            <p:cNvPr id="53" name="Text 20"/>
            <p:cNvSpPr/>
            <p:nvPr/>
          </p:nvSpPr>
          <p:spPr>
            <a:xfrm>
              <a:off x="8676" y="694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与学生进行实时互动答疑</a:t>
              </a:r>
              <a:endParaRPr lang="en-US" sz="130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45920" y="4828540"/>
            <a:ext cx="5852160" cy="274320"/>
            <a:chOff x="2592" y="7344"/>
            <a:chExt cx="9216" cy="432"/>
          </a:xfrm>
        </p:grpSpPr>
        <p:sp>
          <p:nvSpPr>
            <p:cNvPr id="56" name="Shape 21"/>
            <p:cNvSpPr/>
            <p:nvPr/>
          </p:nvSpPr>
          <p:spPr>
            <a:xfrm>
              <a:off x="2592" y="7344"/>
              <a:ext cx="9216" cy="432"/>
            </a:xfrm>
            <a:prstGeom prst="roundRect">
              <a:avLst>
                <a:gd name="adj" fmla="val 26667"/>
              </a:avLst>
            </a:prstGeom>
            <a:solidFill>
              <a:srgbClr val="D6EAF8"/>
            </a:solidFill>
            <a:ln w="12700">
              <a:solidFill>
                <a:srgbClr val="D5E8F3"/>
              </a:solidFill>
              <a:prstDash val="solid"/>
            </a:ln>
          </p:spPr>
        </p:sp>
        <p:sp>
          <p:nvSpPr>
            <p:cNvPr id="57" name="Text 22"/>
            <p:cNvSpPr/>
            <p:nvPr/>
          </p:nvSpPr>
          <p:spPr>
            <a:xfrm>
              <a:off x="3661" y="7344"/>
              <a:ext cx="707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⚠  自动评分仅作参考依据，最终成绩由教师复核后发布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" name="Shape 15"/>
          <p:cNvSpPr/>
          <p:nvPr>
            <p:custDataLst>
              <p:tags r:id="rId1"/>
            </p:custDataLst>
          </p:nvPr>
        </p:nvSpPr>
        <p:spPr>
          <a:xfrm>
            <a:off x="936625" y="3797935"/>
            <a:ext cx="2454275" cy="814705"/>
          </a:xfrm>
          <a:custGeom>
            <a:avLst/>
            <a:gdLst>
              <a:gd name="connsiteX0" fmla="*/ 0 w 4209"/>
              <a:gd name="connsiteY0" fmla="*/ 119 h 1283"/>
              <a:gd name="connsiteX1" fmla="*/ 105 w 4209"/>
              <a:gd name="connsiteY1" fmla="*/ 3 h 1283"/>
              <a:gd name="connsiteX2" fmla="*/ 3958 w 4209"/>
              <a:gd name="connsiteY2" fmla="*/ 0 h 1283"/>
              <a:gd name="connsiteX3" fmla="*/ 3759 w 4209"/>
              <a:gd name="connsiteY3" fmla="*/ 513 h 1283"/>
              <a:gd name="connsiteX4" fmla="*/ 3879 w 4209"/>
              <a:gd name="connsiteY4" fmla="*/ 953 h 1283"/>
              <a:gd name="connsiteX5" fmla="*/ 4199 w 4209"/>
              <a:gd name="connsiteY5" fmla="*/ 1273 h 1283"/>
              <a:gd name="connsiteX6" fmla="*/ 105 w 4209"/>
              <a:gd name="connsiteY6" fmla="*/ 1283 h 1283"/>
              <a:gd name="connsiteX7" fmla="*/ 0 w 4209"/>
              <a:gd name="connsiteY7" fmla="*/ 1167 h 1283"/>
              <a:gd name="connsiteX8" fmla="*/ 0 w 420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" h="1283">
                <a:moveTo>
                  <a:pt x="0" y="119"/>
                </a:moveTo>
                <a:cubicBezTo>
                  <a:pt x="0" y="56"/>
                  <a:pt x="48" y="3"/>
                  <a:pt x="105" y="3"/>
                </a:cubicBezTo>
                <a:lnTo>
                  <a:pt x="3958" y="0"/>
                </a:lnTo>
                <a:cubicBezTo>
                  <a:pt x="4015" y="0"/>
                  <a:pt x="3887" y="211"/>
                  <a:pt x="3759" y="513"/>
                </a:cubicBezTo>
                <a:cubicBezTo>
                  <a:pt x="3806" y="721"/>
                  <a:pt x="3776" y="705"/>
                  <a:pt x="3879" y="953"/>
                </a:cubicBezTo>
                <a:cubicBezTo>
                  <a:pt x="4074" y="1121"/>
                  <a:pt x="4256" y="1273"/>
                  <a:pt x="4199" y="1273"/>
                </a:cubicBezTo>
                <a:lnTo>
                  <a:pt x="105" y="1283"/>
                </a:lnTo>
                <a:cubicBezTo>
                  <a:pt x="48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3" name="Shape 15"/>
          <p:cNvSpPr/>
          <p:nvPr>
            <p:custDataLst>
              <p:tags r:id="rId2"/>
            </p:custDataLst>
          </p:nvPr>
        </p:nvSpPr>
        <p:spPr>
          <a:xfrm>
            <a:off x="962660" y="2673985"/>
            <a:ext cx="1999615" cy="814705"/>
          </a:xfrm>
          <a:custGeom>
            <a:avLst/>
            <a:gdLst>
              <a:gd name="connsiteX0" fmla="*/ 0 w 3529"/>
              <a:gd name="connsiteY0" fmla="*/ 119 h 1283"/>
              <a:gd name="connsiteX1" fmla="*/ 90 w 3529"/>
              <a:gd name="connsiteY1" fmla="*/ 3 h 1283"/>
              <a:gd name="connsiteX2" fmla="*/ 3399 w 3529"/>
              <a:gd name="connsiteY2" fmla="*/ 0 h 1283"/>
              <a:gd name="connsiteX3" fmla="*/ 3152 w 3529"/>
              <a:gd name="connsiteY3" fmla="*/ 505 h 1283"/>
              <a:gd name="connsiteX4" fmla="*/ 3248 w 3529"/>
              <a:gd name="connsiteY4" fmla="*/ 1001 h 1283"/>
              <a:gd name="connsiteX5" fmla="*/ 3520 w 3529"/>
              <a:gd name="connsiteY5" fmla="*/ 1281 h 1283"/>
              <a:gd name="connsiteX6" fmla="*/ 90 w 3529"/>
              <a:gd name="connsiteY6" fmla="*/ 1283 h 1283"/>
              <a:gd name="connsiteX7" fmla="*/ 0 w 3529"/>
              <a:gd name="connsiteY7" fmla="*/ 1167 h 1283"/>
              <a:gd name="connsiteX8" fmla="*/ 0 w 352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9" h="1283">
                <a:moveTo>
                  <a:pt x="0" y="119"/>
                </a:moveTo>
                <a:cubicBezTo>
                  <a:pt x="0" y="56"/>
                  <a:pt x="41" y="3"/>
                  <a:pt x="90" y="3"/>
                </a:cubicBezTo>
                <a:lnTo>
                  <a:pt x="3399" y="0"/>
                </a:lnTo>
                <a:cubicBezTo>
                  <a:pt x="3448" y="0"/>
                  <a:pt x="3262" y="203"/>
                  <a:pt x="3152" y="505"/>
                </a:cubicBezTo>
                <a:cubicBezTo>
                  <a:pt x="3192" y="713"/>
                  <a:pt x="3160" y="753"/>
                  <a:pt x="3248" y="1001"/>
                </a:cubicBezTo>
                <a:cubicBezTo>
                  <a:pt x="3416" y="1169"/>
                  <a:pt x="3569" y="1281"/>
                  <a:pt x="3520" y="1281"/>
                </a:cubicBezTo>
                <a:lnTo>
                  <a:pt x="90" y="1283"/>
                </a:lnTo>
                <a:cubicBezTo>
                  <a:pt x="41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2" name="Shape 15"/>
          <p:cNvSpPr/>
          <p:nvPr>
            <p:custDataLst>
              <p:tags r:id="rId3"/>
            </p:custDataLst>
          </p:nvPr>
        </p:nvSpPr>
        <p:spPr>
          <a:xfrm>
            <a:off x="958215" y="1515110"/>
            <a:ext cx="2574290" cy="814705"/>
          </a:xfrm>
          <a:custGeom>
            <a:avLst/>
            <a:gdLst>
              <a:gd name="connsiteX0" fmla="*/ 0 w 4428"/>
              <a:gd name="connsiteY0" fmla="*/ 120 h 1294"/>
              <a:gd name="connsiteX1" fmla="*/ 117 w 4428"/>
              <a:gd name="connsiteY1" fmla="*/ 3 h 1294"/>
              <a:gd name="connsiteX2" fmla="*/ 4417 w 4428"/>
              <a:gd name="connsiteY2" fmla="*/ 0 h 1294"/>
              <a:gd name="connsiteX3" fmla="*/ 4113 w 4428"/>
              <a:gd name="connsiteY3" fmla="*/ 488 h 1294"/>
              <a:gd name="connsiteX4" fmla="*/ 4161 w 4428"/>
              <a:gd name="connsiteY4" fmla="*/ 1177 h 1294"/>
              <a:gd name="connsiteX5" fmla="*/ 4044 w 4428"/>
              <a:gd name="connsiteY5" fmla="*/ 1294 h 1294"/>
              <a:gd name="connsiteX6" fmla="*/ 117 w 4428"/>
              <a:gd name="connsiteY6" fmla="*/ 1294 h 1294"/>
              <a:gd name="connsiteX7" fmla="*/ 0 w 4428"/>
              <a:gd name="connsiteY7" fmla="*/ 1177 h 1294"/>
              <a:gd name="connsiteX8" fmla="*/ 0 w 4428"/>
              <a:gd name="connsiteY8" fmla="*/ 120 h 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8" h="1294">
                <a:moveTo>
                  <a:pt x="0" y="120"/>
                </a:moveTo>
                <a:cubicBezTo>
                  <a:pt x="0" y="56"/>
                  <a:pt x="53" y="3"/>
                  <a:pt x="117" y="3"/>
                </a:cubicBezTo>
                <a:lnTo>
                  <a:pt x="4417" y="0"/>
                </a:lnTo>
                <a:cubicBezTo>
                  <a:pt x="4481" y="0"/>
                  <a:pt x="4257" y="184"/>
                  <a:pt x="4113" y="488"/>
                </a:cubicBezTo>
                <a:cubicBezTo>
                  <a:pt x="4089" y="704"/>
                  <a:pt x="4145" y="918"/>
                  <a:pt x="4161" y="1177"/>
                </a:cubicBezTo>
                <a:cubicBezTo>
                  <a:pt x="4161" y="1241"/>
                  <a:pt x="4108" y="1294"/>
                  <a:pt x="4044" y="1294"/>
                </a:cubicBezTo>
                <a:lnTo>
                  <a:pt x="117" y="1294"/>
                </a:lnTo>
                <a:cubicBezTo>
                  <a:pt x="53" y="1294"/>
                  <a:pt x="0" y="1241"/>
                  <a:pt x="0" y="1177"/>
                </a:cubicBezTo>
                <a:lnTo>
                  <a:pt x="0" y="12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9385A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11" name="Shape 21"/>
          <p:cNvSpPr/>
          <p:nvPr>
            <p:custDataLst>
              <p:tags r:id="rId4"/>
            </p:custDataLst>
          </p:nvPr>
        </p:nvSpPr>
        <p:spPr>
          <a:xfrm>
            <a:off x="5808345" y="3810000"/>
            <a:ext cx="2465070" cy="806450"/>
          </a:xfrm>
          <a:custGeom>
            <a:avLst/>
            <a:gdLst>
              <a:gd name="connsiteX0" fmla="*/ 355 w 3494"/>
              <a:gd name="connsiteY0" fmla="*/ 329 h 1270"/>
              <a:gd name="connsiteX1" fmla="*/ 149 w 3494"/>
              <a:gd name="connsiteY1" fmla="*/ 8 h 1270"/>
              <a:gd name="connsiteX2" fmla="*/ 3352 w 3494"/>
              <a:gd name="connsiteY2" fmla="*/ 0 h 1270"/>
              <a:gd name="connsiteX3" fmla="*/ 3495 w 3494"/>
              <a:gd name="connsiteY3" fmla="*/ 180 h 1270"/>
              <a:gd name="connsiteX4" fmla="*/ 3495 w 3494"/>
              <a:gd name="connsiteY4" fmla="*/ 1090 h 1270"/>
              <a:gd name="connsiteX5" fmla="*/ 3352 w 3494"/>
              <a:gd name="connsiteY5" fmla="*/ 1270 h 1270"/>
              <a:gd name="connsiteX6" fmla="*/ 15 w 3494"/>
              <a:gd name="connsiteY6" fmla="*/ 1252 h 1270"/>
              <a:gd name="connsiteX7" fmla="*/ 277 w 3494"/>
              <a:gd name="connsiteY7" fmla="*/ 988 h 1270"/>
              <a:gd name="connsiteX8" fmla="*/ 391 w 3494"/>
              <a:gd name="connsiteY8" fmla="*/ 683 h 1270"/>
              <a:gd name="connsiteX9" fmla="*/ 355 w 3494"/>
              <a:gd name="connsiteY9" fmla="*/ 329 h 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5" h="1270">
                <a:moveTo>
                  <a:pt x="355" y="329"/>
                </a:moveTo>
                <a:cubicBezTo>
                  <a:pt x="355" y="230"/>
                  <a:pt x="70" y="8"/>
                  <a:pt x="149" y="8"/>
                </a:cubicBezTo>
                <a:lnTo>
                  <a:pt x="3352" y="0"/>
                </a:lnTo>
                <a:cubicBezTo>
                  <a:pt x="3431" y="0"/>
                  <a:pt x="3495" y="81"/>
                  <a:pt x="3495" y="180"/>
                </a:cubicBezTo>
                <a:lnTo>
                  <a:pt x="3495" y="1090"/>
                </a:lnTo>
                <a:cubicBezTo>
                  <a:pt x="3495" y="1189"/>
                  <a:pt x="3431" y="1270"/>
                  <a:pt x="3352" y="1270"/>
                </a:cubicBezTo>
                <a:lnTo>
                  <a:pt x="15" y="1252"/>
                </a:lnTo>
                <a:cubicBezTo>
                  <a:pt x="-64" y="1252"/>
                  <a:pt x="191" y="1042"/>
                  <a:pt x="277" y="988"/>
                </a:cubicBezTo>
                <a:cubicBezTo>
                  <a:pt x="314" y="938"/>
                  <a:pt x="408" y="808"/>
                  <a:pt x="391" y="683"/>
                </a:cubicBezTo>
                <a:cubicBezTo>
                  <a:pt x="375" y="559"/>
                  <a:pt x="421" y="458"/>
                  <a:pt x="355" y="329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09" name="Shape 21"/>
          <p:cNvSpPr/>
          <p:nvPr>
            <p:custDataLst>
              <p:tags r:id="rId5"/>
            </p:custDataLst>
          </p:nvPr>
        </p:nvSpPr>
        <p:spPr>
          <a:xfrm>
            <a:off x="6139815" y="2658110"/>
            <a:ext cx="2114550" cy="830580"/>
          </a:xfrm>
          <a:custGeom>
            <a:avLst/>
            <a:gdLst>
              <a:gd name="connsiteX0" fmla="*/ 239 w 3217"/>
              <a:gd name="connsiteY0" fmla="*/ 238 h 1308"/>
              <a:gd name="connsiteX1" fmla="*/ 19 w 3217"/>
              <a:gd name="connsiteY1" fmla="*/ 0 h 1308"/>
              <a:gd name="connsiteX2" fmla="*/ 3081 w 3217"/>
              <a:gd name="connsiteY2" fmla="*/ 38 h 1308"/>
              <a:gd name="connsiteX3" fmla="*/ 3217 w 3217"/>
              <a:gd name="connsiteY3" fmla="*/ 218 h 1308"/>
              <a:gd name="connsiteX4" fmla="*/ 3217 w 3217"/>
              <a:gd name="connsiteY4" fmla="*/ 1128 h 1308"/>
              <a:gd name="connsiteX5" fmla="*/ 3081 w 3217"/>
              <a:gd name="connsiteY5" fmla="*/ 1308 h 1308"/>
              <a:gd name="connsiteX6" fmla="*/ 13 w 3217"/>
              <a:gd name="connsiteY6" fmla="*/ 1300 h 1308"/>
              <a:gd name="connsiteX7" fmla="*/ 211 w 3217"/>
              <a:gd name="connsiteY7" fmla="*/ 1042 h 1308"/>
              <a:gd name="connsiteX8" fmla="*/ 239 w 3217"/>
              <a:gd name="connsiteY8" fmla="*/ 238 h 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7" h="1308">
                <a:moveTo>
                  <a:pt x="239" y="238"/>
                </a:moveTo>
                <a:cubicBezTo>
                  <a:pt x="239" y="139"/>
                  <a:pt x="-56" y="0"/>
                  <a:pt x="19" y="0"/>
                </a:cubicBezTo>
                <a:lnTo>
                  <a:pt x="3081" y="38"/>
                </a:lnTo>
                <a:cubicBezTo>
                  <a:pt x="3156" y="38"/>
                  <a:pt x="3217" y="119"/>
                  <a:pt x="3217" y="218"/>
                </a:cubicBezTo>
                <a:lnTo>
                  <a:pt x="3217" y="1128"/>
                </a:lnTo>
                <a:cubicBezTo>
                  <a:pt x="3217" y="1227"/>
                  <a:pt x="3156" y="1308"/>
                  <a:pt x="3081" y="1308"/>
                </a:cubicBezTo>
                <a:lnTo>
                  <a:pt x="13" y="1300"/>
                </a:lnTo>
                <a:cubicBezTo>
                  <a:pt x="-62" y="1300"/>
                  <a:pt x="211" y="1141"/>
                  <a:pt x="211" y="1042"/>
                </a:cubicBezTo>
                <a:cubicBezTo>
                  <a:pt x="390" y="798"/>
                  <a:pt x="285" y="534"/>
                  <a:pt x="239" y="23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08" name="Shape 21"/>
          <p:cNvSpPr/>
          <p:nvPr>
            <p:custDataLst>
              <p:tags r:id="rId6"/>
            </p:custDataLst>
          </p:nvPr>
        </p:nvSpPr>
        <p:spPr>
          <a:xfrm>
            <a:off x="5585460" y="1518285"/>
            <a:ext cx="2669540" cy="818515"/>
          </a:xfrm>
          <a:custGeom>
            <a:avLst/>
            <a:gdLst>
              <a:gd name="connsiteX0" fmla="*/ 281 w 4264"/>
              <a:gd name="connsiteY0" fmla="*/ 284 h 1289"/>
              <a:gd name="connsiteX1" fmla="*/ 17 w 4264"/>
              <a:gd name="connsiteY1" fmla="*/ 8 h 1289"/>
              <a:gd name="connsiteX2" fmla="*/ 4084 w 4264"/>
              <a:gd name="connsiteY2" fmla="*/ 0 h 1289"/>
              <a:gd name="connsiteX3" fmla="*/ 4264 w 4264"/>
              <a:gd name="connsiteY3" fmla="*/ 180 h 1289"/>
              <a:gd name="connsiteX4" fmla="*/ 4264 w 4264"/>
              <a:gd name="connsiteY4" fmla="*/ 1090 h 1289"/>
              <a:gd name="connsiteX5" fmla="*/ 4084 w 4264"/>
              <a:gd name="connsiteY5" fmla="*/ 1270 h 1289"/>
              <a:gd name="connsiteX6" fmla="*/ 334 w 4264"/>
              <a:gd name="connsiteY6" fmla="*/ 1289 h 1289"/>
              <a:gd name="connsiteX7" fmla="*/ 406 w 4264"/>
              <a:gd name="connsiteY7" fmla="*/ 1031 h 1289"/>
              <a:gd name="connsiteX8" fmla="*/ 281 w 4264"/>
              <a:gd name="connsiteY8" fmla="*/ 284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4" h="1289">
                <a:moveTo>
                  <a:pt x="281" y="284"/>
                </a:moveTo>
                <a:cubicBezTo>
                  <a:pt x="281" y="185"/>
                  <a:pt x="-82" y="8"/>
                  <a:pt x="17" y="8"/>
                </a:cubicBezTo>
                <a:lnTo>
                  <a:pt x="4084" y="0"/>
                </a:lnTo>
                <a:cubicBezTo>
                  <a:pt x="4183" y="0"/>
                  <a:pt x="4264" y="81"/>
                  <a:pt x="4264" y="180"/>
                </a:cubicBezTo>
                <a:lnTo>
                  <a:pt x="4264" y="1090"/>
                </a:lnTo>
                <a:cubicBezTo>
                  <a:pt x="4264" y="1189"/>
                  <a:pt x="4183" y="1270"/>
                  <a:pt x="4084" y="1270"/>
                </a:cubicBezTo>
                <a:lnTo>
                  <a:pt x="334" y="1289"/>
                </a:lnTo>
                <a:cubicBezTo>
                  <a:pt x="235" y="1289"/>
                  <a:pt x="298" y="1085"/>
                  <a:pt x="406" y="1031"/>
                </a:cubicBezTo>
                <a:cubicBezTo>
                  <a:pt x="442" y="587"/>
                  <a:pt x="419" y="530"/>
                  <a:pt x="281" y="284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53" name="同心圆 52"/>
          <p:cNvSpPr/>
          <p:nvPr/>
        </p:nvSpPr>
        <p:spPr>
          <a:xfrm>
            <a:off x="2990850" y="1553210"/>
            <a:ext cx="3100070" cy="3100070"/>
          </a:xfrm>
          <a:prstGeom prst="donut">
            <a:avLst>
              <a:gd name="adj" fmla="val 1269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7" name="组合 96"/>
          <p:cNvGrpSpPr/>
          <p:nvPr/>
        </p:nvGrpSpPr>
        <p:grpSpPr>
          <a:xfrm rot="0">
            <a:off x="5121275" y="3689985"/>
            <a:ext cx="977900" cy="986790"/>
            <a:chOff x="8065" y="5787"/>
            <a:chExt cx="1540" cy="1554"/>
          </a:xfrm>
          <a:solidFill>
            <a:srgbClr val="17A589"/>
          </a:solidFill>
        </p:grpSpPr>
        <p:sp>
          <p:nvSpPr>
            <p:cNvPr id="73" name="任意多边形 72"/>
            <p:cNvSpPr/>
            <p:nvPr/>
          </p:nvSpPr>
          <p:spPr>
            <a:xfrm>
              <a:off x="8579" y="5787"/>
              <a:ext cx="765" cy="31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765" h="316">
                  <a:moveTo>
                    <a:pt x="250" y="0"/>
                  </a:moveTo>
                  <a:cubicBezTo>
                    <a:pt x="438" y="0"/>
                    <a:pt x="610" y="67"/>
                    <a:pt x="744" y="177"/>
                  </a:cubicBezTo>
                  <a:lnTo>
                    <a:pt x="765" y="196"/>
                  </a:lnTo>
                  <a:lnTo>
                    <a:pt x="759" y="208"/>
                  </a:lnTo>
                  <a:cubicBezTo>
                    <a:pt x="741" y="243"/>
                    <a:pt x="722" y="278"/>
                    <a:pt x="703" y="312"/>
                  </a:cubicBezTo>
                  <a:lnTo>
                    <a:pt x="700" y="316"/>
                  </a:lnTo>
                  <a:lnTo>
                    <a:pt x="683" y="300"/>
                  </a:lnTo>
                  <a:cubicBezTo>
                    <a:pt x="569" y="196"/>
                    <a:pt x="417" y="132"/>
                    <a:pt x="250" y="132"/>
                  </a:cubicBezTo>
                  <a:cubicBezTo>
                    <a:pt x="172" y="132"/>
                    <a:pt x="97" y="146"/>
                    <a:pt x="28" y="171"/>
                  </a:cubicBezTo>
                  <a:lnTo>
                    <a:pt x="0" y="182"/>
                  </a:lnTo>
                  <a:lnTo>
                    <a:pt x="14" y="164"/>
                  </a:lnTo>
                  <a:cubicBezTo>
                    <a:pt x="48" y="118"/>
                    <a:pt x="81" y="71"/>
                    <a:pt x="110" y="22"/>
                  </a:cubicBezTo>
                  <a:lnTo>
                    <a:pt x="116" y="11"/>
                  </a:lnTo>
                  <a:lnTo>
                    <a:pt x="132" y="9"/>
                  </a:lnTo>
                  <a:cubicBezTo>
                    <a:pt x="170" y="3"/>
                    <a:pt x="210" y="0"/>
                    <a:pt x="250" y="0"/>
                  </a:cubicBez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8065" y="5798"/>
              <a:ext cx="630" cy="62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630" h="625">
                  <a:moveTo>
                    <a:pt x="630" y="0"/>
                  </a:moveTo>
                  <a:lnTo>
                    <a:pt x="624" y="10"/>
                  </a:lnTo>
                  <a:cubicBezTo>
                    <a:pt x="595" y="59"/>
                    <a:pt x="563" y="107"/>
                    <a:pt x="528" y="152"/>
                  </a:cubicBezTo>
                  <a:lnTo>
                    <a:pt x="514" y="171"/>
                  </a:lnTo>
                  <a:lnTo>
                    <a:pt x="513" y="171"/>
                  </a:lnTo>
                  <a:cubicBezTo>
                    <a:pt x="369" y="233"/>
                    <a:pt x="251" y="345"/>
                    <a:pt x="183" y="486"/>
                  </a:cubicBezTo>
                  <a:lnTo>
                    <a:pt x="172" y="510"/>
                  </a:lnTo>
                  <a:lnTo>
                    <a:pt x="166" y="515"/>
                  </a:lnTo>
                  <a:cubicBezTo>
                    <a:pt x="121" y="549"/>
                    <a:pt x="73" y="581"/>
                    <a:pt x="24" y="611"/>
                  </a:cubicBezTo>
                  <a:lnTo>
                    <a:pt x="0" y="625"/>
                  </a:lnTo>
                  <a:lnTo>
                    <a:pt x="3" y="609"/>
                  </a:lnTo>
                  <a:cubicBezTo>
                    <a:pt x="66" y="299"/>
                    <a:pt x="314" y="56"/>
                    <a:pt x="627" y="1"/>
                  </a:cubicBezTo>
                  <a:lnTo>
                    <a:pt x="630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8243" y="5983"/>
              <a:ext cx="1362" cy="135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1362" h="1358">
                  <a:moveTo>
                    <a:pt x="1101" y="0"/>
                  </a:moveTo>
                  <a:lnTo>
                    <a:pt x="1108" y="6"/>
                  </a:lnTo>
                  <a:cubicBezTo>
                    <a:pt x="1264" y="148"/>
                    <a:pt x="1362" y="353"/>
                    <a:pt x="1362" y="581"/>
                  </a:cubicBezTo>
                  <a:cubicBezTo>
                    <a:pt x="1362" y="1010"/>
                    <a:pt x="1014" y="1358"/>
                    <a:pt x="585" y="1358"/>
                  </a:cubicBezTo>
                  <a:cubicBezTo>
                    <a:pt x="358" y="1358"/>
                    <a:pt x="153" y="1259"/>
                    <a:pt x="10" y="1103"/>
                  </a:cubicBezTo>
                  <a:lnTo>
                    <a:pt x="0" y="1091"/>
                  </a:lnTo>
                  <a:lnTo>
                    <a:pt x="32" y="1075"/>
                  </a:lnTo>
                  <a:cubicBezTo>
                    <a:pt x="50" y="1066"/>
                    <a:pt x="67" y="1057"/>
                    <a:pt x="84" y="1048"/>
                  </a:cubicBezTo>
                  <a:lnTo>
                    <a:pt x="121" y="1027"/>
                  </a:lnTo>
                  <a:lnTo>
                    <a:pt x="130" y="1037"/>
                  </a:lnTo>
                  <a:cubicBezTo>
                    <a:pt x="246" y="1153"/>
                    <a:pt x="407" y="1225"/>
                    <a:pt x="585" y="1225"/>
                  </a:cubicBezTo>
                  <a:cubicBezTo>
                    <a:pt x="941" y="1225"/>
                    <a:pt x="1230" y="937"/>
                    <a:pt x="1230" y="581"/>
                  </a:cubicBezTo>
                  <a:cubicBezTo>
                    <a:pt x="1230" y="403"/>
                    <a:pt x="1158" y="242"/>
                    <a:pt x="1041" y="125"/>
                  </a:cubicBezTo>
                  <a:lnTo>
                    <a:pt x="1036" y="120"/>
                  </a:lnTo>
                  <a:lnTo>
                    <a:pt x="1038" y="116"/>
                  </a:lnTo>
                  <a:cubicBezTo>
                    <a:pt x="1058" y="82"/>
                    <a:pt x="1077" y="47"/>
                    <a:pt x="1095" y="12"/>
                  </a:cubicBezTo>
                  <a:lnTo>
                    <a:pt x="1101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 rot="0">
            <a:off x="3098800" y="3676650"/>
            <a:ext cx="986790" cy="986790"/>
            <a:chOff x="4922" y="5790"/>
            <a:chExt cx="1554" cy="1554"/>
          </a:xfrm>
          <a:solidFill>
            <a:srgbClr val="2E86C1"/>
          </a:solidFill>
        </p:grpSpPr>
        <p:sp>
          <p:nvSpPr>
            <p:cNvPr id="78" name="任意多边形 77"/>
            <p:cNvSpPr/>
            <p:nvPr/>
          </p:nvSpPr>
          <p:spPr>
            <a:xfrm>
              <a:off x="6092" y="6463"/>
              <a:ext cx="384" cy="67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384" h="675">
                  <a:moveTo>
                    <a:pt x="243" y="0"/>
                  </a:moveTo>
                  <a:lnTo>
                    <a:pt x="260" y="9"/>
                  </a:lnTo>
                  <a:cubicBezTo>
                    <a:pt x="299" y="29"/>
                    <a:pt x="338" y="47"/>
                    <a:pt x="378" y="64"/>
                  </a:cubicBezTo>
                  <a:lnTo>
                    <a:pt x="383" y="66"/>
                  </a:lnTo>
                  <a:lnTo>
                    <a:pt x="383" y="84"/>
                  </a:lnTo>
                  <a:cubicBezTo>
                    <a:pt x="384" y="90"/>
                    <a:pt x="384" y="97"/>
                    <a:pt x="384" y="104"/>
                  </a:cubicBezTo>
                  <a:cubicBezTo>
                    <a:pt x="384" y="318"/>
                    <a:pt x="297" y="512"/>
                    <a:pt x="156" y="653"/>
                  </a:cubicBezTo>
                  <a:lnTo>
                    <a:pt x="133" y="675"/>
                  </a:lnTo>
                  <a:lnTo>
                    <a:pt x="122" y="670"/>
                  </a:lnTo>
                  <a:cubicBezTo>
                    <a:pt x="86" y="655"/>
                    <a:pt x="50" y="638"/>
                    <a:pt x="14" y="621"/>
                  </a:cubicBezTo>
                  <a:lnTo>
                    <a:pt x="0" y="614"/>
                  </a:lnTo>
                  <a:lnTo>
                    <a:pt x="17" y="601"/>
                  </a:lnTo>
                  <a:cubicBezTo>
                    <a:pt x="160" y="483"/>
                    <a:pt x="251" y="304"/>
                    <a:pt x="251" y="104"/>
                  </a:cubicBezTo>
                  <a:cubicBezTo>
                    <a:pt x="251" y="70"/>
                    <a:pt x="249" y="38"/>
                    <a:pt x="244" y="6"/>
                  </a:cubicBezTo>
                  <a:lnTo>
                    <a:pt x="243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5630" y="5790"/>
              <a:ext cx="845" cy="73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845" h="739">
                  <a:moveTo>
                    <a:pt x="69" y="0"/>
                  </a:moveTo>
                  <a:cubicBezTo>
                    <a:pt x="485" y="0"/>
                    <a:pt x="824" y="326"/>
                    <a:pt x="845" y="737"/>
                  </a:cubicBezTo>
                  <a:lnTo>
                    <a:pt x="845" y="739"/>
                  </a:lnTo>
                  <a:lnTo>
                    <a:pt x="840" y="737"/>
                  </a:lnTo>
                  <a:cubicBezTo>
                    <a:pt x="800" y="720"/>
                    <a:pt x="761" y="702"/>
                    <a:pt x="722" y="682"/>
                  </a:cubicBezTo>
                  <a:lnTo>
                    <a:pt x="705" y="673"/>
                  </a:lnTo>
                  <a:lnTo>
                    <a:pt x="703" y="663"/>
                  </a:lnTo>
                  <a:cubicBezTo>
                    <a:pt x="651" y="366"/>
                    <a:pt x="395" y="140"/>
                    <a:pt x="86" y="132"/>
                  </a:cubicBezTo>
                  <a:lnTo>
                    <a:pt x="85" y="132"/>
                  </a:lnTo>
                  <a:lnTo>
                    <a:pt x="80" y="126"/>
                  </a:lnTo>
                  <a:cubicBezTo>
                    <a:pt x="55" y="91"/>
                    <a:pt x="32" y="55"/>
                    <a:pt x="9" y="19"/>
                  </a:cubicBezTo>
                  <a:lnTo>
                    <a:pt x="0" y="3"/>
                  </a:lnTo>
                  <a:lnTo>
                    <a:pt x="9" y="2"/>
                  </a:lnTo>
                  <a:cubicBezTo>
                    <a:pt x="29" y="1"/>
                    <a:pt x="49" y="0"/>
                    <a:pt x="69" y="0"/>
                  </a:cubicBez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4922" y="6124"/>
              <a:ext cx="1303" cy="1220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1303" h="1220">
                  <a:moveTo>
                    <a:pt x="139" y="0"/>
                  </a:moveTo>
                  <a:lnTo>
                    <a:pt x="154" y="26"/>
                  </a:lnTo>
                  <a:cubicBezTo>
                    <a:pt x="165" y="43"/>
                    <a:pt x="175" y="60"/>
                    <a:pt x="186" y="76"/>
                  </a:cubicBezTo>
                  <a:lnTo>
                    <a:pt x="217" y="124"/>
                  </a:lnTo>
                  <a:lnTo>
                    <a:pt x="210" y="136"/>
                  </a:lnTo>
                  <a:cubicBezTo>
                    <a:pt x="160" y="227"/>
                    <a:pt x="132" y="332"/>
                    <a:pt x="132" y="443"/>
                  </a:cubicBezTo>
                  <a:cubicBezTo>
                    <a:pt x="132" y="799"/>
                    <a:pt x="421" y="1088"/>
                    <a:pt x="777" y="1088"/>
                  </a:cubicBezTo>
                  <a:cubicBezTo>
                    <a:pt x="921" y="1088"/>
                    <a:pt x="1055" y="1040"/>
                    <a:pt x="1162" y="960"/>
                  </a:cubicBezTo>
                  <a:lnTo>
                    <a:pt x="1170" y="954"/>
                  </a:lnTo>
                  <a:lnTo>
                    <a:pt x="1184" y="961"/>
                  </a:lnTo>
                  <a:cubicBezTo>
                    <a:pt x="1219" y="978"/>
                    <a:pt x="1255" y="994"/>
                    <a:pt x="1292" y="1010"/>
                  </a:cubicBezTo>
                  <a:lnTo>
                    <a:pt x="1303" y="1014"/>
                  </a:lnTo>
                  <a:lnTo>
                    <a:pt x="1299" y="1018"/>
                  </a:lnTo>
                  <a:cubicBezTo>
                    <a:pt x="1161" y="1143"/>
                    <a:pt x="978" y="1220"/>
                    <a:pt x="777" y="1220"/>
                  </a:cubicBezTo>
                  <a:cubicBezTo>
                    <a:pt x="348" y="1220"/>
                    <a:pt x="0" y="872"/>
                    <a:pt x="0" y="443"/>
                  </a:cubicBezTo>
                  <a:cubicBezTo>
                    <a:pt x="0" y="282"/>
                    <a:pt x="49" y="133"/>
                    <a:pt x="133" y="9"/>
                  </a:cubicBezTo>
                  <a:lnTo>
                    <a:pt x="139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 rot="0">
            <a:off x="5416550" y="2573020"/>
            <a:ext cx="986155" cy="970280"/>
            <a:chOff x="8530" y="4052"/>
            <a:chExt cx="1553" cy="1528"/>
          </a:xfrm>
          <a:solidFill>
            <a:srgbClr val="E67E22"/>
          </a:solidFill>
        </p:grpSpPr>
        <p:sp>
          <p:nvSpPr>
            <p:cNvPr id="81" name="任意多边形 80"/>
            <p:cNvSpPr/>
            <p:nvPr/>
          </p:nvSpPr>
          <p:spPr>
            <a:xfrm>
              <a:off x="8821" y="4052"/>
              <a:ext cx="692" cy="30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692" h="305">
                  <a:moveTo>
                    <a:pt x="486" y="0"/>
                  </a:moveTo>
                  <a:cubicBezTo>
                    <a:pt x="540" y="0"/>
                    <a:pt x="592" y="5"/>
                    <a:pt x="643" y="16"/>
                  </a:cubicBezTo>
                  <a:lnTo>
                    <a:pt x="644" y="16"/>
                  </a:lnTo>
                  <a:lnTo>
                    <a:pt x="656" y="49"/>
                  </a:lnTo>
                  <a:cubicBezTo>
                    <a:pt x="669" y="87"/>
                    <a:pt x="681" y="125"/>
                    <a:pt x="692" y="164"/>
                  </a:cubicBezTo>
                  <a:lnTo>
                    <a:pt x="692" y="166"/>
                  </a:lnTo>
                  <a:lnTo>
                    <a:pt x="678" y="161"/>
                  </a:lnTo>
                  <a:cubicBezTo>
                    <a:pt x="617" y="142"/>
                    <a:pt x="553" y="132"/>
                    <a:pt x="486" y="132"/>
                  </a:cubicBezTo>
                  <a:cubicBezTo>
                    <a:pt x="319" y="132"/>
                    <a:pt x="167" y="196"/>
                    <a:pt x="53" y="300"/>
                  </a:cubicBezTo>
                  <a:lnTo>
                    <a:pt x="47" y="305"/>
                  </a:lnTo>
                  <a:lnTo>
                    <a:pt x="46" y="302"/>
                  </a:lnTo>
                  <a:cubicBezTo>
                    <a:pt x="33" y="260"/>
                    <a:pt x="19" y="219"/>
                    <a:pt x="3" y="178"/>
                  </a:cubicBezTo>
                  <a:lnTo>
                    <a:pt x="0" y="171"/>
                  </a:lnTo>
                  <a:lnTo>
                    <a:pt x="21" y="154"/>
                  </a:lnTo>
                  <a:cubicBezTo>
                    <a:pt x="151" y="57"/>
                    <a:pt x="312" y="0"/>
                    <a:pt x="486" y="0"/>
                  </a:cubicBez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9465" y="4068"/>
              <a:ext cx="618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618" h="1512">
                  <a:moveTo>
                    <a:pt x="0" y="0"/>
                  </a:moveTo>
                  <a:lnTo>
                    <a:pt x="17" y="4"/>
                  </a:lnTo>
                  <a:cubicBezTo>
                    <a:pt x="361" y="83"/>
                    <a:pt x="618" y="392"/>
                    <a:pt x="618" y="760"/>
                  </a:cubicBezTo>
                  <a:cubicBezTo>
                    <a:pt x="618" y="1116"/>
                    <a:pt x="380" y="1415"/>
                    <a:pt x="54" y="1508"/>
                  </a:cubicBezTo>
                  <a:lnTo>
                    <a:pt x="39" y="1512"/>
                  </a:lnTo>
                  <a:lnTo>
                    <a:pt x="47" y="1484"/>
                  </a:lnTo>
                  <a:cubicBezTo>
                    <a:pt x="58" y="1445"/>
                    <a:pt x="68" y="1406"/>
                    <a:pt x="77" y="1367"/>
                  </a:cubicBezTo>
                  <a:lnTo>
                    <a:pt x="79" y="1360"/>
                  </a:lnTo>
                  <a:lnTo>
                    <a:pt x="92" y="1354"/>
                  </a:lnTo>
                  <a:cubicBezTo>
                    <a:pt x="324" y="1256"/>
                    <a:pt x="486" y="1027"/>
                    <a:pt x="486" y="760"/>
                  </a:cubicBezTo>
                  <a:cubicBezTo>
                    <a:pt x="486" y="482"/>
                    <a:pt x="310" y="245"/>
                    <a:pt x="63" y="155"/>
                  </a:cubicBezTo>
                  <a:lnTo>
                    <a:pt x="48" y="150"/>
                  </a:lnTo>
                  <a:lnTo>
                    <a:pt x="47" y="148"/>
                  </a:lnTo>
                  <a:cubicBezTo>
                    <a:pt x="36" y="109"/>
                    <a:pt x="24" y="71"/>
                    <a:pt x="12" y="3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8530" y="4223"/>
              <a:ext cx="363" cy="123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363" h="1236">
                  <a:moveTo>
                    <a:pt x="291" y="0"/>
                  </a:moveTo>
                  <a:lnTo>
                    <a:pt x="294" y="7"/>
                  </a:lnTo>
                  <a:cubicBezTo>
                    <a:pt x="310" y="48"/>
                    <a:pt x="324" y="89"/>
                    <a:pt x="337" y="131"/>
                  </a:cubicBezTo>
                  <a:lnTo>
                    <a:pt x="338" y="134"/>
                  </a:lnTo>
                  <a:lnTo>
                    <a:pt x="321" y="150"/>
                  </a:lnTo>
                  <a:cubicBezTo>
                    <a:pt x="204" y="267"/>
                    <a:pt x="132" y="428"/>
                    <a:pt x="132" y="606"/>
                  </a:cubicBezTo>
                  <a:cubicBezTo>
                    <a:pt x="132" y="795"/>
                    <a:pt x="214" y="965"/>
                    <a:pt x="343" y="1083"/>
                  </a:cubicBezTo>
                  <a:lnTo>
                    <a:pt x="363" y="1100"/>
                  </a:lnTo>
                  <a:lnTo>
                    <a:pt x="361" y="1107"/>
                  </a:lnTo>
                  <a:cubicBezTo>
                    <a:pt x="350" y="1149"/>
                    <a:pt x="338" y="1191"/>
                    <a:pt x="324" y="1233"/>
                  </a:cubicBezTo>
                  <a:lnTo>
                    <a:pt x="323" y="1236"/>
                  </a:lnTo>
                  <a:lnTo>
                    <a:pt x="312" y="1228"/>
                  </a:lnTo>
                  <a:cubicBezTo>
                    <a:pt x="123" y="1086"/>
                    <a:pt x="0" y="860"/>
                    <a:pt x="0" y="606"/>
                  </a:cubicBezTo>
                  <a:cubicBezTo>
                    <a:pt x="0" y="364"/>
                    <a:pt x="110" y="149"/>
                    <a:pt x="283" y="6"/>
                  </a:cubicBezTo>
                  <a:lnTo>
                    <a:pt x="291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 rot="0">
            <a:off x="2678430" y="2583815"/>
            <a:ext cx="986155" cy="975360"/>
            <a:chOff x="4244" y="4069"/>
            <a:chExt cx="1553" cy="1536"/>
          </a:xfrm>
          <a:solidFill>
            <a:srgbClr val="1E4D7B"/>
          </a:solidFill>
        </p:grpSpPr>
        <p:sp>
          <p:nvSpPr>
            <p:cNvPr id="86" name="任意多边形 85"/>
            <p:cNvSpPr/>
            <p:nvPr/>
          </p:nvSpPr>
          <p:spPr>
            <a:xfrm>
              <a:off x="4784" y="5323"/>
              <a:ext cx="691" cy="28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691" h="283">
                  <a:moveTo>
                    <a:pt x="651" y="0"/>
                  </a:moveTo>
                  <a:lnTo>
                    <a:pt x="653" y="7"/>
                  </a:lnTo>
                  <a:cubicBezTo>
                    <a:pt x="664" y="49"/>
                    <a:pt x="676" y="92"/>
                    <a:pt x="690" y="133"/>
                  </a:cubicBezTo>
                  <a:lnTo>
                    <a:pt x="691" y="136"/>
                  </a:lnTo>
                  <a:lnTo>
                    <a:pt x="671" y="151"/>
                  </a:lnTo>
                  <a:cubicBezTo>
                    <a:pt x="547" y="234"/>
                    <a:pt x="397" y="283"/>
                    <a:pt x="237" y="283"/>
                  </a:cubicBezTo>
                  <a:cubicBezTo>
                    <a:pt x="169" y="283"/>
                    <a:pt x="104" y="275"/>
                    <a:pt x="42" y="259"/>
                  </a:cubicBezTo>
                  <a:lnTo>
                    <a:pt x="40" y="258"/>
                  </a:lnTo>
                  <a:lnTo>
                    <a:pt x="31" y="229"/>
                  </a:lnTo>
                  <a:cubicBezTo>
                    <a:pt x="20" y="191"/>
                    <a:pt x="10" y="152"/>
                    <a:pt x="1" y="112"/>
                  </a:cubicBezTo>
                  <a:lnTo>
                    <a:pt x="0" y="106"/>
                  </a:lnTo>
                  <a:lnTo>
                    <a:pt x="15" y="112"/>
                  </a:lnTo>
                  <a:cubicBezTo>
                    <a:pt x="84" y="137"/>
                    <a:pt x="159" y="151"/>
                    <a:pt x="237" y="151"/>
                  </a:cubicBezTo>
                  <a:cubicBezTo>
                    <a:pt x="392" y="151"/>
                    <a:pt x="535" y="96"/>
                    <a:pt x="646" y="4"/>
                  </a:cubicBezTo>
                  <a:lnTo>
                    <a:pt x="651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4244" y="4069"/>
              <a:ext cx="619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619" h="1512">
                  <a:moveTo>
                    <a:pt x="619" y="0"/>
                  </a:moveTo>
                  <a:lnTo>
                    <a:pt x="607" y="32"/>
                  </a:lnTo>
                  <a:cubicBezTo>
                    <a:pt x="594" y="70"/>
                    <a:pt x="583" y="108"/>
                    <a:pt x="572" y="147"/>
                  </a:cubicBezTo>
                  <a:lnTo>
                    <a:pt x="571" y="150"/>
                  </a:lnTo>
                  <a:lnTo>
                    <a:pt x="555" y="155"/>
                  </a:lnTo>
                  <a:cubicBezTo>
                    <a:pt x="308" y="246"/>
                    <a:pt x="132" y="482"/>
                    <a:pt x="132" y="761"/>
                  </a:cubicBezTo>
                  <a:cubicBezTo>
                    <a:pt x="132" y="1028"/>
                    <a:pt x="295" y="1257"/>
                    <a:pt x="526" y="1354"/>
                  </a:cubicBezTo>
                  <a:lnTo>
                    <a:pt x="540" y="1360"/>
                  </a:lnTo>
                  <a:lnTo>
                    <a:pt x="542" y="1366"/>
                  </a:lnTo>
                  <a:cubicBezTo>
                    <a:pt x="551" y="1405"/>
                    <a:pt x="561" y="1445"/>
                    <a:pt x="572" y="1483"/>
                  </a:cubicBezTo>
                  <a:lnTo>
                    <a:pt x="580" y="1512"/>
                  </a:lnTo>
                  <a:lnTo>
                    <a:pt x="564" y="1508"/>
                  </a:lnTo>
                  <a:cubicBezTo>
                    <a:pt x="238" y="1415"/>
                    <a:pt x="0" y="1116"/>
                    <a:pt x="0" y="761"/>
                  </a:cubicBezTo>
                  <a:cubicBezTo>
                    <a:pt x="0" y="392"/>
                    <a:pt x="257" y="83"/>
                    <a:pt x="601" y="4"/>
                  </a:cubicBezTo>
                  <a:lnTo>
                    <a:pt x="619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5435" y="4224"/>
              <a:ext cx="362" cy="123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362" h="1235">
                  <a:moveTo>
                    <a:pt x="72" y="0"/>
                  </a:moveTo>
                  <a:lnTo>
                    <a:pt x="80" y="6"/>
                  </a:lnTo>
                  <a:cubicBezTo>
                    <a:pt x="252" y="149"/>
                    <a:pt x="362" y="364"/>
                    <a:pt x="362" y="606"/>
                  </a:cubicBezTo>
                  <a:cubicBezTo>
                    <a:pt x="362" y="860"/>
                    <a:pt x="240" y="1086"/>
                    <a:pt x="50" y="1228"/>
                  </a:cubicBezTo>
                  <a:lnTo>
                    <a:pt x="40" y="1235"/>
                  </a:lnTo>
                  <a:lnTo>
                    <a:pt x="39" y="1232"/>
                  </a:lnTo>
                  <a:cubicBezTo>
                    <a:pt x="25" y="1190"/>
                    <a:pt x="13" y="1148"/>
                    <a:pt x="2" y="1106"/>
                  </a:cubicBezTo>
                  <a:lnTo>
                    <a:pt x="0" y="1099"/>
                  </a:lnTo>
                  <a:lnTo>
                    <a:pt x="19" y="1083"/>
                  </a:lnTo>
                  <a:cubicBezTo>
                    <a:pt x="148" y="965"/>
                    <a:pt x="230" y="795"/>
                    <a:pt x="230" y="606"/>
                  </a:cubicBezTo>
                  <a:cubicBezTo>
                    <a:pt x="230" y="428"/>
                    <a:pt x="158" y="266"/>
                    <a:pt x="41" y="150"/>
                  </a:cubicBezTo>
                  <a:lnTo>
                    <a:pt x="24" y="134"/>
                  </a:lnTo>
                  <a:lnTo>
                    <a:pt x="26" y="130"/>
                  </a:lnTo>
                  <a:cubicBezTo>
                    <a:pt x="39" y="88"/>
                    <a:pt x="53" y="46"/>
                    <a:pt x="69" y="6"/>
                  </a:cubicBezTo>
                  <a:lnTo>
                    <a:pt x="72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 rot="0">
            <a:off x="4920615" y="1471295"/>
            <a:ext cx="986155" cy="986155"/>
            <a:chOff x="7749" y="2317"/>
            <a:chExt cx="1553" cy="1553"/>
          </a:xfrm>
          <a:solidFill>
            <a:srgbClr val="27AE60"/>
          </a:solidFill>
        </p:grpSpPr>
        <p:sp>
          <p:nvSpPr>
            <p:cNvPr id="89" name="任意多边形 88"/>
            <p:cNvSpPr/>
            <p:nvPr/>
          </p:nvSpPr>
          <p:spPr>
            <a:xfrm>
              <a:off x="7749" y="2572"/>
              <a:ext cx="337" cy="68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337" h="688">
                  <a:moveTo>
                    <a:pt x="201" y="0"/>
                  </a:moveTo>
                  <a:lnTo>
                    <a:pt x="254" y="19"/>
                  </a:lnTo>
                  <a:cubicBezTo>
                    <a:pt x="273" y="26"/>
                    <a:pt x="292" y="33"/>
                    <a:pt x="310" y="40"/>
                  </a:cubicBezTo>
                  <a:lnTo>
                    <a:pt x="337" y="51"/>
                  </a:lnTo>
                  <a:lnTo>
                    <a:pt x="321" y="66"/>
                  </a:lnTo>
                  <a:cubicBezTo>
                    <a:pt x="204" y="182"/>
                    <a:pt x="132" y="343"/>
                    <a:pt x="132" y="521"/>
                  </a:cubicBezTo>
                  <a:cubicBezTo>
                    <a:pt x="132" y="577"/>
                    <a:pt x="139" y="631"/>
                    <a:pt x="153" y="682"/>
                  </a:cubicBezTo>
                  <a:lnTo>
                    <a:pt x="154" y="688"/>
                  </a:lnTo>
                  <a:lnTo>
                    <a:pt x="149" y="686"/>
                  </a:lnTo>
                  <a:cubicBezTo>
                    <a:pt x="109" y="668"/>
                    <a:pt x="69" y="652"/>
                    <a:pt x="28" y="637"/>
                  </a:cubicBezTo>
                  <a:lnTo>
                    <a:pt x="8" y="629"/>
                  </a:lnTo>
                  <a:lnTo>
                    <a:pt x="6" y="620"/>
                  </a:lnTo>
                  <a:cubicBezTo>
                    <a:pt x="2" y="588"/>
                    <a:pt x="0" y="555"/>
                    <a:pt x="0" y="521"/>
                  </a:cubicBezTo>
                  <a:cubicBezTo>
                    <a:pt x="0" y="334"/>
                    <a:pt x="67" y="162"/>
                    <a:pt x="177" y="27"/>
                  </a:cubicBezTo>
                  <a:lnTo>
                    <a:pt x="201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任意多边形 90"/>
            <p:cNvSpPr/>
            <p:nvPr/>
          </p:nvSpPr>
          <p:spPr>
            <a:xfrm>
              <a:off x="7950" y="2317"/>
              <a:ext cx="1352" cy="119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1352" h="1193">
                  <a:moveTo>
                    <a:pt x="576" y="0"/>
                  </a:moveTo>
                  <a:cubicBezTo>
                    <a:pt x="1005" y="0"/>
                    <a:pt x="1352" y="348"/>
                    <a:pt x="1352" y="777"/>
                  </a:cubicBezTo>
                  <a:cubicBezTo>
                    <a:pt x="1352" y="924"/>
                    <a:pt x="1311" y="1062"/>
                    <a:pt x="1240" y="1179"/>
                  </a:cubicBezTo>
                  <a:lnTo>
                    <a:pt x="1232" y="1193"/>
                  </a:lnTo>
                  <a:lnTo>
                    <a:pt x="1205" y="1154"/>
                  </a:lnTo>
                  <a:cubicBezTo>
                    <a:pt x="1193" y="1138"/>
                    <a:pt x="1182" y="1122"/>
                    <a:pt x="1170" y="1107"/>
                  </a:cubicBezTo>
                  <a:lnTo>
                    <a:pt x="1147" y="1076"/>
                  </a:lnTo>
                  <a:lnTo>
                    <a:pt x="1157" y="1056"/>
                  </a:lnTo>
                  <a:cubicBezTo>
                    <a:pt x="1197" y="972"/>
                    <a:pt x="1220" y="877"/>
                    <a:pt x="1220" y="777"/>
                  </a:cubicBezTo>
                  <a:cubicBezTo>
                    <a:pt x="1220" y="421"/>
                    <a:pt x="932" y="132"/>
                    <a:pt x="576" y="132"/>
                  </a:cubicBezTo>
                  <a:cubicBezTo>
                    <a:pt x="409" y="132"/>
                    <a:pt x="257" y="196"/>
                    <a:pt x="142" y="300"/>
                  </a:cubicBezTo>
                  <a:lnTo>
                    <a:pt x="136" y="306"/>
                  </a:lnTo>
                  <a:lnTo>
                    <a:pt x="109" y="295"/>
                  </a:lnTo>
                  <a:cubicBezTo>
                    <a:pt x="91" y="288"/>
                    <a:pt x="72" y="281"/>
                    <a:pt x="53" y="274"/>
                  </a:cubicBezTo>
                  <a:lnTo>
                    <a:pt x="0" y="255"/>
                  </a:lnTo>
                  <a:lnTo>
                    <a:pt x="1" y="254"/>
                  </a:lnTo>
                  <a:cubicBezTo>
                    <a:pt x="143" y="98"/>
                    <a:pt x="348" y="0"/>
                    <a:pt x="576" y="0"/>
                  </a:cubicBez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任意多边形 91"/>
            <p:cNvSpPr/>
            <p:nvPr/>
          </p:nvSpPr>
          <p:spPr>
            <a:xfrm>
              <a:off x="7757" y="3202"/>
              <a:ext cx="870" cy="66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870" h="669">
                  <a:moveTo>
                    <a:pt x="0" y="0"/>
                  </a:moveTo>
                  <a:lnTo>
                    <a:pt x="21" y="7"/>
                  </a:lnTo>
                  <a:cubicBezTo>
                    <a:pt x="62" y="22"/>
                    <a:pt x="102" y="39"/>
                    <a:pt x="141" y="57"/>
                  </a:cubicBezTo>
                  <a:lnTo>
                    <a:pt x="147" y="59"/>
                  </a:lnTo>
                  <a:lnTo>
                    <a:pt x="154" y="84"/>
                  </a:lnTo>
                  <a:cubicBezTo>
                    <a:pt x="235" y="346"/>
                    <a:pt x="480" y="537"/>
                    <a:pt x="769" y="537"/>
                  </a:cubicBezTo>
                  <a:lnTo>
                    <a:pt x="774" y="536"/>
                  </a:lnTo>
                  <a:lnTo>
                    <a:pt x="784" y="548"/>
                  </a:lnTo>
                  <a:cubicBezTo>
                    <a:pt x="811" y="581"/>
                    <a:pt x="837" y="615"/>
                    <a:pt x="862" y="650"/>
                  </a:cubicBezTo>
                  <a:lnTo>
                    <a:pt x="870" y="662"/>
                  </a:lnTo>
                  <a:lnTo>
                    <a:pt x="868" y="662"/>
                  </a:lnTo>
                  <a:cubicBezTo>
                    <a:pt x="836" y="667"/>
                    <a:pt x="803" y="669"/>
                    <a:pt x="769" y="669"/>
                  </a:cubicBezTo>
                  <a:cubicBezTo>
                    <a:pt x="380" y="669"/>
                    <a:pt x="58" y="383"/>
                    <a:pt x="1" y="1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 rot="0">
            <a:off x="3269615" y="1455420"/>
            <a:ext cx="984250" cy="985520"/>
            <a:chOff x="5149" y="2316"/>
            <a:chExt cx="1550" cy="1552"/>
          </a:xfrm>
          <a:solidFill>
            <a:srgbClr val="19385A"/>
          </a:solidFill>
        </p:grpSpPr>
        <p:sp>
          <p:nvSpPr>
            <p:cNvPr id="12" name="任意多边形 11"/>
            <p:cNvSpPr/>
            <p:nvPr/>
          </p:nvSpPr>
          <p:spPr>
            <a:xfrm>
              <a:off x="5717" y="3162"/>
              <a:ext cx="982" cy="707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982" h="707">
                  <a:moveTo>
                    <a:pt x="982" y="0"/>
                  </a:moveTo>
                  <a:lnTo>
                    <a:pt x="981" y="10"/>
                  </a:lnTo>
                  <a:cubicBezTo>
                    <a:pt x="941" y="402"/>
                    <a:pt x="610" y="707"/>
                    <a:pt x="208" y="707"/>
                  </a:cubicBezTo>
                  <a:cubicBezTo>
                    <a:pt x="141" y="707"/>
                    <a:pt x="76" y="699"/>
                    <a:pt x="14" y="683"/>
                  </a:cubicBezTo>
                  <a:lnTo>
                    <a:pt x="0" y="679"/>
                  </a:lnTo>
                  <a:lnTo>
                    <a:pt x="18" y="655"/>
                  </a:lnTo>
                  <a:cubicBezTo>
                    <a:pt x="35" y="632"/>
                    <a:pt x="52" y="610"/>
                    <a:pt x="70" y="588"/>
                  </a:cubicBezTo>
                  <a:lnTo>
                    <a:pt x="90" y="564"/>
                  </a:lnTo>
                  <a:lnTo>
                    <a:pt x="94" y="565"/>
                  </a:lnTo>
                  <a:cubicBezTo>
                    <a:pt x="131" y="572"/>
                    <a:pt x="169" y="575"/>
                    <a:pt x="208" y="575"/>
                  </a:cubicBezTo>
                  <a:cubicBezTo>
                    <a:pt x="525" y="575"/>
                    <a:pt x="789" y="346"/>
                    <a:pt x="843" y="45"/>
                  </a:cubicBezTo>
                  <a:lnTo>
                    <a:pt x="843" y="44"/>
                  </a:lnTo>
                  <a:lnTo>
                    <a:pt x="875" y="32"/>
                  </a:lnTo>
                  <a:cubicBezTo>
                    <a:pt x="902" y="23"/>
                    <a:pt x="930" y="14"/>
                    <a:pt x="958" y="6"/>
                  </a:cubicBezTo>
                  <a:lnTo>
                    <a:pt x="982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5217" y="3293"/>
              <a:ext cx="590" cy="54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590" h="548">
                  <a:moveTo>
                    <a:pt x="96" y="0"/>
                  </a:moveTo>
                  <a:lnTo>
                    <a:pt x="103" y="22"/>
                  </a:lnTo>
                  <a:cubicBezTo>
                    <a:pt x="179" y="229"/>
                    <a:pt x="358" y="386"/>
                    <a:pt x="579" y="431"/>
                  </a:cubicBezTo>
                  <a:lnTo>
                    <a:pt x="590" y="434"/>
                  </a:lnTo>
                  <a:lnTo>
                    <a:pt x="571" y="457"/>
                  </a:lnTo>
                  <a:cubicBezTo>
                    <a:pt x="553" y="479"/>
                    <a:pt x="535" y="501"/>
                    <a:pt x="518" y="524"/>
                  </a:cubicBezTo>
                  <a:lnTo>
                    <a:pt x="500" y="548"/>
                  </a:lnTo>
                  <a:lnTo>
                    <a:pt x="496" y="547"/>
                  </a:lnTo>
                  <a:cubicBezTo>
                    <a:pt x="275" y="484"/>
                    <a:pt x="94" y="326"/>
                    <a:pt x="0" y="120"/>
                  </a:cubicBezTo>
                  <a:lnTo>
                    <a:pt x="0" y="119"/>
                  </a:lnTo>
                  <a:lnTo>
                    <a:pt x="26" y="84"/>
                  </a:lnTo>
                  <a:cubicBezTo>
                    <a:pt x="38" y="69"/>
                    <a:pt x="51" y="54"/>
                    <a:pt x="63" y="39"/>
                  </a:cubicBezTo>
                  <a:lnTo>
                    <a:pt x="96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任意多边形 95"/>
            <p:cNvSpPr/>
            <p:nvPr/>
          </p:nvSpPr>
          <p:spPr>
            <a:xfrm>
              <a:off x="5149" y="2316"/>
              <a:ext cx="1325" cy="109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3cd4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cd4">
                  <a:pos x="ir" y="it"/>
                </a:cxn>
              </a:cxnLst>
              <a:rect l="l" t="t" r="r" b="b"/>
              <a:pathLst>
                <a:path w="1325" h="1095">
                  <a:moveTo>
                    <a:pt x="777" y="0"/>
                  </a:moveTo>
                  <a:cubicBezTo>
                    <a:pt x="978" y="0"/>
                    <a:pt x="1161" y="76"/>
                    <a:pt x="1299" y="202"/>
                  </a:cubicBezTo>
                  <a:lnTo>
                    <a:pt x="1325" y="226"/>
                  </a:lnTo>
                  <a:lnTo>
                    <a:pt x="1289" y="237"/>
                  </a:lnTo>
                  <a:cubicBezTo>
                    <a:pt x="1270" y="243"/>
                    <a:pt x="1251" y="249"/>
                    <a:pt x="1232" y="255"/>
                  </a:cubicBezTo>
                  <a:lnTo>
                    <a:pt x="1179" y="274"/>
                  </a:lnTo>
                  <a:lnTo>
                    <a:pt x="1162" y="260"/>
                  </a:lnTo>
                  <a:cubicBezTo>
                    <a:pt x="1055" y="180"/>
                    <a:pt x="921" y="132"/>
                    <a:pt x="777" y="132"/>
                  </a:cubicBezTo>
                  <a:cubicBezTo>
                    <a:pt x="421" y="132"/>
                    <a:pt x="132" y="421"/>
                    <a:pt x="132" y="777"/>
                  </a:cubicBezTo>
                  <a:cubicBezTo>
                    <a:pt x="132" y="843"/>
                    <a:pt x="142" y="908"/>
                    <a:pt x="161" y="968"/>
                  </a:cubicBezTo>
                  <a:lnTo>
                    <a:pt x="164" y="977"/>
                  </a:lnTo>
                  <a:lnTo>
                    <a:pt x="131" y="1015"/>
                  </a:lnTo>
                  <a:cubicBezTo>
                    <a:pt x="119" y="1030"/>
                    <a:pt x="107" y="1046"/>
                    <a:pt x="95" y="1061"/>
                  </a:cubicBezTo>
                  <a:lnTo>
                    <a:pt x="68" y="1095"/>
                  </a:lnTo>
                  <a:lnTo>
                    <a:pt x="61" y="1079"/>
                  </a:lnTo>
                  <a:cubicBezTo>
                    <a:pt x="22" y="986"/>
                    <a:pt x="0" y="884"/>
                    <a:pt x="0" y="777"/>
                  </a:cubicBezTo>
                  <a:cubicBezTo>
                    <a:pt x="0" y="348"/>
                    <a:pt x="348" y="0"/>
                    <a:pt x="777" y="0"/>
                  </a:cubicBez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3738880" y="2316480"/>
            <a:ext cx="1600200" cy="1541780"/>
            <a:chOff x="5888" y="3648"/>
            <a:chExt cx="2520" cy="2428"/>
          </a:xfrm>
        </p:grpSpPr>
        <p:sp>
          <p:nvSpPr>
            <p:cNvPr id="3" name="椭圆 2"/>
            <p:cNvSpPr/>
            <p:nvPr/>
          </p:nvSpPr>
          <p:spPr>
            <a:xfrm>
              <a:off x="5980" y="3648"/>
              <a:ext cx="2428" cy="2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Text 12"/>
            <p:cNvSpPr/>
            <p:nvPr/>
          </p:nvSpPr>
          <p:spPr>
            <a:xfrm>
              <a:off x="5888" y="3800"/>
              <a:ext cx="2038" cy="203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600" dirty="0">
                  <a:solidFill>
                    <a:srgbClr val="000000"/>
                  </a:solidFill>
                </a:rPr>
                <a:t>📚</a:t>
              </a:r>
              <a:endParaRPr lang="en-US" sz="6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454150" y="1405255"/>
            <a:ext cx="1209040" cy="563105"/>
            <a:chOff x="2018898" y="1311306"/>
            <a:chExt cx="8154203" cy="1217943"/>
          </a:xfrm>
        </p:grpSpPr>
        <p:grpSp>
          <p:nvGrpSpPr>
            <p:cNvPr id="116" name="组合 115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17" name="组合 116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18" name="缺角矩形 117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19" name="缺角矩形 118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0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1" name="文本框 120"/>
            <p:cNvSpPr txBox="1"/>
            <p:nvPr/>
          </p:nvSpPr>
          <p:spPr>
            <a:xfrm>
              <a:off x="2214957" y="1354953"/>
              <a:ext cx="7620955" cy="1174296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组织准备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1454150" y="2543810"/>
            <a:ext cx="1209040" cy="563105"/>
            <a:chOff x="2018898" y="1311306"/>
            <a:chExt cx="8154203" cy="1217942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24" name="组合 123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25" name="缺角矩形 124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26" name="缺角矩形 125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7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8" name="文本框 127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发布项目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1454150" y="3686810"/>
            <a:ext cx="1209040" cy="563105"/>
            <a:chOff x="2018898" y="1311306"/>
            <a:chExt cx="8154203" cy="1217942"/>
          </a:xfrm>
        </p:grpSpPr>
        <p:grpSp>
          <p:nvGrpSpPr>
            <p:cNvPr id="132" name="组合 131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33" name="组合 132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34" name="缺角矩形 133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35" name="缺角矩形 134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36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37" name="文本框 136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提交成果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6493510" y="1405255"/>
            <a:ext cx="1209040" cy="563105"/>
            <a:chOff x="2018898" y="1311306"/>
            <a:chExt cx="8154203" cy="1217942"/>
          </a:xfrm>
        </p:grpSpPr>
        <p:grpSp>
          <p:nvGrpSpPr>
            <p:cNvPr id="160" name="组合 159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1" name="组合 160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2" name="缺角矩形 161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63" name="缺角矩形 162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64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65" name="文本框 164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报表汇总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6493510" y="2543810"/>
            <a:ext cx="1209040" cy="563105"/>
            <a:chOff x="2018898" y="1311306"/>
            <a:chExt cx="8154203" cy="1217942"/>
          </a:xfrm>
        </p:grpSpPr>
        <p:grpSp>
          <p:nvGrpSpPr>
            <p:cNvPr id="167" name="组合 166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8" name="组合 167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9" name="缺角矩形 168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0" name="缺角矩形 169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1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2" name="文本框 171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复核终评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6493510" y="3686810"/>
            <a:ext cx="1209040" cy="563105"/>
            <a:chOff x="2018898" y="1311306"/>
            <a:chExt cx="8154203" cy="1217942"/>
          </a:xfrm>
        </p:grpSpPr>
        <p:grpSp>
          <p:nvGrpSpPr>
            <p:cNvPr id="174" name="组合 173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75" name="组合 174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76" name="缺角矩形 175"/>
                <p:cNvSpPr/>
                <p:nvPr/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7" name="缺角矩形 176"/>
                <p:cNvSpPr>
                  <a:spLocks noChangeAspect="1"/>
                </p:cNvSpPr>
                <p:nvPr/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8" name="康帅原创PPT设计-倒卖必究18-23" descr="黑暗中的灯光&#10;&#10;描述已自动生成"/>
              <p:cNvPicPr>
                <a:picLocks noChangeAspect="1"/>
              </p:cNvPicPr>
              <p:nvPr/>
            </p:nvPicPr>
            <p:blipFill>
              <a:blip r:embed="rId8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9" name="文本框 178"/>
            <p:cNvSpPr txBox="1"/>
            <p:nvPr/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解析核验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sp>
        <p:nvSpPr>
          <p:cNvPr id="180" name="Text 6"/>
          <p:cNvSpPr/>
          <p:nvPr>
            <p:custDataLst>
              <p:tags r:id="rId10"/>
            </p:custDataLst>
          </p:nvPr>
        </p:nvSpPr>
        <p:spPr>
          <a:xfrm>
            <a:off x="3535680" y="1777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1" name="Text 6"/>
          <p:cNvSpPr/>
          <p:nvPr>
            <p:custDataLst>
              <p:tags r:id="rId11"/>
            </p:custDataLst>
          </p:nvPr>
        </p:nvSpPr>
        <p:spPr>
          <a:xfrm>
            <a:off x="2945130" y="2893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2" name="Text 6"/>
          <p:cNvSpPr/>
          <p:nvPr>
            <p:custDataLst>
              <p:tags r:id="rId12"/>
            </p:custDataLst>
          </p:nvPr>
        </p:nvSpPr>
        <p:spPr>
          <a:xfrm>
            <a:off x="3390900" y="39490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3" name="Text 6"/>
          <p:cNvSpPr/>
          <p:nvPr>
            <p:custDataLst>
              <p:tags r:id="rId13"/>
            </p:custDataLst>
          </p:nvPr>
        </p:nvSpPr>
        <p:spPr>
          <a:xfrm>
            <a:off x="5234305" y="3909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4" name="Text 6"/>
          <p:cNvSpPr/>
          <p:nvPr>
            <p:custDataLst>
              <p:tags r:id="rId14"/>
            </p:custDataLst>
          </p:nvPr>
        </p:nvSpPr>
        <p:spPr>
          <a:xfrm>
            <a:off x="5650865" y="2920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5" name="Text 6"/>
          <p:cNvSpPr/>
          <p:nvPr>
            <p:custDataLst>
              <p:tags r:id="rId15"/>
            </p:custDataLst>
          </p:nvPr>
        </p:nvSpPr>
        <p:spPr>
          <a:xfrm>
            <a:off x="5121275" y="18154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6" name="Text 10"/>
          <p:cNvSpPr/>
          <p:nvPr>
            <p:custDataLst>
              <p:tags r:id="rId16"/>
            </p:custDataLst>
          </p:nvPr>
        </p:nvSpPr>
        <p:spPr>
          <a:xfrm>
            <a:off x="1320165" y="1639253"/>
            <a:ext cx="1469390" cy="72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7" name="Text 16"/>
          <p:cNvSpPr/>
          <p:nvPr>
            <p:custDataLst>
              <p:tags r:id="rId17"/>
            </p:custDataLst>
          </p:nvPr>
        </p:nvSpPr>
        <p:spPr>
          <a:xfrm>
            <a:off x="136804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8" name="Text 22"/>
          <p:cNvSpPr/>
          <p:nvPr>
            <p:custDataLst>
              <p:tags r:id="rId18"/>
            </p:custDataLst>
          </p:nvPr>
        </p:nvSpPr>
        <p:spPr>
          <a:xfrm>
            <a:off x="1412240" y="3989388"/>
            <a:ext cx="1301750" cy="619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9" name="Text 28"/>
          <p:cNvSpPr/>
          <p:nvPr>
            <p:custDataLst>
              <p:tags r:id="rId19"/>
            </p:custDataLst>
          </p:nvPr>
        </p:nvSpPr>
        <p:spPr>
          <a:xfrm>
            <a:off x="6520180" y="3889375"/>
            <a:ext cx="1225550" cy="819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1" name="Text 34"/>
          <p:cNvSpPr/>
          <p:nvPr>
            <p:custDataLst>
              <p:tags r:id="rId20"/>
            </p:custDataLst>
          </p:nvPr>
        </p:nvSpPr>
        <p:spPr>
          <a:xfrm>
            <a:off x="651281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2" name="Text 39"/>
          <p:cNvSpPr/>
          <p:nvPr>
            <p:custDataLst>
              <p:tags r:id="rId21"/>
            </p:custDataLst>
          </p:nvPr>
        </p:nvSpPr>
        <p:spPr>
          <a:xfrm>
            <a:off x="6477254" y="154305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3" name="Text 40"/>
          <p:cNvSpPr/>
          <p:nvPr/>
        </p:nvSpPr>
        <p:spPr>
          <a:xfrm>
            <a:off x="1828800" y="4709160"/>
            <a:ext cx="54864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i="1" dirty="0">
              <a:solidFill>
                <a:srgbClr val="17A5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6405" y="-650240"/>
            <a:ext cx="11323320" cy="7840345"/>
            <a:chOff x="-431" y="-4043"/>
            <a:chExt cx="17832" cy="12347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" y="-4043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5" name="组合 44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用户账号管理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课程与班级维护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529584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角色权限分配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4187952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系统全局设置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705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27832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发布实训项目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71216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配置评价模板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复核终评发布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4187952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查看报表画像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370" y="1371600"/>
            <a:ext cx="2724785" cy="3374390"/>
          </a:xfrm>
          <a:prstGeom prst="roundRect">
            <a:avLst>
              <a:gd name="adj" fmla="val 3356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35624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28712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36792" y="352958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36792" y="418795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查看评价结果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477316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前端路由隔离 · 后端 JWT + RBAC 鉴权 · 业务数据范围双重校验</a:t>
            </a:r>
            <a:endParaRPr lang="en-US" sz="10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9" name="组合 4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7675" y="-626745"/>
            <a:ext cx="11125200" cy="7815580"/>
            <a:chOff x="-431" y="-4004"/>
            <a:chExt cx="17520" cy="12308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5" y="-4004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160" y="3974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grpSp>
        <p:nvGrpSpPr>
          <p:cNvPr id="84" name="组合 83"/>
          <p:cNvGrpSpPr/>
          <p:nvPr/>
        </p:nvGrpSpPr>
        <p:grpSpPr>
          <a:xfrm>
            <a:off x="320040" y="2065020"/>
            <a:ext cx="4160520" cy="2560320"/>
            <a:chOff x="504" y="3384"/>
            <a:chExt cx="6552" cy="4032"/>
          </a:xfrm>
        </p:grpSpPr>
        <p:grpSp>
          <p:nvGrpSpPr>
            <p:cNvPr id="69" name="组合 68"/>
            <p:cNvGrpSpPr/>
            <p:nvPr/>
          </p:nvGrpSpPr>
          <p:grpSpPr>
            <a:xfrm>
              <a:off x="504" y="3384"/>
              <a:ext cx="6552" cy="4032"/>
              <a:chOff x="504" y="3384"/>
              <a:chExt cx="6552" cy="4032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504" y="3384"/>
                <a:ext cx="6552" cy="4032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12700">
                <a:solidFill>
                  <a:srgbClr val="D5E8F3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8" name="组合 67"/>
              <p:cNvGrpSpPr/>
              <p:nvPr/>
            </p:nvGrpSpPr>
            <p:grpSpPr>
              <a:xfrm>
                <a:off x="504" y="3384"/>
                <a:ext cx="6552" cy="546"/>
                <a:chOff x="504" y="3384"/>
                <a:chExt cx="6552" cy="546"/>
              </a:xfrm>
            </p:grpSpPr>
            <p:sp>
              <p:nvSpPr>
                <p:cNvPr id="26" name="Shape 24"/>
                <p:cNvSpPr/>
                <p:nvPr/>
              </p:nvSpPr>
              <p:spPr>
                <a:xfrm>
                  <a:off x="504" y="3384"/>
                  <a:ext cx="6552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A3A5C"/>
                </a:solidFill>
                <a:ln w="12700">
                  <a:solidFill>
                    <a:srgbClr val="1A3A5C"/>
                  </a:solidFill>
                  <a:prstDash val="solid"/>
                </a:ln>
              </p:spPr>
            </p:sp>
            <p:sp>
              <p:nvSpPr>
                <p:cNvPr id="27" name="Text 25"/>
                <p:cNvSpPr/>
                <p:nvPr/>
              </p:nvSpPr>
              <p:spPr>
                <a:xfrm>
                  <a:off x="1368" y="3384"/>
                  <a:ext cx="4824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评价模板配置</a:t>
                  </a:r>
                  <a:endParaRPr lang="en-US" sz="1300" dirty="0"/>
                </a:p>
              </p:txBody>
            </p:sp>
          </p:grpSp>
        </p:grpSp>
        <p:grpSp>
          <p:nvGrpSpPr>
            <p:cNvPr id="83" name="组合 82"/>
            <p:cNvGrpSpPr/>
            <p:nvPr/>
          </p:nvGrpSpPr>
          <p:grpSpPr>
            <a:xfrm>
              <a:off x="648" y="4061"/>
              <a:ext cx="4752" cy="2649"/>
              <a:chOff x="648" y="4061"/>
              <a:chExt cx="4752" cy="2649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648" y="4061"/>
                <a:ext cx="4320" cy="576"/>
                <a:chOff x="648" y="4061"/>
                <a:chExt cx="4320" cy="576"/>
              </a:xfrm>
            </p:grpSpPr>
            <p:sp>
              <p:nvSpPr>
                <p:cNvPr id="28" name="Shape 26"/>
                <p:cNvSpPr/>
                <p:nvPr/>
              </p:nvSpPr>
              <p:spPr>
                <a:xfrm>
                  <a:off x="648" y="4061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29" name="Text 27"/>
                <p:cNvSpPr/>
                <p:nvPr/>
              </p:nvSpPr>
              <p:spPr>
                <a:xfrm>
                  <a:off x="792" y="4061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代码结构完整性</a:t>
                  </a:r>
                  <a:endParaRPr lang="en-US" sz="110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48" y="4752"/>
                <a:ext cx="4320" cy="576"/>
                <a:chOff x="648" y="4752"/>
                <a:chExt cx="4320" cy="576"/>
              </a:xfrm>
            </p:grpSpPr>
            <p:sp>
              <p:nvSpPr>
                <p:cNvPr id="32" name="Shape 30"/>
                <p:cNvSpPr/>
                <p:nvPr/>
              </p:nvSpPr>
              <p:spPr>
                <a:xfrm>
                  <a:off x="648" y="4752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3" name="Text 31"/>
                <p:cNvSpPr/>
                <p:nvPr/>
              </p:nvSpPr>
              <p:spPr>
                <a:xfrm>
                  <a:off x="792" y="4752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功能需求覆盖度</a:t>
                  </a:r>
                  <a:endParaRPr lang="en-US" sz="1100" dirty="0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48" y="5443"/>
                <a:ext cx="4320" cy="576"/>
                <a:chOff x="648" y="5443"/>
                <a:chExt cx="4320" cy="576"/>
              </a:xfrm>
            </p:grpSpPr>
            <p:sp>
              <p:nvSpPr>
                <p:cNvPr id="36" name="Shape 34"/>
                <p:cNvSpPr/>
                <p:nvPr/>
              </p:nvSpPr>
              <p:spPr>
                <a:xfrm>
                  <a:off x="648" y="5443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7" name="Text 35"/>
                <p:cNvSpPr/>
                <p:nvPr/>
              </p:nvSpPr>
              <p:spPr>
                <a:xfrm>
                  <a:off x="792" y="5443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文档规范程度</a:t>
                  </a:r>
                  <a:endParaRPr lang="en-US" sz="1100" dirty="0"/>
                </a:p>
              </p:txBody>
            </p:sp>
          </p:grpSp>
          <p:grpSp>
            <p:nvGrpSpPr>
              <p:cNvPr id="82" name="组合 81"/>
              <p:cNvGrpSpPr/>
              <p:nvPr/>
            </p:nvGrpSpPr>
            <p:grpSpPr>
              <a:xfrm>
                <a:off x="648" y="6134"/>
                <a:ext cx="4320" cy="576"/>
                <a:chOff x="648" y="6134"/>
                <a:chExt cx="4320" cy="576"/>
              </a:xfrm>
            </p:grpSpPr>
            <p:sp>
              <p:nvSpPr>
                <p:cNvPr id="40" name="Shape 38"/>
                <p:cNvSpPr/>
                <p:nvPr/>
              </p:nvSpPr>
              <p:spPr>
                <a:xfrm>
                  <a:off x="648" y="6134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41" name="Text 39"/>
                <p:cNvSpPr/>
                <p:nvPr/>
              </p:nvSpPr>
              <p:spPr>
                <a:xfrm>
                  <a:off x="792" y="6134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代码可读性</a:t>
                  </a:r>
                  <a:endParaRPr lang="en-US" sz="1100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4392" y="4147"/>
                <a:ext cx="1008" cy="2476"/>
                <a:chOff x="4392" y="4147"/>
                <a:chExt cx="1008" cy="2476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4392" y="4147"/>
                  <a:ext cx="1008" cy="402"/>
                  <a:chOff x="4392" y="4147"/>
                  <a:chExt cx="1008" cy="402"/>
                </a:xfrm>
              </p:grpSpPr>
              <p:sp>
                <p:nvSpPr>
                  <p:cNvPr id="30" name="Shape 28"/>
                  <p:cNvSpPr/>
                  <p:nvPr/>
                </p:nvSpPr>
                <p:spPr>
                  <a:xfrm>
                    <a:off x="4392" y="4147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1" name="Text 29"/>
                  <p:cNvSpPr/>
                  <p:nvPr/>
                </p:nvSpPr>
                <p:spPr>
                  <a:xfrm>
                    <a:off x="4512" y="4147"/>
                    <a:ext cx="768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1" name="组合 70"/>
                <p:cNvGrpSpPr/>
                <p:nvPr/>
              </p:nvGrpSpPr>
              <p:grpSpPr>
                <a:xfrm>
                  <a:off x="4392" y="4838"/>
                  <a:ext cx="1008" cy="402"/>
                  <a:chOff x="4392" y="4838"/>
                  <a:chExt cx="1008" cy="402"/>
                </a:xfrm>
              </p:grpSpPr>
              <p:sp>
                <p:nvSpPr>
                  <p:cNvPr id="34" name="Shape 32"/>
                  <p:cNvSpPr/>
                  <p:nvPr/>
                </p:nvSpPr>
                <p:spPr>
                  <a:xfrm>
                    <a:off x="4392" y="4838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5" name="Text 33"/>
                  <p:cNvSpPr/>
                  <p:nvPr/>
                </p:nvSpPr>
                <p:spPr>
                  <a:xfrm>
                    <a:off x="4488" y="4838"/>
                    <a:ext cx="816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35分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4392" y="5530"/>
                  <a:ext cx="1008" cy="402"/>
                  <a:chOff x="4392" y="5530"/>
                  <a:chExt cx="1008" cy="402"/>
                </a:xfrm>
              </p:grpSpPr>
              <p:sp>
                <p:nvSpPr>
                  <p:cNvPr id="38" name="Shape 36"/>
                  <p:cNvSpPr/>
                  <p:nvPr/>
                </p:nvSpPr>
                <p:spPr>
                  <a:xfrm>
                    <a:off x="4392" y="5530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9" name="Text 37"/>
                  <p:cNvSpPr/>
                  <p:nvPr/>
                </p:nvSpPr>
                <p:spPr>
                  <a:xfrm>
                    <a:off x="4440" y="5530"/>
                    <a:ext cx="912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3" name="组合 72"/>
                <p:cNvGrpSpPr/>
                <p:nvPr/>
              </p:nvGrpSpPr>
              <p:grpSpPr>
                <a:xfrm>
                  <a:off x="4392" y="6221"/>
                  <a:ext cx="1008" cy="402"/>
                  <a:chOff x="4392" y="6221"/>
                  <a:chExt cx="1008" cy="402"/>
                </a:xfrm>
              </p:grpSpPr>
              <p:sp>
                <p:nvSpPr>
                  <p:cNvPr id="42" name="Shape 40"/>
                  <p:cNvSpPr/>
                  <p:nvPr/>
                </p:nvSpPr>
                <p:spPr>
                  <a:xfrm>
                    <a:off x="4392" y="6221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43" name="Text 41"/>
                  <p:cNvSpPr/>
                  <p:nvPr/>
                </p:nvSpPr>
                <p:spPr>
                  <a:xfrm>
                    <a:off x="4440" y="6221"/>
                    <a:ext cx="960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</p:grpSp>
        </p:grpSp>
      </p:grpSp>
      <p:sp>
        <p:nvSpPr>
          <p:cNvPr id="2" name="Shape 58"/>
          <p:cNvSpPr/>
          <p:nvPr/>
        </p:nvSpPr>
        <p:spPr>
          <a:xfrm>
            <a:off x="1508760" y="4553585"/>
            <a:ext cx="16459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grpSp>
        <p:nvGrpSpPr>
          <p:cNvPr id="67" name="组合 66"/>
          <p:cNvGrpSpPr/>
          <p:nvPr/>
        </p:nvGrpSpPr>
        <p:grpSpPr>
          <a:xfrm>
            <a:off x="4663440" y="2058035"/>
            <a:ext cx="4114800" cy="2715260"/>
            <a:chOff x="7344" y="3384"/>
            <a:chExt cx="6480" cy="4276"/>
          </a:xfrm>
        </p:grpSpPr>
        <p:sp>
          <p:nvSpPr>
            <p:cNvPr id="45" name="Shape 43"/>
            <p:cNvSpPr/>
            <p:nvPr/>
          </p:nvSpPr>
          <p:spPr>
            <a:xfrm>
              <a:off x="7344" y="3384"/>
              <a:ext cx="6480" cy="403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5" name="组合 64"/>
            <p:cNvGrpSpPr/>
            <p:nvPr/>
          </p:nvGrpSpPr>
          <p:grpSpPr>
            <a:xfrm>
              <a:off x="7344" y="3384"/>
              <a:ext cx="6480" cy="3498"/>
              <a:chOff x="7344" y="3384"/>
              <a:chExt cx="6480" cy="3498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344" y="3384"/>
                <a:ext cx="6480" cy="546"/>
                <a:chOff x="7344" y="3384"/>
                <a:chExt cx="6480" cy="546"/>
              </a:xfrm>
            </p:grpSpPr>
            <p:sp>
              <p:nvSpPr>
                <p:cNvPr id="46" name="Shape 44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7" name="Text 45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创建实训项目</a:t>
                  </a:r>
                  <a:endParaRPr lang="en-US" sz="1300" dirty="0"/>
                </a:p>
              </p:txBody>
            </p:sp>
          </p:grpSp>
          <p:sp>
            <p:nvSpPr>
              <p:cNvPr id="48" name="Text 46"/>
              <p:cNvSpPr/>
              <p:nvPr/>
            </p:nvSpPr>
            <p:spPr>
              <a:xfrm>
                <a:off x="7488" y="4104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项目名称：</a:t>
                </a:r>
                <a:endParaRPr lang="en-US" sz="10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9144" y="4104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0" name="Text 48"/>
              <p:cNvSpPr/>
              <p:nvPr/>
            </p:nvSpPr>
            <p:spPr>
              <a:xfrm>
                <a:off x="9288" y="4104"/>
                <a:ext cx="274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Java 后端综合实训 2025</a:t>
                </a:r>
                <a:endParaRPr lang="en-US" sz="1000" dirty="0"/>
              </a:p>
            </p:txBody>
          </p:sp>
          <p:sp>
            <p:nvSpPr>
              <p:cNvPr id="51" name="Text 49"/>
              <p:cNvSpPr/>
              <p:nvPr/>
            </p:nvSpPr>
            <p:spPr>
              <a:xfrm>
                <a:off x="7488" y="4896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所属课程：</a:t>
                </a:r>
                <a:endParaRPr lang="en-US" sz="1000" dirty="0"/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9144" y="4896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3" name="Text 51"/>
              <p:cNvSpPr/>
              <p:nvPr/>
            </p:nvSpPr>
            <p:spPr>
              <a:xfrm>
                <a:off x="9288" y="4896"/>
                <a:ext cx="2065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软件工程实训</a:t>
                </a:r>
                <a:endParaRPr lang="en-US" sz="1000" dirty="0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7488" y="5688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截止时间：</a:t>
                </a:r>
                <a:endParaRPr lang="en-US" sz="1000" dirty="0"/>
              </a:p>
            </p:txBody>
          </p:sp>
          <p:sp>
            <p:nvSpPr>
              <p:cNvPr id="55" name="Shape 53"/>
              <p:cNvSpPr/>
              <p:nvPr/>
            </p:nvSpPr>
            <p:spPr>
              <a:xfrm>
                <a:off x="9144" y="5688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6" name="Text 54"/>
              <p:cNvSpPr/>
              <p:nvPr/>
            </p:nvSpPr>
            <p:spPr>
              <a:xfrm>
                <a:off x="9288" y="5688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2025-12-20 23:59</a:t>
                </a:r>
                <a:endParaRPr lang="en-US" sz="1000" dirty="0"/>
              </a:p>
            </p:txBody>
          </p:sp>
          <p:sp>
            <p:nvSpPr>
              <p:cNvPr id="57" name="Text 55"/>
              <p:cNvSpPr/>
              <p:nvPr/>
            </p:nvSpPr>
            <p:spPr>
              <a:xfrm>
                <a:off x="7488" y="6480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关联班级：</a:t>
                </a:r>
                <a:endParaRPr lang="en-US" sz="1000" dirty="0"/>
              </a:p>
            </p:txBody>
          </p:sp>
          <p:sp>
            <p:nvSpPr>
              <p:cNvPr id="58" name="Shape 56"/>
              <p:cNvSpPr/>
              <p:nvPr/>
            </p:nvSpPr>
            <p:spPr>
              <a:xfrm>
                <a:off x="9144" y="6480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9" name="Text 57"/>
              <p:cNvSpPr/>
              <p:nvPr/>
            </p:nvSpPr>
            <p:spPr>
              <a:xfrm>
                <a:off x="9288" y="6480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软工2301、软工2302</a:t>
                </a:r>
                <a:endParaRPr lang="en-US" sz="1000" dirty="0"/>
              </a:p>
            </p:txBody>
          </p:sp>
        </p:grpSp>
        <p:sp>
          <p:nvSpPr>
            <p:cNvPr id="60" name="Shape 58"/>
            <p:cNvSpPr/>
            <p:nvPr/>
          </p:nvSpPr>
          <p:spPr>
            <a:xfrm>
              <a:off x="10224" y="7200"/>
              <a:ext cx="2592" cy="461"/>
            </a:xfrm>
            <a:prstGeom prst="roundRect">
              <a:avLst>
                <a:gd name="adj" fmla="val 25000"/>
              </a:avLst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</p:sp>
      </p:grpSp>
      <p:sp>
        <p:nvSpPr>
          <p:cNvPr id="61" name="Text 59"/>
          <p:cNvSpPr/>
          <p:nvPr/>
        </p:nvSpPr>
        <p:spPr>
          <a:xfrm>
            <a:off x="6492240" y="448119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54480" y="4572000"/>
            <a:ext cx="155448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1554480" y="4446905"/>
            <a:ext cx="155448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320040" y="1318260"/>
            <a:ext cx="4023360" cy="1005840"/>
            <a:chOff x="504" y="2232"/>
            <a:chExt cx="6336" cy="1584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9" name="组合 58"/>
            <p:cNvGrpSpPr/>
            <p:nvPr/>
          </p:nvGrpSpPr>
          <p:grpSpPr>
            <a:xfrm>
              <a:off x="720" y="2549"/>
              <a:ext cx="892" cy="892"/>
              <a:chOff x="720" y="2549"/>
              <a:chExt cx="892" cy="89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549"/>
                <a:ext cx="893" cy="893"/>
              </a:xfrm>
              <a:prstGeom prst="ellipse">
                <a:avLst/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921" y="2549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01</a:t>
                </a:r>
                <a:endParaRPr lang="en-US" sz="16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405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查看课程任务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894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显示项目名称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截止时间与提交状态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3" name="组合 62"/>
          <p:cNvGrpSpPr/>
          <p:nvPr/>
        </p:nvGrpSpPr>
        <p:grpSpPr>
          <a:xfrm>
            <a:off x="320040" y="2488565"/>
            <a:ext cx="4023360" cy="1005840"/>
            <a:chOff x="504" y="4075"/>
            <a:chExt cx="6336" cy="1584"/>
          </a:xfrm>
        </p:grpSpPr>
        <p:sp>
          <p:nvSpPr>
            <p:cNvPr id="13" name="Shape 11"/>
            <p:cNvSpPr/>
            <p:nvPr/>
          </p:nvSpPr>
          <p:spPr>
            <a:xfrm>
              <a:off x="504" y="4075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0" name="组合 59"/>
            <p:cNvGrpSpPr/>
            <p:nvPr/>
          </p:nvGrpSpPr>
          <p:grpSpPr>
            <a:xfrm>
              <a:off x="720" y="4392"/>
              <a:ext cx="892" cy="892"/>
              <a:chOff x="720" y="4392"/>
              <a:chExt cx="892" cy="89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20" y="4392"/>
                <a:ext cx="893" cy="893"/>
              </a:xfrm>
              <a:prstGeom prst="ellipse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921" y="4392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</a:t>
                </a:r>
                <a:endParaRPr lang="en-US" sz="1600" dirty="0"/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1800" y="4248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提交成果文件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4738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上传源码包/文档/截图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填写提交说明</a:t>
              </a:r>
              <a:endParaRPr lang="en-US" sz="11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94944" y="349453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320040" y="3658870"/>
            <a:ext cx="4023360" cy="1005840"/>
            <a:chOff x="504" y="5918"/>
            <a:chExt cx="6336" cy="1584"/>
          </a:xfrm>
        </p:grpSpPr>
        <p:sp>
          <p:nvSpPr>
            <p:cNvPr id="19" name="Shape 17"/>
            <p:cNvSpPr/>
            <p:nvPr/>
          </p:nvSpPr>
          <p:spPr>
            <a:xfrm>
              <a:off x="504" y="5918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1" name="组合 60"/>
            <p:cNvGrpSpPr/>
            <p:nvPr/>
          </p:nvGrpSpPr>
          <p:grpSpPr>
            <a:xfrm>
              <a:off x="720" y="6235"/>
              <a:ext cx="892" cy="892"/>
              <a:chOff x="720" y="6235"/>
              <a:chExt cx="892" cy="89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720" y="6235"/>
                <a:ext cx="893" cy="893"/>
              </a:xfrm>
              <a:prstGeom prst="ellipse">
                <a:avLst/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921" y="6235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</a:t>
                </a:r>
                <a:endParaRPr lang="en-US" sz="16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1800" y="6091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追踪处理状态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800" y="6581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待处理→解析中→已评价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版本批次可回溯</a:t>
              </a:r>
              <a:endParaRPr lang="en-US" sz="1100" dirty="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617720" y="1314450"/>
            <a:ext cx="4160520" cy="3383280"/>
            <a:chOff x="7272" y="2232"/>
            <a:chExt cx="6552" cy="5328"/>
          </a:xfrm>
        </p:grpSpPr>
        <p:sp>
          <p:nvSpPr>
            <p:cNvPr id="24" name="Shape 22"/>
            <p:cNvSpPr/>
            <p:nvPr/>
          </p:nvSpPr>
          <p:spPr>
            <a:xfrm>
              <a:off x="7272" y="2232"/>
              <a:ext cx="6552" cy="5328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5" name="组合 44"/>
            <p:cNvGrpSpPr/>
            <p:nvPr/>
          </p:nvGrpSpPr>
          <p:grpSpPr>
            <a:xfrm>
              <a:off x="7272" y="2232"/>
              <a:ext cx="6552" cy="576"/>
              <a:chOff x="7272" y="2232"/>
              <a:chExt cx="6552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7272" y="2232"/>
                <a:ext cx="6552" cy="576"/>
              </a:xfrm>
              <a:prstGeom prst="roundRect">
                <a:avLst>
                  <a:gd name="adj" fmla="val 20000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8828" y="2232"/>
                <a:ext cx="344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提交批次记录</a:t>
                </a:r>
                <a:endParaRPr lang="en-US" sz="1300" dirty="0"/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754880" y="1901825"/>
            <a:ext cx="3840480" cy="594360"/>
            <a:chOff x="7488" y="2995"/>
            <a:chExt cx="6048" cy="936"/>
          </a:xfrm>
        </p:grpSpPr>
        <p:grpSp>
          <p:nvGrpSpPr>
            <p:cNvPr id="52" name="组合 51"/>
            <p:cNvGrpSpPr/>
            <p:nvPr/>
          </p:nvGrpSpPr>
          <p:grpSpPr>
            <a:xfrm>
              <a:off x="7488" y="2995"/>
              <a:ext cx="6048" cy="936"/>
              <a:chOff x="7488" y="2995"/>
              <a:chExt cx="6048" cy="936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7488" y="2995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EAFAF1"/>
              </a:solidFill>
              <a:ln w="1905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7704" y="3110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#3</a:t>
                </a:r>
                <a:endParaRPr lang="en-US" sz="1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704" y="3499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12-19 22:31</a:t>
                </a:r>
                <a:endParaRPr lang="en-US" sz="950" dirty="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0800" y="3211"/>
              <a:ext cx="2160" cy="402"/>
              <a:chOff x="10800" y="3211"/>
              <a:chExt cx="2160" cy="40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10800" y="3211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11177" y="3211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已评价</a:t>
                </a:r>
                <a:endParaRPr lang="en-US" sz="950" dirty="0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360" y="3226"/>
              <a:ext cx="1152" cy="360"/>
              <a:chOff x="9360" y="3226"/>
              <a:chExt cx="1152" cy="36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9360" y="3226"/>
                <a:ext cx="1152" cy="360"/>
              </a:xfrm>
              <a:prstGeom prst="roundRect">
                <a:avLst>
                  <a:gd name="adj" fmla="val 24000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9513" y="3226"/>
                <a:ext cx="846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评价依据</a:t>
                </a:r>
                <a:endParaRPr lang="en-US" sz="850" dirty="0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4754880" y="2633345"/>
            <a:ext cx="3840480" cy="594360"/>
            <a:chOff x="7488" y="4147"/>
            <a:chExt cx="6048" cy="936"/>
          </a:xfrm>
        </p:grpSpPr>
        <p:grpSp>
          <p:nvGrpSpPr>
            <p:cNvPr id="47" name="组合 46"/>
            <p:cNvGrpSpPr/>
            <p:nvPr/>
          </p:nvGrpSpPr>
          <p:grpSpPr>
            <a:xfrm>
              <a:off x="7488" y="4147"/>
              <a:ext cx="6048" cy="936"/>
              <a:chOff x="7488" y="4147"/>
              <a:chExt cx="6048" cy="936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7488" y="4147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F8FBFF"/>
              </a:solidFill>
              <a:ln w="6350">
                <a:solidFill>
                  <a:srgbClr val="8FA8C0"/>
                </a:solidFill>
                <a:prstDash val="solid"/>
              </a:ln>
            </p:spPr>
          </p:sp>
          <p:sp>
            <p:nvSpPr>
              <p:cNvPr id="35" name="Text 33"/>
              <p:cNvSpPr/>
              <p:nvPr/>
            </p:nvSpPr>
            <p:spPr>
              <a:xfrm>
                <a:off x="7704" y="4262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#2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7704" y="4651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12-18 15:42</a:t>
                </a:r>
                <a:endParaRPr lang="en-US" sz="950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800" y="4363"/>
              <a:ext cx="2160" cy="402"/>
              <a:chOff x="10800" y="4363"/>
              <a:chExt cx="2160" cy="402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10800" y="4363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38" name="Text 36"/>
              <p:cNvSpPr/>
              <p:nvPr/>
            </p:nvSpPr>
            <p:spPr>
              <a:xfrm>
                <a:off x="11177" y="4363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4754880" y="3364865"/>
            <a:ext cx="3840480" cy="594360"/>
            <a:chOff x="7488" y="5299"/>
            <a:chExt cx="6048" cy="936"/>
          </a:xfrm>
        </p:grpSpPr>
        <p:sp>
          <p:nvSpPr>
            <p:cNvPr id="39" name="Shape 37"/>
            <p:cNvSpPr/>
            <p:nvPr/>
          </p:nvSpPr>
          <p:spPr>
            <a:xfrm>
              <a:off x="7488" y="5299"/>
              <a:ext cx="6048" cy="936"/>
            </a:xfrm>
            <a:prstGeom prst="roundRect">
              <a:avLst>
                <a:gd name="adj" fmla="val 12308"/>
              </a:avLst>
            </a:prstGeom>
            <a:solidFill>
              <a:srgbClr val="F8FBFF"/>
            </a:solidFill>
            <a:ln w="6350">
              <a:solidFill>
                <a:srgbClr val="8FA8C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704" y="5414"/>
              <a:ext cx="144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批次 #1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704" y="5803"/>
              <a:ext cx="25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12-15 09:10</a:t>
              </a:r>
              <a:endParaRPr lang="en-US" sz="95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800" y="5515"/>
              <a:ext cx="2160" cy="402"/>
              <a:chOff x="10800" y="5515"/>
              <a:chExt cx="2160" cy="402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0800" y="5515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43" name="Text 41"/>
              <p:cNvSpPr/>
              <p:nvPr/>
            </p:nvSpPr>
            <p:spPr>
              <a:xfrm>
                <a:off x="11177" y="5515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58" name="组合 57"/>
          <p:cNvGrpSpPr/>
          <p:nvPr/>
        </p:nvGrpSpPr>
        <p:grpSpPr>
          <a:xfrm>
            <a:off x="5308600" y="4515485"/>
            <a:ext cx="2733040" cy="292100"/>
            <a:chOff x="8360" y="7273"/>
            <a:chExt cx="4304" cy="460"/>
          </a:xfrm>
        </p:grpSpPr>
        <p:sp>
          <p:nvSpPr>
            <p:cNvPr id="2" name="Shape 58"/>
            <p:cNvSpPr/>
            <p:nvPr/>
          </p:nvSpPr>
          <p:spPr>
            <a:xfrm>
              <a:off x="8449" y="7273"/>
              <a:ext cx="4193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8360" y="7315"/>
              <a:ext cx="430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以最新批次为评价依据，历史版本可查不可改</a:t>
              </a:r>
              <a:endParaRPr lang="en-US" sz="1000" dirty="0"/>
            </a:p>
          </p:txBody>
        </p: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698119" y="232410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grpSp>
        <p:nvGrpSpPr>
          <p:cNvPr id="82" name="组合 81"/>
          <p:cNvGrpSpPr/>
          <p:nvPr/>
        </p:nvGrpSpPr>
        <p:grpSpPr>
          <a:xfrm>
            <a:off x="320040" y="1280160"/>
            <a:ext cx="2743200" cy="3389630"/>
            <a:chOff x="504" y="2232"/>
            <a:chExt cx="4320" cy="5256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4320" cy="5256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0" name="组合 69"/>
            <p:cNvGrpSpPr/>
            <p:nvPr/>
          </p:nvGrpSpPr>
          <p:grpSpPr>
            <a:xfrm>
              <a:off x="504" y="2232"/>
              <a:ext cx="4320" cy="576"/>
              <a:chOff x="504" y="2232"/>
              <a:chExt cx="4320" cy="576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04" y="2232"/>
                <a:ext cx="4320" cy="576"/>
              </a:xfrm>
              <a:prstGeom prst="roundRect">
                <a:avLst>
                  <a:gd name="adj" fmla="val 20000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1000" y="2232"/>
                <a:ext cx="33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教师操作界面</a:t>
                </a:r>
                <a:endParaRPr lang="en-US" sz="12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720" y="2995"/>
              <a:ext cx="388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成果管理</a:t>
              </a:r>
              <a:endParaRPr lang="en-US" sz="1100" dirty="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648" y="3485"/>
              <a:ext cx="3960" cy="490"/>
              <a:chOff x="648" y="3485"/>
              <a:chExt cx="3960" cy="49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48" y="3485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749" y="3485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张三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485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3456" y="3571"/>
                <a:ext cx="1008" cy="316"/>
                <a:chOff x="3456" y="3571"/>
                <a:chExt cx="1008" cy="316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3456" y="3571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15" name="Text 13"/>
                <p:cNvSpPr/>
                <p:nvPr/>
              </p:nvSpPr>
              <p:spPr>
                <a:xfrm>
                  <a:off x="3584" y="3571"/>
                  <a:ext cx="7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>
              <a:off x="648" y="4032"/>
              <a:ext cx="3960" cy="490"/>
              <a:chOff x="648" y="4032"/>
              <a:chExt cx="3960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648" y="4032"/>
                <a:ext cx="3960" cy="4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749" y="4032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李四</a:t>
                </a:r>
                <a:endParaRPr lang="en-US" sz="10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800" y="4032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456" y="4118"/>
                <a:ext cx="1008" cy="316"/>
                <a:chOff x="3456" y="4118"/>
                <a:chExt cx="1008" cy="316"/>
              </a:xfrm>
            </p:grpSpPr>
            <p:sp>
              <p:nvSpPr>
                <p:cNvPr id="19" name="Shape 17"/>
                <p:cNvSpPr/>
                <p:nvPr/>
              </p:nvSpPr>
              <p:spPr>
                <a:xfrm>
                  <a:off x="3456" y="4118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20" name="Text 18"/>
                <p:cNvSpPr/>
                <p:nvPr/>
              </p:nvSpPr>
              <p:spPr>
                <a:xfrm>
                  <a:off x="3560" y="4118"/>
                  <a:ext cx="800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80" name="组合 79"/>
            <p:cNvGrpSpPr/>
            <p:nvPr/>
          </p:nvGrpSpPr>
          <p:grpSpPr>
            <a:xfrm>
              <a:off x="648" y="4579"/>
              <a:ext cx="3960" cy="490"/>
              <a:chOff x="648" y="4579"/>
              <a:chExt cx="3960" cy="49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648" y="4579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749" y="4579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王五</a:t>
                </a:r>
                <a:endParaRPr lang="en-US" sz="10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800" y="4579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软工2302</a:t>
                </a:r>
                <a:endParaRPr lang="en-US" sz="1000" dirty="0"/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3456" y="4666"/>
                <a:ext cx="1008" cy="316"/>
                <a:chOff x="3456" y="4666"/>
                <a:chExt cx="1008" cy="316"/>
              </a:xfrm>
            </p:grpSpPr>
            <p:sp>
              <p:nvSpPr>
                <p:cNvPr id="24" name="Shape 22"/>
                <p:cNvSpPr/>
                <p:nvPr/>
              </p:nvSpPr>
              <p:spPr>
                <a:xfrm>
                  <a:off x="3456" y="4666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8FA8C0"/>
                </a:solidFill>
                <a:ln w="12700">
                  <a:solidFill>
                    <a:srgbClr val="8FA8C0"/>
                  </a:solidFill>
                  <a:prstDash val="solid"/>
                </a:ln>
              </p:spPr>
            </p:sp>
            <p:sp>
              <p:nvSpPr>
                <p:cNvPr id="25" name="Text 23"/>
                <p:cNvSpPr/>
                <p:nvPr/>
              </p:nvSpPr>
              <p:spPr>
                <a:xfrm>
                  <a:off x="3664" y="4666"/>
                  <a:ext cx="59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待提交</a:t>
                  </a:r>
                  <a:endParaRPr lang="en-US" sz="850" dirty="0"/>
                </a:p>
              </p:txBody>
            </p:sp>
          </p:grpSp>
        </p:grpSp>
        <p:sp>
          <p:nvSpPr>
            <p:cNvPr id="26" name="Shape 24"/>
            <p:cNvSpPr/>
            <p:nvPr/>
          </p:nvSpPr>
          <p:spPr>
            <a:xfrm>
              <a:off x="792" y="5443"/>
              <a:ext cx="3744" cy="605"/>
            </a:xfrm>
            <a:prstGeom prst="roundRect">
              <a:avLst>
                <a:gd name="adj" fmla="val 23810"/>
              </a:avLst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76200" dist="25400" dir="5400000" algn="bl" rotWithShape="0">
                <a:srgbClr val="D35400">
                  <a:alpha val="4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1184" y="5443"/>
              <a:ext cx="29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▶  一键开始处理</a:t>
              </a:r>
              <a:endParaRPr lang="en-US" sz="13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40480" y="225552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0" name="组合 59"/>
          <p:cNvGrpSpPr/>
          <p:nvPr/>
        </p:nvGrpSpPr>
        <p:grpSpPr>
          <a:xfrm>
            <a:off x="3520440" y="1249680"/>
            <a:ext cx="5257800" cy="1005840"/>
            <a:chOff x="5544" y="2232"/>
            <a:chExt cx="8280" cy="1584"/>
          </a:xfrm>
        </p:grpSpPr>
        <p:grpSp>
          <p:nvGrpSpPr>
            <p:cNvPr id="59" name="组合 58"/>
            <p:cNvGrpSpPr/>
            <p:nvPr/>
          </p:nvGrpSpPr>
          <p:grpSpPr>
            <a:xfrm>
              <a:off x="5544" y="2232"/>
              <a:ext cx="8280" cy="1584"/>
              <a:chOff x="5544" y="2232"/>
              <a:chExt cx="8280" cy="1584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5544" y="2232"/>
                <a:ext cx="8280" cy="1584"/>
                <a:chOff x="5544" y="2232"/>
                <a:chExt cx="8280" cy="1584"/>
              </a:xfrm>
            </p:grpSpPr>
            <p:sp>
              <p:nvSpPr>
                <p:cNvPr id="30" name="Shape 28"/>
                <p:cNvSpPr/>
                <p:nvPr/>
              </p:nvSpPr>
              <p:spPr>
                <a:xfrm>
                  <a:off x="5544" y="2232"/>
                  <a:ext cx="8280" cy="1584"/>
                </a:xfrm>
                <a:prstGeom prst="roundRect">
                  <a:avLst>
                    <a:gd name="adj" fmla="val 9091"/>
                  </a:avLst>
                </a:prstGeom>
                <a:solidFill>
                  <a:srgbClr val="FFFF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5635" y="2520"/>
                  <a:ext cx="1132" cy="1036"/>
                  <a:chOff x="5635" y="2520"/>
                  <a:chExt cx="1132" cy="1036"/>
                </a:xfrm>
              </p:grpSpPr>
              <p:sp>
                <p:nvSpPr>
                  <p:cNvPr id="31" name="Shape 29"/>
                  <p:cNvSpPr/>
                  <p:nvPr/>
                </p:nvSpPr>
                <p:spPr>
                  <a:xfrm>
                    <a:off x="5731" y="2520"/>
                    <a:ext cx="1037" cy="1037"/>
                  </a:xfrm>
                  <a:prstGeom prst="ellipse">
                    <a:avLst/>
                  </a:prstGeom>
                  <a:solidFill>
                    <a:srgbClr val="2E86C1"/>
                  </a:solidFill>
                  <a:ln w="12700">
                    <a:solidFill>
                      <a:srgbClr val="2E86C1"/>
                    </a:solidFill>
                    <a:prstDash val="solid"/>
                  </a:ln>
                </p:spPr>
              </p:sp>
              <p:sp>
                <p:nvSpPr>
                  <p:cNvPr id="32" name="Text 30"/>
                  <p:cNvSpPr/>
                  <p:nvPr/>
                </p:nvSpPr>
                <p:spPr>
                  <a:xfrm>
                    <a:off x="5635" y="2520"/>
                    <a:ext cx="1037" cy="10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2200" dirty="0">
                        <a:solidFill>
                          <a:srgbClr val="000000"/>
                        </a:solidFill>
                      </a:rPr>
                      <a:t>📄</a:t>
                    </a:r>
                    <a:endParaRPr lang="en-US" sz="2200" dirty="0"/>
                  </a:p>
                </p:txBody>
              </p:sp>
            </p:grpSp>
            <p:sp>
              <p:nvSpPr>
                <p:cNvPr id="33" name="Text 31"/>
                <p:cNvSpPr/>
                <p:nvPr/>
              </p:nvSpPr>
              <p:spPr>
                <a:xfrm>
                  <a:off x="6941" y="2376"/>
                  <a:ext cx="6480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01 解析任务</a:t>
                  </a:r>
                  <a:endParaRPr lang="en-US" sz="1400" dirty="0"/>
                </a:p>
              </p:txBody>
            </p:sp>
            <p:sp>
              <p:nvSpPr>
                <p:cNvPr id="34" name="Text 32"/>
                <p:cNvSpPr/>
                <p:nvPr/>
              </p:nvSpPr>
              <p:spPr>
                <a:xfrm>
                  <a:off x="6941" y="2866"/>
                  <a:ext cx="6480" cy="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文档结构提取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ZIP目录分析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完整性检查</a:t>
                  </a:r>
                  <a:endParaRPr lang="en-US" sz="1100" dirty="0"/>
                </a:p>
              </p:txBody>
            </p:sp>
          </p:grpSp>
          <p:sp>
            <p:nvSpPr>
              <p:cNvPr id="36" name="Shape 34"/>
              <p:cNvSpPr/>
              <p:nvPr/>
            </p:nvSpPr>
            <p:spPr>
              <a:xfrm>
                <a:off x="12384" y="2736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12705" y="2736"/>
              <a:ext cx="65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完成</a:t>
              </a:r>
              <a:endParaRPr lang="en-US" sz="9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3840480" y="346252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4" name="组合 63"/>
          <p:cNvGrpSpPr/>
          <p:nvPr/>
        </p:nvGrpSpPr>
        <p:grpSpPr>
          <a:xfrm>
            <a:off x="3520440" y="2456815"/>
            <a:ext cx="5257800" cy="1005840"/>
            <a:chOff x="5544" y="4133"/>
            <a:chExt cx="8280" cy="1584"/>
          </a:xfrm>
        </p:grpSpPr>
        <p:grpSp>
          <p:nvGrpSpPr>
            <p:cNvPr id="62" name="组合 61"/>
            <p:cNvGrpSpPr/>
            <p:nvPr/>
          </p:nvGrpSpPr>
          <p:grpSpPr>
            <a:xfrm>
              <a:off x="5544" y="4133"/>
              <a:ext cx="8280" cy="1584"/>
              <a:chOff x="5544" y="4133"/>
              <a:chExt cx="8280" cy="1584"/>
            </a:xfrm>
          </p:grpSpPr>
          <p:sp>
            <p:nvSpPr>
              <p:cNvPr id="38" name="Shape 36"/>
              <p:cNvSpPr/>
              <p:nvPr/>
            </p:nvSpPr>
            <p:spPr>
              <a:xfrm>
                <a:off x="5544" y="4133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17A589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1" name="组合 60"/>
              <p:cNvGrpSpPr/>
              <p:nvPr/>
            </p:nvGrpSpPr>
            <p:grpSpPr>
              <a:xfrm>
                <a:off x="5635" y="4421"/>
                <a:ext cx="1132" cy="1036"/>
                <a:chOff x="5635" y="4421"/>
                <a:chExt cx="1132" cy="1036"/>
              </a:xfrm>
            </p:grpSpPr>
            <p:sp>
              <p:nvSpPr>
                <p:cNvPr id="39" name="Shape 37"/>
                <p:cNvSpPr/>
                <p:nvPr/>
              </p:nvSpPr>
              <p:spPr>
                <a:xfrm>
                  <a:off x="5731" y="4421"/>
                  <a:ext cx="1037" cy="1037"/>
                </a:xfrm>
                <a:prstGeom prst="ellipse">
                  <a:avLst/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0" name="Text 38"/>
                <p:cNvSpPr/>
                <p:nvPr/>
              </p:nvSpPr>
              <p:spPr>
                <a:xfrm>
                  <a:off x="5635" y="4421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🤖</a:t>
                  </a:r>
                  <a:endParaRPr lang="en-US" sz="2200" dirty="0"/>
                </a:p>
              </p:txBody>
            </p:sp>
          </p:grpSp>
          <p:sp>
            <p:nvSpPr>
              <p:cNvPr id="41" name="Text 39"/>
              <p:cNvSpPr/>
              <p:nvPr/>
            </p:nvSpPr>
            <p:spPr>
              <a:xfrm>
                <a:off x="6941" y="4277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 核验任务</a:t>
                </a:r>
                <a:endParaRPr lang="en-US" sz="14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6941" y="4766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大模型语义分析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完成度评估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建议生成</a:t>
                </a:r>
                <a:endParaRPr lang="en-US" sz="1100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2384" y="4637"/>
              <a:ext cx="1296" cy="374"/>
              <a:chOff x="12384" y="4637"/>
              <a:chExt cx="1296" cy="374"/>
            </a:xfrm>
          </p:grpSpPr>
          <p:sp>
            <p:nvSpPr>
              <p:cNvPr id="44" name="Shape 42"/>
              <p:cNvSpPr/>
              <p:nvPr/>
            </p:nvSpPr>
            <p:spPr>
              <a:xfrm>
                <a:off x="12384" y="4637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45" name="Text 43"/>
              <p:cNvSpPr/>
              <p:nvPr/>
            </p:nvSpPr>
            <p:spPr>
              <a:xfrm>
                <a:off x="12564" y="4637"/>
                <a:ext cx="936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3520440" y="3663696"/>
            <a:ext cx="5257800" cy="1005840"/>
            <a:chOff x="5544" y="6034"/>
            <a:chExt cx="8280" cy="1584"/>
          </a:xfrm>
        </p:grpSpPr>
        <p:grpSp>
          <p:nvGrpSpPr>
            <p:cNvPr id="66" name="组合 65"/>
            <p:cNvGrpSpPr/>
            <p:nvPr/>
          </p:nvGrpSpPr>
          <p:grpSpPr>
            <a:xfrm>
              <a:off x="5544" y="6034"/>
              <a:ext cx="8280" cy="1584"/>
              <a:chOff x="5544" y="6034"/>
              <a:chExt cx="8280" cy="1584"/>
            </a:xfrm>
          </p:grpSpPr>
          <p:sp>
            <p:nvSpPr>
              <p:cNvPr id="46" name="Shape 44"/>
              <p:cNvSpPr/>
              <p:nvPr/>
            </p:nvSpPr>
            <p:spPr>
              <a:xfrm>
                <a:off x="5544" y="6034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E67E22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5" name="组合 64"/>
              <p:cNvGrpSpPr/>
              <p:nvPr/>
            </p:nvGrpSpPr>
            <p:grpSpPr>
              <a:xfrm>
                <a:off x="5647" y="6322"/>
                <a:ext cx="1120" cy="1048"/>
                <a:chOff x="5647" y="6322"/>
                <a:chExt cx="1120" cy="1048"/>
              </a:xfrm>
            </p:grpSpPr>
            <p:sp>
              <p:nvSpPr>
                <p:cNvPr id="47" name="Shape 45"/>
                <p:cNvSpPr/>
                <p:nvPr/>
              </p:nvSpPr>
              <p:spPr>
                <a:xfrm>
                  <a:off x="5731" y="6322"/>
                  <a:ext cx="1037" cy="1037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solidFill>
                    <a:srgbClr val="E67E22"/>
                  </a:solidFill>
                  <a:prstDash val="solid"/>
                </a:ln>
              </p:spPr>
            </p:sp>
            <p:sp>
              <p:nvSpPr>
                <p:cNvPr id="48" name="Text 46"/>
                <p:cNvSpPr/>
                <p:nvPr/>
              </p:nvSpPr>
              <p:spPr>
                <a:xfrm>
                  <a:off x="5647" y="6334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📊</a:t>
                  </a:r>
                  <a:endParaRPr lang="en-US" sz="2200" dirty="0"/>
                </a:p>
              </p:txBody>
            </p:sp>
          </p:grpSp>
          <p:sp>
            <p:nvSpPr>
              <p:cNvPr id="49" name="Text 47"/>
              <p:cNvSpPr/>
              <p:nvPr/>
            </p:nvSpPr>
            <p:spPr>
              <a:xfrm>
                <a:off x="6941" y="6094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 评分任务</a:t>
                </a:r>
                <a:endParaRPr lang="en-US" sz="1400" dirty="0"/>
              </a:p>
            </p:txBody>
          </p:sp>
          <p:sp>
            <p:nvSpPr>
              <p:cNvPr id="50" name="Text 48"/>
              <p:cNvSpPr/>
              <p:nvPr/>
            </p:nvSpPr>
            <p:spPr>
              <a:xfrm>
                <a:off x="6941" y="6583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规则计算初评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指标分值生成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写入评分草稿</a:t>
                </a:r>
                <a:endParaRPr lang="en-US" sz="1100" dirty="0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2384" y="6538"/>
              <a:ext cx="1296" cy="374"/>
              <a:chOff x="12384" y="6538"/>
              <a:chExt cx="1296" cy="374"/>
            </a:xfrm>
          </p:grpSpPr>
          <p:sp>
            <p:nvSpPr>
              <p:cNvPr id="51" name="Shape 49"/>
              <p:cNvSpPr/>
              <p:nvPr/>
            </p:nvSpPr>
            <p:spPr>
              <a:xfrm>
                <a:off x="12384" y="6538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52" name="Text 50"/>
              <p:cNvSpPr/>
              <p:nvPr/>
            </p:nvSpPr>
            <p:spPr>
              <a:xfrm>
                <a:off x="12492" y="6538"/>
                <a:ext cx="1080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653915" y="4535805"/>
            <a:ext cx="3536950" cy="292735"/>
            <a:chOff x="7671" y="7273"/>
            <a:chExt cx="5750" cy="461"/>
          </a:xfrm>
        </p:grpSpPr>
        <p:sp>
          <p:nvSpPr>
            <p:cNvPr id="2" name="Shape 58"/>
            <p:cNvSpPr/>
            <p:nvPr/>
          </p:nvSpPr>
          <p:spPr>
            <a:xfrm>
              <a:off x="7671" y="7273"/>
              <a:ext cx="5750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Text 42"/>
            <p:cNvSpPr/>
            <p:nvPr/>
          </p:nvSpPr>
          <p:spPr>
            <a:xfrm>
              <a:off x="7803" y="7315"/>
              <a:ext cx="5418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失败时记录原因，支持单任务重试，不影响其他批次</a:t>
              </a:r>
              <a:endParaRPr lang="en-US" sz="1000" dirty="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58953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325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9165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320040" y="1363980"/>
            <a:ext cx="3291840" cy="749300"/>
            <a:chOff x="504" y="2232"/>
            <a:chExt cx="5184" cy="1180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8" name="组合 47"/>
            <p:cNvGrpSpPr/>
            <p:nvPr/>
          </p:nvGrpSpPr>
          <p:grpSpPr>
            <a:xfrm>
              <a:off x="632" y="2347"/>
              <a:ext cx="981" cy="893"/>
              <a:chOff x="632" y="2347"/>
              <a:chExt cx="981" cy="893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347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632" y="2347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🔒</a:t>
                </a:r>
                <a:endParaRPr lang="en-US" sz="20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347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仅发布后可见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765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教师未发布前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结果对学生不可见</a:t>
              </a:r>
              <a:endParaRPr lang="en-US" sz="105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0040" y="2259965"/>
            <a:ext cx="3291840" cy="749300"/>
            <a:chOff x="504" y="3643"/>
            <a:chExt cx="5184" cy="1180"/>
          </a:xfrm>
        </p:grpSpPr>
        <p:sp>
          <p:nvSpPr>
            <p:cNvPr id="12" name="Shape 10"/>
            <p:cNvSpPr/>
            <p:nvPr/>
          </p:nvSpPr>
          <p:spPr>
            <a:xfrm>
              <a:off x="504" y="3643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0" name="组合 49"/>
            <p:cNvGrpSpPr/>
            <p:nvPr/>
          </p:nvGrpSpPr>
          <p:grpSpPr>
            <a:xfrm>
              <a:off x="632" y="3758"/>
              <a:ext cx="980" cy="892"/>
              <a:chOff x="632" y="3758"/>
              <a:chExt cx="980" cy="892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720" y="3758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632" y="3758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📊</a:t>
                </a:r>
                <a:endParaRPr lang="en-US" sz="20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1800" y="3758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总分与指标分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800" y="4176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 + 各维度得分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清晰呈现评分结构</a:t>
              </a:r>
              <a:endParaRPr lang="en-US" sz="105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20040" y="3155950"/>
            <a:ext cx="3291840" cy="749300"/>
            <a:chOff x="504" y="5054"/>
            <a:chExt cx="5184" cy="1180"/>
          </a:xfrm>
        </p:grpSpPr>
        <p:sp>
          <p:nvSpPr>
            <p:cNvPr id="17" name="Shape 15"/>
            <p:cNvSpPr/>
            <p:nvPr/>
          </p:nvSpPr>
          <p:spPr>
            <a:xfrm>
              <a:off x="504" y="5054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1" name="组合 50"/>
            <p:cNvGrpSpPr/>
            <p:nvPr/>
          </p:nvGrpSpPr>
          <p:grpSpPr>
            <a:xfrm>
              <a:off x="640" y="5170"/>
              <a:ext cx="972" cy="892"/>
              <a:chOff x="640" y="5170"/>
              <a:chExt cx="972" cy="892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720" y="5170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640" y="5170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💬</a:t>
                </a:r>
                <a:endParaRPr lang="en-US" sz="2000" dirty="0"/>
              </a:p>
            </p:txBody>
          </p:sp>
        </p:grpSp>
        <p:sp>
          <p:nvSpPr>
            <p:cNvPr id="20" name="Text 18"/>
            <p:cNvSpPr/>
            <p:nvPr/>
          </p:nvSpPr>
          <p:spPr>
            <a:xfrm>
              <a:off x="1800" y="5170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教师评语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800" y="5587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整体评价与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改进方向建议</a:t>
              </a:r>
              <a:endParaRPr lang="en-US" sz="105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0040" y="4052570"/>
            <a:ext cx="3291840" cy="749300"/>
            <a:chOff x="504" y="6466"/>
            <a:chExt cx="5184" cy="1180"/>
          </a:xfrm>
        </p:grpSpPr>
        <p:sp>
          <p:nvSpPr>
            <p:cNvPr id="22" name="Shape 20"/>
            <p:cNvSpPr/>
            <p:nvPr/>
          </p:nvSpPr>
          <p:spPr>
            <a:xfrm>
              <a:off x="504" y="6466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2" name="组合 51"/>
            <p:cNvGrpSpPr/>
            <p:nvPr/>
          </p:nvGrpSpPr>
          <p:grpSpPr>
            <a:xfrm>
              <a:off x="616" y="6581"/>
              <a:ext cx="996" cy="892"/>
              <a:chOff x="616" y="6581"/>
              <a:chExt cx="996" cy="892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720" y="6581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24" name="Text 22"/>
              <p:cNvSpPr/>
              <p:nvPr/>
            </p:nvSpPr>
            <p:spPr>
              <a:xfrm>
                <a:off x="616" y="6581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📎</a:t>
                </a:r>
                <a:endParaRPr lang="en-US" sz="2000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1800" y="6581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评价依据可查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0" y="6998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解析摘要与AI建议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作为背景参考展示</a:t>
              </a:r>
              <a:endParaRPr lang="en-US" sz="105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5135" y="-760730"/>
            <a:ext cx="11322050" cy="7949565"/>
            <a:chOff x="-431" y="-4215"/>
            <a:chExt cx="17830" cy="12519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" y="-4215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0735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5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069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grpSp>
        <p:nvGrpSpPr>
          <p:cNvPr id="70" name="组合 69"/>
          <p:cNvGrpSpPr/>
          <p:nvPr/>
        </p:nvGrpSpPr>
        <p:grpSpPr>
          <a:xfrm>
            <a:off x="5598160" y="2560320"/>
            <a:ext cx="3246120" cy="2194560"/>
            <a:chOff x="13155" y="4104"/>
            <a:chExt cx="5112" cy="3456"/>
          </a:xfrm>
        </p:grpSpPr>
        <p:grpSp>
          <p:nvGrpSpPr>
            <p:cNvPr id="67" name="组合 66"/>
            <p:cNvGrpSpPr/>
            <p:nvPr/>
          </p:nvGrpSpPr>
          <p:grpSpPr>
            <a:xfrm>
              <a:off x="13155" y="4104"/>
              <a:ext cx="5112" cy="3456"/>
              <a:chOff x="8712" y="4104"/>
              <a:chExt cx="5112" cy="3456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8712" y="4104"/>
                <a:ext cx="5112" cy="3456"/>
                <a:chOff x="8712" y="4104"/>
                <a:chExt cx="5112" cy="3456"/>
              </a:xfrm>
            </p:grpSpPr>
            <p:sp>
              <p:nvSpPr>
                <p:cNvPr id="49" name="Shape 47"/>
                <p:cNvSpPr/>
                <p:nvPr/>
              </p:nvSpPr>
              <p:spPr>
                <a:xfrm>
                  <a:off x="8712" y="4104"/>
                  <a:ext cx="5112" cy="3456"/>
                </a:xfrm>
                <a:prstGeom prst="roundRect">
                  <a:avLst>
                    <a:gd name="adj" fmla="val 4167"/>
                  </a:avLst>
                </a:prstGeom>
                <a:solidFill>
                  <a:srgbClr val="FFFFFF"/>
                </a:solidFill>
                <a:ln w="12700">
                  <a:solidFill>
                    <a:srgbClr val="D5E8F3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8712" y="4104"/>
                  <a:ext cx="5112" cy="504"/>
                  <a:chOff x="8712" y="4104"/>
                  <a:chExt cx="5112" cy="504"/>
                </a:xfrm>
              </p:grpSpPr>
              <p:sp>
                <p:nvSpPr>
                  <p:cNvPr id="50" name="Shape 48"/>
                  <p:cNvSpPr/>
                  <p:nvPr/>
                </p:nvSpPr>
                <p:spPr>
                  <a:xfrm>
                    <a:off x="8712" y="4104"/>
                    <a:ext cx="5112" cy="504"/>
                  </a:xfrm>
                  <a:prstGeom prst="roundRect">
                    <a:avLst>
                      <a:gd name="adj" fmla="val 22857"/>
                    </a:avLst>
                  </a:prstGeom>
                  <a:solidFill>
                    <a:srgbClr val="17A589"/>
                  </a:solidFill>
                  <a:ln w="12700">
                    <a:solidFill>
                      <a:srgbClr val="17A589"/>
                    </a:solidFill>
                    <a:prstDash val="solid"/>
                  </a:ln>
                </p:spPr>
              </p:sp>
              <p:sp>
                <p:nvSpPr>
                  <p:cNvPr id="51" name="Text 49"/>
                  <p:cNvSpPr/>
                  <p:nvPr/>
                </p:nvSpPr>
                <p:spPr>
                  <a:xfrm>
                    <a:off x="9381" y="4104"/>
                    <a:ext cx="3774" cy="50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质量画像  雷达图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" name="组合 1"/>
              <p:cNvGrpSpPr/>
              <p:nvPr/>
            </p:nvGrpSpPr>
            <p:grpSpPr>
              <a:xfrm>
                <a:off x="9713" y="4840"/>
                <a:ext cx="3096" cy="2341"/>
                <a:chOff x="9260" y="4234"/>
                <a:chExt cx="4001" cy="3025"/>
              </a:xfrm>
            </p:grpSpPr>
            <p:sp>
              <p:nvSpPr>
                <p:cNvPr id="57" name="Text 55"/>
                <p:cNvSpPr/>
                <p:nvPr/>
              </p:nvSpPr>
              <p:spPr>
                <a:xfrm>
                  <a:off x="10685" y="4234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</a:t>
                  </a:r>
                  <a:endParaRPr lang="en-US" sz="850" dirty="0"/>
                </a:p>
              </p:txBody>
            </p:sp>
            <p:sp>
              <p:nvSpPr>
                <p:cNvPr id="58" name="Text 56"/>
                <p:cNvSpPr/>
                <p:nvPr/>
              </p:nvSpPr>
              <p:spPr>
                <a:xfrm>
                  <a:off x="12109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功能覆盖</a:t>
                  </a:r>
                  <a:endParaRPr lang="en-US" sz="850" dirty="0"/>
                </a:p>
              </p:txBody>
            </p:sp>
            <p:sp>
              <p:nvSpPr>
                <p:cNvPr id="59" name="Text 57"/>
                <p:cNvSpPr/>
                <p:nvPr/>
              </p:nvSpPr>
              <p:spPr>
                <a:xfrm>
                  <a:off x="1156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</a:t>
                  </a:r>
                  <a:endParaRPr lang="en-US" sz="850" dirty="0"/>
                </a:p>
              </p:txBody>
            </p:sp>
            <p:sp>
              <p:nvSpPr>
                <p:cNvPr id="60" name="Text 58"/>
                <p:cNvSpPr/>
                <p:nvPr/>
              </p:nvSpPr>
              <p:spPr>
                <a:xfrm>
                  <a:off x="980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可读性</a:t>
                  </a:r>
                  <a:endParaRPr lang="en-US" sz="850" dirty="0"/>
                </a:p>
              </p:txBody>
            </p:sp>
            <p:sp>
              <p:nvSpPr>
                <p:cNvPr id="61" name="Text 59"/>
                <p:cNvSpPr/>
                <p:nvPr/>
              </p:nvSpPr>
              <p:spPr>
                <a:xfrm>
                  <a:off x="9260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</a:t>
                  </a:r>
                  <a:endParaRPr lang="en-US" sz="850" dirty="0"/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14897" y="5237"/>
              <a:ext cx="1614" cy="1537"/>
              <a:chOff x="10109" y="4694"/>
              <a:chExt cx="2304" cy="2194"/>
            </a:xfrm>
          </p:grpSpPr>
          <p:sp>
            <p:nvSpPr>
              <p:cNvPr id="52" name="Shape 50"/>
              <p:cNvSpPr/>
              <p:nvPr/>
            </p:nvSpPr>
            <p:spPr>
              <a:xfrm>
                <a:off x="11232" y="4694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3" name="Shape 51"/>
              <p:cNvSpPr/>
              <p:nvPr/>
            </p:nvSpPr>
            <p:spPr>
              <a:xfrm>
                <a:off x="12355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4" name="Shape 52"/>
              <p:cNvSpPr/>
              <p:nvPr/>
            </p:nvSpPr>
            <p:spPr>
              <a:xfrm>
                <a:off x="11926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5" name="Shape 53"/>
              <p:cNvSpPr/>
              <p:nvPr/>
            </p:nvSpPr>
            <p:spPr>
              <a:xfrm>
                <a:off x="10538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6" name="Shape 54"/>
              <p:cNvSpPr/>
              <p:nvPr/>
            </p:nvSpPr>
            <p:spPr>
              <a:xfrm>
                <a:off x="10109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</p:grpSp>
      </p:grpSp>
      <p:sp>
        <p:nvSpPr>
          <p:cNvPr id="22" name="Shape 20"/>
          <p:cNvSpPr/>
          <p:nvPr/>
        </p:nvSpPr>
        <p:spPr>
          <a:xfrm>
            <a:off x="320040" y="257556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grpSp>
        <p:nvGrpSpPr>
          <p:cNvPr id="71" name="组合 70"/>
          <p:cNvGrpSpPr/>
          <p:nvPr/>
        </p:nvGrpSpPr>
        <p:grpSpPr>
          <a:xfrm rot="0">
            <a:off x="320040" y="2575560"/>
            <a:ext cx="5029200" cy="320040"/>
            <a:chOff x="504" y="4104"/>
            <a:chExt cx="7920" cy="504"/>
          </a:xfrm>
        </p:grpSpPr>
        <p:sp>
          <p:nvSpPr>
            <p:cNvPr id="23" name="Shape 21"/>
            <p:cNvSpPr/>
            <p:nvPr/>
          </p:nvSpPr>
          <p:spPr>
            <a:xfrm>
              <a:off x="504" y="4104"/>
              <a:ext cx="7920" cy="504"/>
            </a:xfrm>
            <a:prstGeom prst="roundRect">
              <a:avLst>
                <a:gd name="adj" fmla="val 22857"/>
              </a:avLst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130" y="4104"/>
              <a:ext cx="6668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班级统计  —  软工2301  |  已评价 28 人</a:t>
              </a:r>
              <a:endParaRPr lang="en-US" sz="1100" dirty="0"/>
            </a:p>
          </p:txBody>
        </p:sp>
      </p:grpSp>
      <p:grpSp>
        <p:nvGrpSpPr>
          <p:cNvPr id="83" name="组合 82"/>
          <p:cNvGrpSpPr/>
          <p:nvPr/>
        </p:nvGrpSpPr>
        <p:grpSpPr>
          <a:xfrm rot="0">
            <a:off x="411480" y="2968625"/>
            <a:ext cx="4796790" cy="609600"/>
            <a:chOff x="648" y="4723"/>
            <a:chExt cx="7258" cy="960"/>
          </a:xfrm>
        </p:grpSpPr>
        <p:grpSp>
          <p:nvGrpSpPr>
            <p:cNvPr id="74" name="组合 73"/>
            <p:cNvGrpSpPr/>
            <p:nvPr/>
          </p:nvGrpSpPr>
          <p:grpSpPr>
            <a:xfrm>
              <a:off x="648" y="4723"/>
              <a:ext cx="1728" cy="960"/>
              <a:chOff x="648" y="4723"/>
              <a:chExt cx="1728" cy="960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64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6" name="Text 24"/>
              <p:cNvSpPr/>
              <p:nvPr/>
            </p:nvSpPr>
            <p:spPr>
              <a:xfrm>
                <a:off x="64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78.5</a:t>
                </a:r>
                <a:endParaRPr lang="en-US" sz="22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64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班级均分</a:t>
                </a:r>
                <a:endParaRPr lang="en-US" sz="950" dirty="0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491" y="4723"/>
              <a:ext cx="1728" cy="960"/>
              <a:chOff x="2491" y="4723"/>
              <a:chExt cx="1728" cy="96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2491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9" name="Text 27"/>
              <p:cNvSpPr/>
              <p:nvPr/>
            </p:nvSpPr>
            <p:spPr>
              <a:xfrm>
                <a:off x="2491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96</a:t>
                </a:r>
                <a:endParaRPr lang="en-US" sz="22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2491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最高分</a:t>
                </a:r>
                <a:endParaRPr lang="en-US" sz="950" dirty="0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4334" y="4723"/>
              <a:ext cx="1728" cy="960"/>
              <a:chOff x="4334" y="4723"/>
              <a:chExt cx="1728" cy="96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4334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2" name="Text 30"/>
              <p:cNvSpPr/>
              <p:nvPr/>
            </p:nvSpPr>
            <p:spPr>
              <a:xfrm>
                <a:off x="4334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52</a:t>
                </a:r>
                <a:endParaRPr lang="en-US" sz="22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4334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最低分</a:t>
                </a:r>
                <a:endParaRPr lang="en-US" sz="950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178" y="4723"/>
              <a:ext cx="1728" cy="960"/>
              <a:chOff x="6178" y="4723"/>
              <a:chExt cx="1728" cy="960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617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5" name="Text 33"/>
              <p:cNvSpPr/>
              <p:nvPr/>
            </p:nvSpPr>
            <p:spPr>
              <a:xfrm>
                <a:off x="617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35.7%</a:t>
                </a:r>
                <a:endParaRPr lang="en-US" sz="2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17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优秀率</a:t>
                </a:r>
                <a:endParaRPr lang="en-US" sz="950" dirty="0"/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 rot="0">
            <a:off x="502920" y="3498850"/>
            <a:ext cx="4773930" cy="1088390"/>
            <a:chOff x="792" y="5558"/>
            <a:chExt cx="6192" cy="1714"/>
          </a:xfrm>
        </p:grpSpPr>
        <p:sp>
          <p:nvSpPr>
            <p:cNvPr id="37" name="Shape 35"/>
            <p:cNvSpPr/>
            <p:nvPr/>
          </p:nvSpPr>
          <p:spPr>
            <a:xfrm>
              <a:off x="792" y="6595"/>
              <a:ext cx="792" cy="346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&lt;60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87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187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60-69</a:t>
              </a:r>
              <a:endParaRPr lang="en-US" sz="8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52" y="5558"/>
              <a:ext cx="792" cy="1382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295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70-79</a:t>
              </a:r>
              <a:endParaRPr lang="en-US" sz="8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032" y="5731"/>
              <a:ext cx="792" cy="1210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03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80-89</a:t>
              </a:r>
              <a:endParaRPr lang="en-US" sz="8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11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11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90-94</a:t>
              </a:r>
              <a:endParaRPr lang="en-US" sz="8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192" y="6422"/>
              <a:ext cx="792" cy="518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1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95+</a:t>
              </a:r>
              <a:endParaRPr lang="en-US" sz="800" dirty="0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320040" y="4605655"/>
            <a:ext cx="8540115" cy="200660"/>
            <a:chOff x="504" y="7373"/>
            <a:chExt cx="13392" cy="316"/>
          </a:xfrm>
        </p:grpSpPr>
        <p:sp>
          <p:nvSpPr>
            <p:cNvPr id="62" name="Shape 60"/>
            <p:cNvSpPr/>
            <p:nvPr/>
          </p:nvSpPr>
          <p:spPr>
            <a:xfrm>
              <a:off x="504" y="7373"/>
              <a:ext cx="13392" cy="317"/>
            </a:xfrm>
            <a:prstGeom prst="roundRect">
              <a:avLst>
                <a:gd name="adj" fmla="val 27273"/>
              </a:avLst>
            </a:prstGeom>
            <a:solidFill>
              <a:srgbClr val="EEF8F4"/>
            </a:solidFill>
            <a:ln w="10160">
              <a:solidFill>
                <a:srgbClr val="17A589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2112" y="7373"/>
              <a:ext cx="10176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报表支持异步导出（Excel / PDF）· 失败可重试 · 历史报表可归档恢复</a:t>
              </a:r>
              <a:endParaRPr lang="en-US" sz="950" dirty="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8228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56255" y="274320"/>
            <a:ext cx="30314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36775" y="804545"/>
            <a:ext cx="487045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857248" y="626237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1857248" y="626237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4A607F"/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4D637F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附录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1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2.xml><?xml version="1.0" encoding="utf-8"?>
<p:tagLst xmlns:p="http://schemas.openxmlformats.org/presentationml/2006/main">
  <p:tag name="KSO_WM_AICARD_INVALID" val="Invalid"/>
</p:tagLst>
</file>

<file path=ppt/tags/tag23.xml><?xml version="1.0" encoding="utf-8"?>
<p:tagLst xmlns:p="http://schemas.openxmlformats.org/presentationml/2006/main">
  <p:tag name="KSO_WM_AICARD_INVALID" val="Invalid"/>
</p:tagLst>
</file>

<file path=ppt/tags/tag24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5.xml><?xml version="1.0" encoding="utf-8"?>
<p:tagLst xmlns:p="http://schemas.openxmlformats.org/presentationml/2006/main">
  <p:tag name="KSO_WM_AICARD_INVALID" val="Invalid"/>
</p:tagLst>
</file>

<file path=ppt/tags/tag26.xml><?xml version="1.0" encoding="utf-8"?>
<p:tagLst xmlns:p="http://schemas.openxmlformats.org/presentationml/2006/main">
  <p:tag name="KSO_WM_AICARD_INVALID" val="Invalid"/>
</p:tagLst>
</file>

<file path=ppt/tags/tag27.xml><?xml version="1.0" encoding="utf-8"?>
<p:tagLst xmlns:p="http://schemas.openxmlformats.org/presentationml/2006/main">
  <p:tag name="KSO_WM_AICARD_INVALID" val="Invalid"/>
</p:tagLst>
</file>

<file path=ppt/tags/tag28.xml><?xml version="1.0" encoding="utf-8"?>
<p:tagLst xmlns:p="http://schemas.openxmlformats.org/presentationml/2006/main">
  <p:tag name="KSO_WM_AICARD_INVALID" val="Invalid"/>
</p:tagLst>
</file>

<file path=ppt/tags/tag29.xml><?xml version="1.0" encoding="utf-8"?>
<p:tagLst xmlns:p="http://schemas.openxmlformats.org/presentationml/2006/main">
  <p:tag name="KSO_WM_AICARD_INVALID" val="Invalid"/>
</p:tagLst>
</file>

<file path=ppt/tags/tag30.xml><?xml version="1.0" encoding="utf-8"?>
<p:tagLst xmlns:p="http://schemas.openxmlformats.org/presentationml/2006/main">
  <p:tag name="KSO_WM_AICARD_INVALID" val="Invalid"/>
</p:tagLst>
</file>

<file path=ppt/tags/tag31.xml><?xml version="1.0" encoding="utf-8"?>
<p:tagLst xmlns:p="http://schemas.openxmlformats.org/presentationml/2006/main">
  <p:tag name="KSO_WM_AICARD_INVALID" val="Invalid"/>
</p:tagLst>
</file>

<file path=ppt/tags/tag32.xml><?xml version="1.0" encoding="utf-8"?>
<p:tagLst xmlns:p="http://schemas.openxmlformats.org/presentationml/2006/main">
  <p:tag name="KSO_WM_AICARD_INVALID" val="Invalid"/>
</p:tagLst>
</file>

<file path=ppt/tags/tag33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34.xml><?xml version="1.0" encoding="utf-8"?>
<p:tagLst xmlns:p="http://schemas.openxmlformats.org/presentationml/2006/main">
  <p:tag name="KSO_WM_AICARD_INVALID" val="Invalid"/>
</p:tagLst>
</file>

<file path=ppt/tags/tag35.xml><?xml version="1.0" encoding="utf-8"?>
<p:tagLst xmlns:p="http://schemas.openxmlformats.org/presentationml/2006/main">
  <p:tag name="KSO_WM_AICARD_INVALID" val="Invalid"/>
</p:tagLst>
</file>

<file path=ppt/tags/tag36.xml><?xml version="1.0" encoding="utf-8"?>
<p:tagLst xmlns:p="http://schemas.openxmlformats.org/presentationml/2006/main">
  <p:tag name="KSO_WM_AICARD_INVALID" val="Invalid"/>
</p:tagLst>
</file>

<file path=ppt/tags/tag37.xml><?xml version="1.0" encoding="utf-8"?>
<p:tagLst xmlns:p="http://schemas.openxmlformats.org/presentationml/2006/main">
  <p:tag name="KSO_WM_AICARD_INVALID" val="Invalid"/>
</p:tagLst>
</file>

<file path=ppt/tags/tag38.xml><?xml version="1.0" encoding="utf-8"?>
<p:tagLst xmlns:p="http://schemas.openxmlformats.org/presentationml/2006/main">
  <p:tag name="KSO_WM_AICARD_INVALID" val="Invalid"/>
</p:tagLst>
</file>

<file path=ppt/tags/tag39.xml><?xml version="1.0" encoding="utf-8"?>
<p:tagLst xmlns:p="http://schemas.openxmlformats.org/presentationml/2006/main">
  <p:tag name="resource_record_key" val="{&quot;71&quot;:[7623568010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D2639"/>
      </a:dk2>
      <a:lt2>
        <a:srgbClr val="F4F9FD"/>
      </a:lt2>
      <a:accent1>
        <a:srgbClr val="0076B9"/>
      </a:accent1>
      <a:accent2>
        <a:srgbClr val="3D505A"/>
      </a:accent2>
      <a:accent3>
        <a:srgbClr val="009FB6"/>
      </a:accent3>
      <a:accent4>
        <a:srgbClr val="D74F91"/>
      </a:accent4>
      <a:accent5>
        <a:srgbClr val="F898CB"/>
      </a:accent5>
      <a:accent6>
        <a:srgbClr val="7D287D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4574</Words>
  <Application>WPS 演示</Application>
  <PresentationFormat>On-screen Show (16:9)</PresentationFormat>
  <Paragraphs>1063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Calibri</vt:lpstr>
      <vt:lpstr>Calibri</vt:lpstr>
      <vt:lpstr>阿里巴巴普惠体 R</vt:lpstr>
      <vt:lpstr>微软雅黑</vt:lpstr>
      <vt:lpstr>Segoe Print</vt:lpstr>
      <vt:lpstr>Arial Unicode MS</vt:lpstr>
      <vt:lpstr>等线</vt:lpstr>
      <vt:lpstr>Courier New</vt:lpstr>
      <vt:lpstr>Courier New</vt:lpstr>
      <vt:lpstr>Courier New</vt:lpstr>
      <vt:lpstr>Calibri</vt:lpstr>
      <vt:lpstr>思源宋体 CN Medium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59</cp:revision>
  <dcterms:created xsi:type="dcterms:W3CDTF">2026-07-17T03:22:00Z</dcterms:created>
  <dcterms:modified xsi:type="dcterms:W3CDTF">2026-08-18T09:25:32Z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